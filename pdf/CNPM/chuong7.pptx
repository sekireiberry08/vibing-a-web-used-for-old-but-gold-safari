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7" r:id="rId1"/>
  </p:sldMasterIdLst>
  <p:notesMasterIdLst>
    <p:notesMasterId r:id="rId53"/>
  </p:notesMasterIdLst>
  <p:handoutMasterIdLst>
    <p:handoutMasterId r:id="rId54"/>
  </p:handoutMasterIdLst>
  <p:sldIdLst>
    <p:sldId id="256" r:id="rId2"/>
    <p:sldId id="277" r:id="rId3"/>
    <p:sldId id="278" r:id="rId4"/>
    <p:sldId id="326" r:id="rId5"/>
    <p:sldId id="257" r:id="rId6"/>
    <p:sldId id="308" r:id="rId7"/>
    <p:sldId id="280" r:id="rId8"/>
    <p:sldId id="328" r:id="rId9"/>
    <p:sldId id="329" r:id="rId10"/>
    <p:sldId id="320" r:id="rId11"/>
    <p:sldId id="330" r:id="rId12"/>
    <p:sldId id="286" r:id="rId13"/>
    <p:sldId id="311" r:id="rId14"/>
    <p:sldId id="331" r:id="rId15"/>
    <p:sldId id="298" r:id="rId16"/>
    <p:sldId id="332" r:id="rId17"/>
    <p:sldId id="312" r:id="rId18"/>
    <p:sldId id="322" r:id="rId19"/>
    <p:sldId id="333" r:id="rId20"/>
    <p:sldId id="299" r:id="rId21"/>
    <p:sldId id="258" r:id="rId22"/>
    <p:sldId id="259" r:id="rId23"/>
    <p:sldId id="261" r:id="rId24"/>
    <p:sldId id="262" r:id="rId25"/>
    <p:sldId id="292" r:id="rId26"/>
    <p:sldId id="264" r:id="rId27"/>
    <p:sldId id="265" r:id="rId28"/>
    <p:sldId id="266" r:id="rId29"/>
    <p:sldId id="267" r:id="rId30"/>
    <p:sldId id="268" r:id="rId31"/>
    <p:sldId id="269" r:id="rId32"/>
    <p:sldId id="344" r:id="rId33"/>
    <p:sldId id="340" r:id="rId34"/>
    <p:sldId id="341" r:id="rId35"/>
    <p:sldId id="342" r:id="rId36"/>
    <p:sldId id="343" r:id="rId37"/>
    <p:sldId id="334" r:id="rId38"/>
    <p:sldId id="300" r:id="rId39"/>
    <p:sldId id="301" r:id="rId40"/>
    <p:sldId id="302" r:id="rId41"/>
    <p:sldId id="304" r:id="rId42"/>
    <p:sldId id="271" r:id="rId43"/>
    <p:sldId id="305" r:id="rId44"/>
    <p:sldId id="335" r:id="rId45"/>
    <p:sldId id="336" r:id="rId46"/>
    <p:sldId id="306" r:id="rId47"/>
    <p:sldId id="274" r:id="rId48"/>
    <p:sldId id="315" r:id="rId49"/>
    <p:sldId id="275" r:id="rId50"/>
    <p:sldId id="319" r:id="rId51"/>
    <p:sldId id="307"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71849" autoAdjust="0"/>
  </p:normalViewPr>
  <p:slideViewPr>
    <p:cSldViewPr snapToGrid="0" snapToObjects="1">
      <p:cViewPr varScale="1">
        <p:scale>
          <a:sx n="87" d="100"/>
          <a:sy n="87" d="100"/>
        </p:scale>
        <p:origin x="1528" y="19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h Nguyen Duc" userId="04a5c95d-4a59-4e21-b199-e9922fb46c5c" providerId="ADAL" clId="{2B525AFF-871E-488B-A88E-1BD9BF2215EC}"/>
    <pc:docChg chg="modSld">
      <pc:chgData name="Anh Nguyen Duc" userId="04a5c95d-4a59-4e21-b199-e9922fb46c5c" providerId="ADAL" clId="{2B525AFF-871E-488B-A88E-1BD9BF2215EC}" dt="2023-03-14T21:18:11.752" v="2"/>
      <pc:docMkLst>
        <pc:docMk/>
      </pc:docMkLst>
      <pc:sldChg chg="modSp mod">
        <pc:chgData name="Anh Nguyen Duc" userId="04a5c95d-4a59-4e21-b199-e9922fb46c5c" providerId="ADAL" clId="{2B525AFF-871E-488B-A88E-1BD9BF2215EC}" dt="2023-03-14T21:18:11.752" v="2"/>
        <pc:sldMkLst>
          <pc:docMk/>
          <pc:sldMk cId="443562795" sldId="345"/>
        </pc:sldMkLst>
        <pc:spChg chg="mod">
          <ac:chgData name="Anh Nguyen Duc" userId="04a5c95d-4a59-4e21-b199-e9922fb46c5c" providerId="ADAL" clId="{2B525AFF-871E-488B-A88E-1BD9BF2215EC}" dt="2023-03-14T21:18:11.752" v="2"/>
          <ac:spMkLst>
            <pc:docMk/>
            <pc:sldMk cId="443562795" sldId="345"/>
            <ac:spMk id="2" creationId="{D1D0DF78-903F-4035-B386-81D6FFE2B600}"/>
          </ac:spMkLst>
        </pc:spChg>
      </pc:sldChg>
    </pc:docChg>
  </pc:docChgLst>
  <pc:docChgLst>
    <pc:chgData name="Anh Nguyen Duc" userId="04a5c95d-4a59-4e21-b199-e9922fb46c5c" providerId="ADAL" clId="{54493B09-2AB7-4A2A-A446-EC9681CB2E39}"/>
    <pc:docChg chg="undo custSel modSld modMainMaster">
      <pc:chgData name="Anh Nguyen Duc" userId="04a5c95d-4a59-4e21-b199-e9922fb46c5c" providerId="ADAL" clId="{54493B09-2AB7-4A2A-A446-EC9681CB2E39}" dt="2022-10-25T20:53:33.282" v="163" actId="20577"/>
      <pc:docMkLst>
        <pc:docMk/>
      </pc:docMkLst>
      <pc:sldChg chg="modSp mod modClrScheme chgLayout">
        <pc:chgData name="Anh Nguyen Duc" userId="04a5c95d-4a59-4e21-b199-e9922fb46c5c" providerId="ADAL" clId="{54493B09-2AB7-4A2A-A446-EC9681CB2E39}" dt="2022-10-25T20:47:51.698" v="13" actId="700"/>
        <pc:sldMkLst>
          <pc:docMk/>
          <pc:sldMk cId="0" sldId="277"/>
        </pc:sldMkLst>
        <pc:spChg chg="mod ord">
          <ac:chgData name="Anh Nguyen Duc" userId="04a5c95d-4a59-4e21-b199-e9922fb46c5c" providerId="ADAL" clId="{54493B09-2AB7-4A2A-A446-EC9681CB2E39}" dt="2022-10-25T20:47:51.698" v="13" actId="700"/>
          <ac:spMkLst>
            <pc:docMk/>
            <pc:sldMk cId="0" sldId="277"/>
            <ac:spMk id="2" creationId="{00000000-0000-0000-0000-000000000000}"/>
          </ac:spMkLst>
        </pc:spChg>
        <pc:spChg chg="mod ord">
          <ac:chgData name="Anh Nguyen Duc" userId="04a5c95d-4a59-4e21-b199-e9922fb46c5c" providerId="ADAL" clId="{54493B09-2AB7-4A2A-A446-EC9681CB2E39}" dt="2022-10-25T20:47:51.698" v="13" actId="700"/>
          <ac:spMkLst>
            <pc:docMk/>
            <pc:sldMk cId="0" sldId="277"/>
            <ac:spMk id="3" creationId="{00000000-0000-0000-0000-000000000000}"/>
          </ac:spMkLst>
        </pc:spChg>
        <pc:spChg chg="mod ord">
          <ac:chgData name="Anh Nguyen Duc" userId="04a5c95d-4a59-4e21-b199-e9922fb46c5c" providerId="ADAL" clId="{54493B09-2AB7-4A2A-A446-EC9681CB2E39}" dt="2022-10-25T20:47:51.698" v="13" actId="700"/>
          <ac:spMkLst>
            <pc:docMk/>
            <pc:sldMk cId="0" sldId="277"/>
            <ac:spMk id="4" creationId="{00000000-0000-0000-0000-000000000000}"/>
          </ac:spMkLst>
        </pc:spChg>
        <pc:spChg chg="mod ord">
          <ac:chgData name="Anh Nguyen Duc" userId="04a5c95d-4a59-4e21-b199-e9922fb46c5c" providerId="ADAL" clId="{54493B09-2AB7-4A2A-A446-EC9681CB2E39}" dt="2022-10-25T20:47:51.698" v="13" actId="700"/>
          <ac:spMkLst>
            <pc:docMk/>
            <pc:sldMk cId="0" sldId="277"/>
            <ac:spMk id="5" creationId="{00000000-0000-0000-0000-000000000000}"/>
          </ac:spMkLst>
        </pc:spChg>
        <pc:spChg chg="mod ord">
          <ac:chgData name="Anh Nguyen Duc" userId="04a5c95d-4a59-4e21-b199-e9922fb46c5c" providerId="ADAL" clId="{54493B09-2AB7-4A2A-A446-EC9681CB2E39}" dt="2022-10-25T20:47:51.698" v="13" actId="700"/>
          <ac:spMkLst>
            <pc:docMk/>
            <pc:sldMk cId="0" sldId="277"/>
            <ac:spMk id="10" creationId="{00000000-0000-0000-0000-000000000000}"/>
          </ac:spMkLst>
        </pc:spChg>
      </pc:sldChg>
      <pc:sldChg chg="modSp mod modNotesTx">
        <pc:chgData name="Anh Nguyen Duc" userId="04a5c95d-4a59-4e21-b199-e9922fb46c5c" providerId="ADAL" clId="{54493B09-2AB7-4A2A-A446-EC9681CB2E39}" dt="2022-10-25T20:53:33.282" v="163" actId="20577"/>
        <pc:sldMkLst>
          <pc:docMk/>
          <pc:sldMk cId="698752115" sldId="326"/>
        </pc:sldMkLst>
        <pc:spChg chg="mod">
          <ac:chgData name="Anh Nguyen Duc" userId="04a5c95d-4a59-4e21-b199-e9922fb46c5c" providerId="ADAL" clId="{54493B09-2AB7-4A2A-A446-EC9681CB2E39}" dt="2022-10-25T20:53:33.282" v="163" actId="20577"/>
          <ac:spMkLst>
            <pc:docMk/>
            <pc:sldMk cId="698752115" sldId="326"/>
            <ac:spMk id="44035" creationId="{00000000-0000-0000-0000-000000000000}"/>
          </ac:spMkLst>
        </pc:spChg>
      </pc:sldChg>
      <pc:sldMasterChg chg="addSldLayout delSldLayout modSldLayout">
        <pc:chgData name="Anh Nguyen Duc" userId="04a5c95d-4a59-4e21-b199-e9922fb46c5c" providerId="ADAL" clId="{54493B09-2AB7-4A2A-A446-EC9681CB2E39}" dt="2022-10-25T20:49:23.725" v="33" actId="20577"/>
        <pc:sldMasterMkLst>
          <pc:docMk/>
          <pc:sldMasterMk cId="1771131391" sldId="2147483737"/>
        </pc:sldMasterMkLst>
        <pc:sldLayoutChg chg="addSp delSp modSp mod">
          <pc:chgData name="Anh Nguyen Duc" userId="04a5c95d-4a59-4e21-b199-e9922fb46c5c" providerId="ADAL" clId="{54493B09-2AB7-4A2A-A446-EC9681CB2E39}" dt="2022-10-25T20:49:23.725" v="33" actId="20577"/>
          <pc:sldLayoutMkLst>
            <pc:docMk/>
            <pc:sldMasterMk cId="1771131391" sldId="2147483737"/>
            <pc:sldLayoutMk cId="2778304516" sldId="2147483739"/>
          </pc:sldLayoutMkLst>
          <pc:spChg chg="add del mod">
            <ac:chgData name="Anh Nguyen Duc" userId="04a5c95d-4a59-4e21-b199-e9922fb46c5c" providerId="ADAL" clId="{54493B09-2AB7-4A2A-A446-EC9681CB2E39}" dt="2022-10-25T20:49:23.725" v="33" actId="20577"/>
            <ac:spMkLst>
              <pc:docMk/>
              <pc:sldMasterMk cId="1771131391" sldId="2147483737"/>
              <pc:sldLayoutMk cId="2778304516" sldId="2147483739"/>
              <ac:spMk id="4" creationId="{00000000-0000-0000-0000-000000000000}"/>
            </ac:spMkLst>
          </pc:spChg>
        </pc:sldLayoutChg>
        <pc:sldLayoutChg chg="modSp mod">
          <pc:chgData name="Anh Nguyen Duc" userId="04a5c95d-4a59-4e21-b199-e9922fb46c5c" providerId="ADAL" clId="{54493B09-2AB7-4A2A-A446-EC9681CB2E39}" dt="2022-10-25T20:45:21.715" v="2" actId="20577"/>
          <pc:sldLayoutMkLst>
            <pc:docMk/>
            <pc:sldMasterMk cId="1771131391" sldId="2147483737"/>
            <pc:sldLayoutMk cId="1877441380" sldId="2147483740"/>
          </pc:sldLayoutMkLst>
          <pc:spChg chg="mod">
            <ac:chgData name="Anh Nguyen Duc" userId="04a5c95d-4a59-4e21-b199-e9922fb46c5c" providerId="ADAL" clId="{54493B09-2AB7-4A2A-A446-EC9681CB2E39}" dt="2022-10-25T20:45:21.715" v="2" actId="20577"/>
            <ac:spMkLst>
              <pc:docMk/>
              <pc:sldMasterMk cId="1771131391" sldId="2147483737"/>
              <pc:sldLayoutMk cId="1877441380" sldId="2147483740"/>
              <ac:spMk id="4" creationId="{00000000-0000-0000-0000-000000000000}"/>
            </ac:spMkLst>
          </pc:spChg>
        </pc:sldLayoutChg>
        <pc:sldLayoutChg chg="modSp mod">
          <pc:chgData name="Anh Nguyen Duc" userId="04a5c95d-4a59-4e21-b199-e9922fb46c5c" providerId="ADAL" clId="{54493B09-2AB7-4A2A-A446-EC9681CB2E39}" dt="2022-10-25T20:45:28.042" v="3" actId="20577"/>
          <pc:sldLayoutMkLst>
            <pc:docMk/>
            <pc:sldMasterMk cId="1771131391" sldId="2147483737"/>
            <pc:sldLayoutMk cId="1441754829" sldId="2147483741"/>
          </pc:sldLayoutMkLst>
          <pc:spChg chg="mod">
            <ac:chgData name="Anh Nguyen Duc" userId="04a5c95d-4a59-4e21-b199-e9922fb46c5c" providerId="ADAL" clId="{54493B09-2AB7-4A2A-A446-EC9681CB2E39}" dt="2022-10-25T20:45:28.042" v="3" actId="20577"/>
            <ac:spMkLst>
              <pc:docMk/>
              <pc:sldMasterMk cId="1771131391" sldId="2147483737"/>
              <pc:sldLayoutMk cId="1441754829" sldId="2147483741"/>
              <ac:spMk id="5" creationId="{00000000-0000-0000-0000-000000000000}"/>
            </ac:spMkLst>
          </pc:spChg>
        </pc:sldLayoutChg>
        <pc:sldLayoutChg chg="modSp mod">
          <pc:chgData name="Anh Nguyen Duc" userId="04a5c95d-4a59-4e21-b199-e9922fb46c5c" providerId="ADAL" clId="{54493B09-2AB7-4A2A-A446-EC9681CB2E39}" dt="2022-10-25T20:45:32.144" v="4" actId="20577"/>
          <pc:sldLayoutMkLst>
            <pc:docMk/>
            <pc:sldMasterMk cId="1771131391" sldId="2147483737"/>
            <pc:sldLayoutMk cId="1211138616" sldId="2147483742"/>
          </pc:sldLayoutMkLst>
          <pc:spChg chg="mod">
            <ac:chgData name="Anh Nguyen Duc" userId="04a5c95d-4a59-4e21-b199-e9922fb46c5c" providerId="ADAL" clId="{54493B09-2AB7-4A2A-A446-EC9681CB2E39}" dt="2022-10-25T20:45:32.144" v="4" actId="20577"/>
            <ac:spMkLst>
              <pc:docMk/>
              <pc:sldMasterMk cId="1771131391" sldId="2147483737"/>
              <pc:sldLayoutMk cId="1211138616" sldId="2147483742"/>
              <ac:spMk id="7" creationId="{00000000-0000-0000-0000-000000000000}"/>
            </ac:spMkLst>
          </pc:spChg>
        </pc:sldLayoutChg>
        <pc:sldLayoutChg chg="modSp mod">
          <pc:chgData name="Anh Nguyen Duc" userId="04a5c95d-4a59-4e21-b199-e9922fb46c5c" providerId="ADAL" clId="{54493B09-2AB7-4A2A-A446-EC9681CB2E39}" dt="2022-10-25T20:45:35.561" v="5" actId="20577"/>
          <pc:sldLayoutMkLst>
            <pc:docMk/>
            <pc:sldMasterMk cId="1771131391" sldId="2147483737"/>
            <pc:sldLayoutMk cId="3471852856" sldId="2147483743"/>
          </pc:sldLayoutMkLst>
          <pc:spChg chg="mod">
            <ac:chgData name="Anh Nguyen Duc" userId="04a5c95d-4a59-4e21-b199-e9922fb46c5c" providerId="ADAL" clId="{54493B09-2AB7-4A2A-A446-EC9681CB2E39}" dt="2022-10-25T20:45:35.561" v="5" actId="20577"/>
            <ac:spMkLst>
              <pc:docMk/>
              <pc:sldMasterMk cId="1771131391" sldId="2147483737"/>
              <pc:sldLayoutMk cId="3471852856" sldId="2147483743"/>
              <ac:spMk id="3" creationId="{00000000-0000-0000-0000-000000000000}"/>
            </ac:spMkLst>
          </pc:spChg>
        </pc:sldLayoutChg>
        <pc:sldLayoutChg chg="modSp add del mod">
          <pc:chgData name="Anh Nguyen Duc" userId="04a5c95d-4a59-4e21-b199-e9922fb46c5c" providerId="ADAL" clId="{54493B09-2AB7-4A2A-A446-EC9681CB2E39}" dt="2022-10-25T20:49:17.002" v="25" actId="2696"/>
          <pc:sldLayoutMkLst>
            <pc:docMk/>
            <pc:sldMasterMk cId="1771131391" sldId="2147483737"/>
            <pc:sldLayoutMk cId="3132084775" sldId="2147483744"/>
          </pc:sldLayoutMkLst>
          <pc:spChg chg="mod">
            <ac:chgData name="Anh Nguyen Duc" userId="04a5c95d-4a59-4e21-b199-e9922fb46c5c" providerId="ADAL" clId="{54493B09-2AB7-4A2A-A446-EC9681CB2E39}" dt="2022-10-25T20:45:40.673" v="6" actId="20577"/>
            <ac:spMkLst>
              <pc:docMk/>
              <pc:sldMasterMk cId="1771131391" sldId="2147483737"/>
              <pc:sldLayoutMk cId="3132084775" sldId="2147483744"/>
              <ac:spMk id="2" creationId="{00000000-0000-0000-0000-000000000000}"/>
            </ac:spMkLst>
          </pc:spChg>
        </pc:sldLayoutChg>
        <pc:sldLayoutChg chg="modSp add del mod">
          <pc:chgData name="Anh Nguyen Duc" userId="04a5c95d-4a59-4e21-b199-e9922fb46c5c" providerId="ADAL" clId="{54493B09-2AB7-4A2A-A446-EC9681CB2E39}" dt="2022-10-25T20:49:19.490" v="26" actId="2696"/>
          <pc:sldLayoutMkLst>
            <pc:docMk/>
            <pc:sldMasterMk cId="1771131391" sldId="2147483737"/>
            <pc:sldLayoutMk cId="1775014538" sldId="2147483745"/>
          </pc:sldLayoutMkLst>
          <pc:spChg chg="mod">
            <ac:chgData name="Anh Nguyen Duc" userId="04a5c95d-4a59-4e21-b199-e9922fb46c5c" providerId="ADAL" clId="{54493B09-2AB7-4A2A-A446-EC9681CB2E39}" dt="2022-10-25T20:45:45.635" v="7" actId="20577"/>
            <ac:spMkLst>
              <pc:docMk/>
              <pc:sldMasterMk cId="1771131391" sldId="2147483737"/>
              <pc:sldLayoutMk cId="1775014538" sldId="2147483745"/>
              <ac:spMk id="5" creationId="{00000000-0000-0000-0000-000000000000}"/>
            </ac:spMkLst>
          </pc:spChg>
        </pc:sldLayoutChg>
        <pc:sldLayoutChg chg="add del">
          <pc:chgData name="Anh Nguyen Duc" userId="04a5c95d-4a59-4e21-b199-e9922fb46c5c" providerId="ADAL" clId="{54493B09-2AB7-4A2A-A446-EC9681CB2E39}" dt="2022-10-25T20:49:20.192" v="27" actId="2696"/>
          <pc:sldLayoutMkLst>
            <pc:docMk/>
            <pc:sldMasterMk cId="1771131391" sldId="2147483737"/>
            <pc:sldLayoutMk cId="3720526264" sldId="2147483746"/>
          </pc:sldLayoutMkLst>
        </pc:sldLayoutChg>
        <pc:sldLayoutChg chg="add del">
          <pc:chgData name="Anh Nguyen Duc" userId="04a5c95d-4a59-4e21-b199-e9922fb46c5c" providerId="ADAL" clId="{54493B09-2AB7-4A2A-A446-EC9681CB2E39}" dt="2022-10-25T20:49:20.508" v="28" actId="2696"/>
          <pc:sldLayoutMkLst>
            <pc:docMk/>
            <pc:sldMasterMk cId="1771131391" sldId="2147483737"/>
            <pc:sldLayoutMk cId="2954862183" sldId="2147483747"/>
          </pc:sldLayoutMkLst>
        </pc:sldLayoutChg>
        <pc:sldLayoutChg chg="add del">
          <pc:chgData name="Anh Nguyen Duc" userId="04a5c95d-4a59-4e21-b199-e9922fb46c5c" providerId="ADAL" clId="{54493B09-2AB7-4A2A-A446-EC9681CB2E39}" dt="2022-10-25T20:49:20.748" v="29" actId="2696"/>
          <pc:sldLayoutMkLst>
            <pc:docMk/>
            <pc:sldMasterMk cId="1771131391" sldId="2147483737"/>
            <pc:sldLayoutMk cId="4292444499" sldId="2147483748"/>
          </pc:sldLayoutMkLst>
        </pc:sldLayoutChg>
        <pc:sldLayoutChg chg="modSp add del mod">
          <pc:chgData name="Anh Nguyen Duc" userId="04a5c95d-4a59-4e21-b199-e9922fb46c5c" providerId="ADAL" clId="{54493B09-2AB7-4A2A-A446-EC9681CB2E39}" dt="2022-10-25T20:49:20.942" v="30" actId="2696"/>
          <pc:sldLayoutMkLst>
            <pc:docMk/>
            <pc:sldMasterMk cId="1771131391" sldId="2147483737"/>
            <pc:sldLayoutMk cId="1606346674" sldId="2147483749"/>
          </pc:sldLayoutMkLst>
          <pc:spChg chg="mod">
            <ac:chgData name="Anh Nguyen Duc" userId="04a5c95d-4a59-4e21-b199-e9922fb46c5c" providerId="ADAL" clId="{54493B09-2AB7-4A2A-A446-EC9681CB2E39}" dt="2022-10-25T20:46:51.599" v="9" actId="20577"/>
            <ac:spMkLst>
              <pc:docMk/>
              <pc:sldMasterMk cId="1771131391" sldId="2147483737"/>
              <pc:sldLayoutMk cId="1606346674" sldId="2147483749"/>
              <ac:spMk id="2" creationId="{00000000-0000-0000-0000-000000000000}"/>
            </ac:spMkLst>
          </pc:spChg>
        </pc:sldLayoutChg>
        <pc:sldLayoutChg chg="new del mod">
          <pc:chgData name="Anh Nguyen Duc" userId="04a5c95d-4a59-4e21-b199-e9922fb46c5c" providerId="ADAL" clId="{54493B09-2AB7-4A2A-A446-EC9681CB2E39}" dt="2022-10-25T20:48:24.871" v="15" actId="11236"/>
          <pc:sldLayoutMkLst>
            <pc:docMk/>
            <pc:sldMasterMk cId="1771131391" sldId="2147483737"/>
            <pc:sldLayoutMk cId="3396772497" sldId="214748375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54B4BD9-6A1D-42B3-8E40-8497899AF369}" type="datetime1">
              <a:rPr lang="en-US" smtClean="0"/>
              <a:t>9/28/26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5C6E44-75D0-C24F-A2A6-8C06F77DC669}" type="slidenum">
              <a:rPr lang="en-US" smtClean="0"/>
              <a:pPr/>
              <a:t>‹#›</a:t>
            </a:fld>
            <a:endParaRPr lang="en-US"/>
          </a:p>
        </p:txBody>
      </p:sp>
    </p:spTree>
    <p:extLst>
      <p:ext uri="{BB962C8B-B14F-4D97-AF65-F5344CB8AC3E}">
        <p14:creationId xmlns:p14="http://schemas.microsoft.com/office/powerpoint/2010/main" val="1356029432"/>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621AEE-8EA4-4674-A250-2999015B85F8}" type="datetime1">
              <a:rPr lang="en-US" smtClean="0"/>
              <a:t>9/28/26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58DA69-A571-1F49-91C0-61EBFAAB21F4}" type="slidenum">
              <a:rPr lang="en-US" smtClean="0"/>
              <a:pPr/>
              <a:t>‹#›</a:t>
            </a:fld>
            <a:endParaRPr lang="en-US"/>
          </a:p>
        </p:txBody>
      </p:sp>
    </p:spTree>
    <p:extLst>
      <p:ext uri="{BB962C8B-B14F-4D97-AF65-F5344CB8AC3E}">
        <p14:creationId xmlns:p14="http://schemas.microsoft.com/office/powerpoint/2010/main" val="2576816785"/>
      </p:ext>
    </p:extLst>
  </p:cSld>
  <p:clrMap bg1="lt1" tx1="dk1" bg2="lt2" tx2="dk2" accent1="accent1" accent2="accent2" accent3="accent3" accent4="accent4" accent5="accent5" accent6="accent6" hlink="hlink" folHlink="folHlink"/>
  <p:hf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DA69-A571-1F49-91C0-61EBFAAB21F4}" type="slidenum">
              <a:rPr lang="en-US" smtClean="0"/>
              <a:pPr/>
              <a:t>1</a:t>
            </a:fld>
            <a:endParaRPr lang="en-US"/>
          </a:p>
        </p:txBody>
      </p:sp>
      <p:sp>
        <p:nvSpPr>
          <p:cNvPr id="5" name="Date Placeholder 4"/>
          <p:cNvSpPr>
            <a:spLocks noGrp="1"/>
          </p:cNvSpPr>
          <p:nvPr>
            <p:ph type="dt" idx="11"/>
          </p:nvPr>
        </p:nvSpPr>
        <p:spPr/>
        <p:txBody>
          <a:bodyPr/>
          <a:lstStyle/>
          <a:p>
            <a:fld id="{A17D3168-8063-41C0-AECF-634E17F8B645}"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013968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DA69-A571-1F49-91C0-61EBFAAB21F4}" type="slidenum">
              <a:rPr lang="en-US" smtClean="0"/>
              <a:pPr/>
              <a:t>2</a:t>
            </a:fld>
            <a:endParaRPr lang="en-US"/>
          </a:p>
        </p:txBody>
      </p:sp>
      <p:sp>
        <p:nvSpPr>
          <p:cNvPr id="5" name="Date Placeholder 4"/>
          <p:cNvSpPr>
            <a:spLocks noGrp="1"/>
          </p:cNvSpPr>
          <p:nvPr>
            <p:ph type="dt" idx="11"/>
          </p:nvPr>
        </p:nvSpPr>
        <p:spPr/>
        <p:txBody>
          <a:bodyPr/>
          <a:lstStyle/>
          <a:p>
            <a:fld id="{A79F2326-506E-468E-A82C-906BA941B289}"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122240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3</a:t>
            </a:fld>
            <a:endParaRPr lang="en-US"/>
          </a:p>
        </p:txBody>
      </p:sp>
      <p:sp>
        <p:nvSpPr>
          <p:cNvPr id="5" name="Date Placeholder 4"/>
          <p:cNvSpPr>
            <a:spLocks noGrp="1"/>
          </p:cNvSpPr>
          <p:nvPr>
            <p:ph type="dt" idx="11"/>
          </p:nvPr>
        </p:nvSpPr>
        <p:spPr/>
        <p:txBody>
          <a:bodyPr/>
          <a:lstStyle/>
          <a:p>
            <a:fld id="{7FEEEDE8-733D-4009-804D-F9B29EA09F46}"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382659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endParaRPr lang="vi-VN" dirty="0"/>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DDE9E15F-EC82-47DC-BA1B-81F0F9B88CB0}"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4</a:t>
            </a:fld>
            <a:endParaRPr lang="en-US"/>
          </a:p>
        </p:txBody>
      </p:sp>
    </p:spTree>
    <p:extLst>
      <p:ext uri="{BB962C8B-B14F-4D97-AF65-F5344CB8AC3E}">
        <p14:creationId xmlns:p14="http://schemas.microsoft.com/office/powerpoint/2010/main" val="1719135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5</a:t>
            </a:fld>
            <a:endParaRPr lang="en-US"/>
          </a:p>
        </p:txBody>
      </p:sp>
      <p:sp>
        <p:nvSpPr>
          <p:cNvPr id="5" name="Date Placeholder 4"/>
          <p:cNvSpPr>
            <a:spLocks noGrp="1"/>
          </p:cNvSpPr>
          <p:nvPr>
            <p:ph type="dt" idx="11"/>
          </p:nvPr>
        </p:nvSpPr>
        <p:spPr/>
        <p:txBody>
          <a:bodyPr/>
          <a:lstStyle/>
          <a:p>
            <a:fld id="{B149F1DA-D490-4D85-8A71-E64B07E65514}"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716620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6</a:t>
            </a:fld>
            <a:endParaRPr lang="en-US"/>
          </a:p>
        </p:txBody>
      </p:sp>
      <p:sp>
        <p:nvSpPr>
          <p:cNvPr id="5" name="Date Placeholder 4"/>
          <p:cNvSpPr>
            <a:spLocks noGrp="1"/>
          </p:cNvSpPr>
          <p:nvPr>
            <p:ph type="dt" idx="11"/>
          </p:nvPr>
        </p:nvSpPr>
        <p:spPr/>
        <p:txBody>
          <a:bodyPr/>
          <a:lstStyle/>
          <a:p>
            <a:fld id="{B4D4DAA3-7446-477B-9455-CE9C497CF090}"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510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7</a:t>
            </a:fld>
            <a:endParaRPr lang="en-US"/>
          </a:p>
        </p:txBody>
      </p:sp>
      <p:sp>
        <p:nvSpPr>
          <p:cNvPr id="5" name="Date Placeholder 4"/>
          <p:cNvSpPr>
            <a:spLocks noGrp="1"/>
          </p:cNvSpPr>
          <p:nvPr>
            <p:ph type="dt" idx="11"/>
          </p:nvPr>
        </p:nvSpPr>
        <p:spPr/>
        <p:txBody>
          <a:bodyPr/>
          <a:lstStyle/>
          <a:p>
            <a:fld id="{BFB172D5-9339-45AA-BDB9-AD237461B78B}"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482473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8</a:t>
            </a:fld>
            <a:endParaRPr lang="en-US"/>
          </a:p>
        </p:txBody>
      </p:sp>
      <p:sp>
        <p:nvSpPr>
          <p:cNvPr id="5" name="Date Placeholder 4"/>
          <p:cNvSpPr>
            <a:spLocks noGrp="1"/>
          </p:cNvSpPr>
          <p:nvPr>
            <p:ph type="dt" idx="11"/>
          </p:nvPr>
        </p:nvSpPr>
        <p:spPr/>
        <p:txBody>
          <a:bodyPr/>
          <a:lstStyle/>
          <a:p>
            <a:fld id="{23F90074-3A71-44C3-A924-44014D8203F6}"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430109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9</a:t>
            </a:fld>
            <a:endParaRPr lang="en-US"/>
          </a:p>
        </p:txBody>
      </p:sp>
      <p:sp>
        <p:nvSpPr>
          <p:cNvPr id="5" name="Date Placeholder 4"/>
          <p:cNvSpPr>
            <a:spLocks noGrp="1"/>
          </p:cNvSpPr>
          <p:nvPr>
            <p:ph type="dt" idx="11"/>
          </p:nvPr>
        </p:nvSpPr>
        <p:spPr/>
        <p:txBody>
          <a:bodyPr/>
          <a:lstStyle/>
          <a:p>
            <a:fld id="{6D0D0365-AA50-4042-8B70-23B0D78811CD}"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680030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10</a:t>
            </a:fld>
            <a:endParaRPr lang="en-US"/>
          </a:p>
        </p:txBody>
      </p:sp>
      <p:sp>
        <p:nvSpPr>
          <p:cNvPr id="5" name="Date Placeholder 4"/>
          <p:cNvSpPr>
            <a:spLocks noGrp="1"/>
          </p:cNvSpPr>
          <p:nvPr>
            <p:ph type="dt" idx="11"/>
          </p:nvPr>
        </p:nvSpPr>
        <p:spPr/>
        <p:txBody>
          <a:bodyPr/>
          <a:lstStyle/>
          <a:p>
            <a:fld id="{32458B9F-1E57-4CCA-AB39-835E34F19A5D}"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407653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12</a:t>
            </a:fld>
            <a:endParaRPr lang="en-US"/>
          </a:p>
        </p:txBody>
      </p:sp>
      <p:sp>
        <p:nvSpPr>
          <p:cNvPr id="5" name="Date Placeholder 4"/>
          <p:cNvSpPr>
            <a:spLocks noGrp="1"/>
          </p:cNvSpPr>
          <p:nvPr>
            <p:ph type="dt" idx="11"/>
          </p:nvPr>
        </p:nvSpPr>
        <p:spPr/>
        <p:txBody>
          <a:bodyPr/>
          <a:lstStyle/>
          <a:p>
            <a:fld id="{4A058666-2942-492C-862A-2EC091865584}"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203409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Autofit/>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13</a:t>
            </a:fld>
            <a:endParaRPr lang="en-US"/>
          </a:p>
        </p:txBody>
      </p:sp>
      <p:sp>
        <p:nvSpPr>
          <p:cNvPr id="5" name="Date Placeholder 4"/>
          <p:cNvSpPr>
            <a:spLocks noGrp="1"/>
          </p:cNvSpPr>
          <p:nvPr>
            <p:ph type="dt" idx="11"/>
          </p:nvPr>
        </p:nvSpPr>
        <p:spPr/>
        <p:txBody>
          <a:bodyPr/>
          <a:lstStyle/>
          <a:p>
            <a:fld id="{A3C2BDA3-2B42-440C-AA49-5DBD7DE0AFB6}"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228242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15</a:t>
            </a:fld>
            <a:endParaRPr lang="en-US"/>
          </a:p>
        </p:txBody>
      </p:sp>
      <p:sp>
        <p:nvSpPr>
          <p:cNvPr id="5" name="Date Placeholder 4"/>
          <p:cNvSpPr>
            <a:spLocks noGrp="1"/>
          </p:cNvSpPr>
          <p:nvPr>
            <p:ph type="dt" idx="11"/>
          </p:nvPr>
        </p:nvSpPr>
        <p:spPr/>
        <p:txBody>
          <a:bodyPr/>
          <a:lstStyle/>
          <a:p>
            <a:fld id="{0E970D47-4039-43A6-8062-C5E3A9C3984F}"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4091444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16</a:t>
            </a:fld>
            <a:endParaRPr lang="en-US"/>
          </a:p>
        </p:txBody>
      </p:sp>
      <p:sp>
        <p:nvSpPr>
          <p:cNvPr id="5" name="Date Placeholder 4"/>
          <p:cNvSpPr>
            <a:spLocks noGrp="1"/>
          </p:cNvSpPr>
          <p:nvPr>
            <p:ph type="dt" idx="11"/>
          </p:nvPr>
        </p:nvSpPr>
        <p:spPr/>
        <p:txBody>
          <a:bodyPr/>
          <a:lstStyle/>
          <a:p>
            <a:fld id="{F3B00ABF-92D3-4B60-8332-BAEF66E4627B}"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5397861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sz="900"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17</a:t>
            </a:fld>
            <a:endParaRPr lang="en-US"/>
          </a:p>
        </p:txBody>
      </p:sp>
      <p:sp>
        <p:nvSpPr>
          <p:cNvPr id="5" name="Date Placeholder 4"/>
          <p:cNvSpPr>
            <a:spLocks noGrp="1"/>
          </p:cNvSpPr>
          <p:nvPr>
            <p:ph type="dt" idx="11"/>
          </p:nvPr>
        </p:nvSpPr>
        <p:spPr/>
        <p:txBody>
          <a:bodyPr/>
          <a:lstStyle/>
          <a:p>
            <a:fld id="{16CFE81B-3F9F-4A96-9994-8DDCDD1BC372}"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922631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18</a:t>
            </a:fld>
            <a:endParaRPr lang="en-US"/>
          </a:p>
        </p:txBody>
      </p:sp>
      <p:sp>
        <p:nvSpPr>
          <p:cNvPr id="5" name="Date Placeholder 4"/>
          <p:cNvSpPr>
            <a:spLocks noGrp="1"/>
          </p:cNvSpPr>
          <p:nvPr>
            <p:ph type="dt" idx="11"/>
          </p:nvPr>
        </p:nvSpPr>
        <p:spPr/>
        <p:txBody>
          <a:bodyPr/>
          <a:lstStyle/>
          <a:p>
            <a:fld id="{3AD34158-50B5-44AE-8F2B-6F8AEFC819C6}"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487188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20</a:t>
            </a:fld>
            <a:endParaRPr lang="en-US"/>
          </a:p>
        </p:txBody>
      </p:sp>
      <p:sp>
        <p:nvSpPr>
          <p:cNvPr id="5" name="Date Placeholder 4"/>
          <p:cNvSpPr>
            <a:spLocks noGrp="1"/>
          </p:cNvSpPr>
          <p:nvPr>
            <p:ph type="dt" idx="11"/>
          </p:nvPr>
        </p:nvSpPr>
        <p:spPr/>
        <p:txBody>
          <a:bodyPr/>
          <a:lstStyle/>
          <a:p>
            <a:fld id="{D2F93AD6-2B3B-4BFD-A958-8D89ADFD2500}"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565863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21</a:t>
            </a:fld>
            <a:endParaRPr lang="en-US"/>
          </a:p>
        </p:txBody>
      </p:sp>
      <p:sp>
        <p:nvSpPr>
          <p:cNvPr id="5" name="Date Placeholder 4"/>
          <p:cNvSpPr>
            <a:spLocks noGrp="1"/>
          </p:cNvSpPr>
          <p:nvPr>
            <p:ph type="dt" idx="11"/>
          </p:nvPr>
        </p:nvSpPr>
        <p:spPr/>
        <p:txBody>
          <a:bodyPr/>
          <a:lstStyle/>
          <a:p>
            <a:fld id="{94214A46-A3FE-4D70-8E4B-967C86468B15}"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283524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22</a:t>
            </a:fld>
            <a:endParaRPr lang="en-US"/>
          </a:p>
        </p:txBody>
      </p:sp>
      <p:sp>
        <p:nvSpPr>
          <p:cNvPr id="5" name="Date Placeholder 4"/>
          <p:cNvSpPr>
            <a:spLocks noGrp="1"/>
          </p:cNvSpPr>
          <p:nvPr>
            <p:ph type="dt" idx="11"/>
          </p:nvPr>
        </p:nvSpPr>
        <p:spPr/>
        <p:txBody>
          <a:bodyPr/>
          <a:lstStyle/>
          <a:p>
            <a:fld id="{9453A2CE-D10F-48ED-90A7-F919C29ED771}"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9788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23</a:t>
            </a:fld>
            <a:endParaRPr lang="en-US"/>
          </a:p>
        </p:txBody>
      </p:sp>
      <p:sp>
        <p:nvSpPr>
          <p:cNvPr id="5" name="Date Placeholder 4"/>
          <p:cNvSpPr>
            <a:spLocks noGrp="1"/>
          </p:cNvSpPr>
          <p:nvPr>
            <p:ph type="dt" idx="11"/>
          </p:nvPr>
        </p:nvSpPr>
        <p:spPr/>
        <p:txBody>
          <a:bodyPr/>
          <a:lstStyle/>
          <a:p>
            <a:fld id="{09F3ACC1-AFA5-4DA3-9A7C-9B29EF314BD8}"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725725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24</a:t>
            </a:fld>
            <a:endParaRPr lang="en-US"/>
          </a:p>
        </p:txBody>
      </p:sp>
      <p:sp>
        <p:nvSpPr>
          <p:cNvPr id="5" name="Date Placeholder 4"/>
          <p:cNvSpPr>
            <a:spLocks noGrp="1"/>
          </p:cNvSpPr>
          <p:nvPr>
            <p:ph type="dt" idx="11"/>
          </p:nvPr>
        </p:nvSpPr>
        <p:spPr/>
        <p:txBody>
          <a:bodyPr/>
          <a:lstStyle/>
          <a:p>
            <a:fld id="{78F36605-815E-4EE2-AF80-9A8F30A1EA7C}"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5226820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603BBD07-4597-4FAC-84EC-CCF019A29126}"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25</a:t>
            </a:fld>
            <a:endParaRPr lang="en-US"/>
          </a:p>
        </p:txBody>
      </p:sp>
    </p:spTree>
    <p:extLst>
      <p:ext uri="{BB962C8B-B14F-4D97-AF65-F5344CB8AC3E}">
        <p14:creationId xmlns:p14="http://schemas.microsoft.com/office/powerpoint/2010/main" val="1182644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26</a:t>
            </a:fld>
            <a:endParaRPr lang="en-US"/>
          </a:p>
        </p:txBody>
      </p:sp>
      <p:sp>
        <p:nvSpPr>
          <p:cNvPr id="5" name="Date Placeholder 4"/>
          <p:cNvSpPr>
            <a:spLocks noGrp="1"/>
          </p:cNvSpPr>
          <p:nvPr>
            <p:ph type="dt" idx="11"/>
          </p:nvPr>
        </p:nvSpPr>
        <p:spPr/>
        <p:txBody>
          <a:bodyPr/>
          <a:lstStyle/>
          <a:p>
            <a:fld id="{2FABD1EB-FEC0-4880-B5AC-C19ABAC1E21F}"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439741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27</a:t>
            </a:fld>
            <a:endParaRPr lang="en-US"/>
          </a:p>
        </p:txBody>
      </p:sp>
      <p:sp>
        <p:nvSpPr>
          <p:cNvPr id="5" name="Date Placeholder 4"/>
          <p:cNvSpPr>
            <a:spLocks noGrp="1"/>
          </p:cNvSpPr>
          <p:nvPr>
            <p:ph type="dt" idx="11"/>
          </p:nvPr>
        </p:nvSpPr>
        <p:spPr/>
        <p:txBody>
          <a:bodyPr/>
          <a:lstStyle/>
          <a:p>
            <a:fld id="{131A7663-855F-4043-B210-591F663A5A2C}"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5298301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28</a:t>
            </a:fld>
            <a:endParaRPr lang="en-US"/>
          </a:p>
        </p:txBody>
      </p:sp>
      <p:sp>
        <p:nvSpPr>
          <p:cNvPr id="5" name="Date Placeholder 4"/>
          <p:cNvSpPr>
            <a:spLocks noGrp="1"/>
          </p:cNvSpPr>
          <p:nvPr>
            <p:ph type="dt" idx="11"/>
          </p:nvPr>
        </p:nvSpPr>
        <p:spPr/>
        <p:txBody>
          <a:bodyPr/>
          <a:lstStyle/>
          <a:p>
            <a:fld id="{C632F5D9-1C38-4E5A-9163-08F243AAE0A5}"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269449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29</a:t>
            </a:fld>
            <a:endParaRPr lang="en-US"/>
          </a:p>
        </p:txBody>
      </p:sp>
      <p:sp>
        <p:nvSpPr>
          <p:cNvPr id="5" name="Date Placeholder 4"/>
          <p:cNvSpPr>
            <a:spLocks noGrp="1"/>
          </p:cNvSpPr>
          <p:nvPr>
            <p:ph type="dt" idx="11"/>
          </p:nvPr>
        </p:nvSpPr>
        <p:spPr/>
        <p:txBody>
          <a:bodyPr/>
          <a:lstStyle/>
          <a:p>
            <a:fld id="{FCEF32E2-413B-4728-9BE0-A773CA69E78E}"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501194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30</a:t>
            </a:fld>
            <a:endParaRPr lang="en-US"/>
          </a:p>
        </p:txBody>
      </p:sp>
      <p:sp>
        <p:nvSpPr>
          <p:cNvPr id="5" name="Date Placeholder 4"/>
          <p:cNvSpPr>
            <a:spLocks noGrp="1"/>
          </p:cNvSpPr>
          <p:nvPr>
            <p:ph type="dt" idx="11"/>
          </p:nvPr>
        </p:nvSpPr>
        <p:spPr/>
        <p:txBody>
          <a:bodyPr/>
          <a:lstStyle/>
          <a:p>
            <a:fld id="{3453D090-3F52-42A5-B853-E642F5DEF15A}"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545450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31</a:t>
            </a:fld>
            <a:endParaRPr lang="en-US"/>
          </a:p>
        </p:txBody>
      </p:sp>
      <p:sp>
        <p:nvSpPr>
          <p:cNvPr id="5" name="Date Placeholder 4"/>
          <p:cNvSpPr>
            <a:spLocks noGrp="1"/>
          </p:cNvSpPr>
          <p:nvPr>
            <p:ph type="dt" idx="11"/>
          </p:nvPr>
        </p:nvSpPr>
        <p:spPr/>
        <p:txBody>
          <a:bodyPr/>
          <a:lstStyle/>
          <a:p>
            <a:fld id="{40528316-0D54-45E5-9113-D70362F9161B}"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8808691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AB621AEE-8EA4-4674-A250-2999015B85F8}" type="datetime1">
              <a:rPr lang="en-US" smtClean="0"/>
              <a:t>9/28/26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32</a:t>
            </a:fld>
            <a:endParaRPr lang="en-US"/>
          </a:p>
        </p:txBody>
      </p:sp>
    </p:spTree>
    <p:extLst>
      <p:ext uri="{BB962C8B-B14F-4D97-AF65-F5344CB8AC3E}">
        <p14:creationId xmlns:p14="http://schemas.microsoft.com/office/powerpoint/2010/main" val="33479717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A2F66791-E170-4683-B1E3-12B7E990D13E}"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34</a:t>
            </a:fld>
            <a:endParaRPr lang="en-US"/>
          </a:p>
        </p:txBody>
      </p:sp>
    </p:spTree>
    <p:extLst>
      <p:ext uri="{BB962C8B-B14F-4D97-AF65-F5344CB8AC3E}">
        <p14:creationId xmlns:p14="http://schemas.microsoft.com/office/powerpoint/2010/main" val="19467843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38</a:t>
            </a:fld>
            <a:endParaRPr lang="en-US"/>
          </a:p>
        </p:txBody>
      </p:sp>
      <p:sp>
        <p:nvSpPr>
          <p:cNvPr id="5" name="Date Placeholder 4"/>
          <p:cNvSpPr>
            <a:spLocks noGrp="1"/>
          </p:cNvSpPr>
          <p:nvPr>
            <p:ph type="dt" idx="11"/>
          </p:nvPr>
        </p:nvSpPr>
        <p:spPr/>
        <p:txBody>
          <a:bodyPr/>
          <a:lstStyle/>
          <a:p>
            <a:fld id="{19F60498-8A7D-4FD0-92B8-C07FE6439D2C}"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246998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39</a:t>
            </a:fld>
            <a:endParaRPr lang="en-US"/>
          </a:p>
        </p:txBody>
      </p:sp>
      <p:sp>
        <p:nvSpPr>
          <p:cNvPr id="5" name="Date Placeholder 4"/>
          <p:cNvSpPr>
            <a:spLocks noGrp="1"/>
          </p:cNvSpPr>
          <p:nvPr>
            <p:ph type="dt" idx="11"/>
          </p:nvPr>
        </p:nvSpPr>
        <p:spPr/>
        <p:txBody>
          <a:bodyPr/>
          <a:lstStyle/>
          <a:p>
            <a:fld id="{CDD3B31D-CFF7-4B1B-A8B4-90104897C068}"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8861514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40</a:t>
            </a:fld>
            <a:endParaRPr lang="en-US"/>
          </a:p>
        </p:txBody>
      </p:sp>
      <p:sp>
        <p:nvSpPr>
          <p:cNvPr id="5" name="Date Placeholder 4"/>
          <p:cNvSpPr>
            <a:spLocks noGrp="1"/>
          </p:cNvSpPr>
          <p:nvPr>
            <p:ph type="dt" idx="11"/>
          </p:nvPr>
        </p:nvSpPr>
        <p:spPr/>
        <p:txBody>
          <a:bodyPr/>
          <a:lstStyle/>
          <a:p>
            <a:fld id="{F82BB1BF-0D67-4FE3-8157-6AD067EEDDB1}"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5074334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5D7E18DC-4F20-4642-8490-2C3D854D2AEF}"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41</a:t>
            </a:fld>
            <a:endParaRPr lang="en-US"/>
          </a:p>
        </p:txBody>
      </p:sp>
    </p:spTree>
    <p:extLst>
      <p:ext uri="{BB962C8B-B14F-4D97-AF65-F5344CB8AC3E}">
        <p14:creationId xmlns:p14="http://schemas.microsoft.com/office/powerpoint/2010/main" val="12298654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42</a:t>
            </a:fld>
            <a:endParaRPr lang="en-US"/>
          </a:p>
        </p:txBody>
      </p:sp>
      <p:sp>
        <p:nvSpPr>
          <p:cNvPr id="5" name="Date Placeholder 4"/>
          <p:cNvSpPr>
            <a:spLocks noGrp="1"/>
          </p:cNvSpPr>
          <p:nvPr>
            <p:ph type="dt" idx="11"/>
          </p:nvPr>
        </p:nvSpPr>
        <p:spPr/>
        <p:txBody>
          <a:bodyPr/>
          <a:lstStyle/>
          <a:p>
            <a:fld id="{2B4D0302-DEB9-48C0-AC05-63612AC5290F}"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074844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43</a:t>
            </a:fld>
            <a:endParaRPr lang="en-US"/>
          </a:p>
        </p:txBody>
      </p:sp>
      <p:sp>
        <p:nvSpPr>
          <p:cNvPr id="5" name="Date Placeholder 4"/>
          <p:cNvSpPr>
            <a:spLocks noGrp="1"/>
          </p:cNvSpPr>
          <p:nvPr>
            <p:ph type="dt" idx="11"/>
          </p:nvPr>
        </p:nvSpPr>
        <p:spPr/>
        <p:txBody>
          <a:bodyPr/>
          <a:lstStyle/>
          <a:p>
            <a:fld id="{EA46E1BC-FFC3-4A72-A121-8DBF9CF62EA2}"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9227051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484582C4-0681-4BBA-810C-0AA98244F2CC}"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45</a:t>
            </a:fld>
            <a:endParaRPr lang="en-US"/>
          </a:p>
        </p:txBody>
      </p:sp>
    </p:spTree>
    <p:extLst>
      <p:ext uri="{BB962C8B-B14F-4D97-AF65-F5344CB8AC3E}">
        <p14:creationId xmlns:p14="http://schemas.microsoft.com/office/powerpoint/2010/main" val="14280430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8C7B336F-4838-4128-843A-C1A41DB86026}"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46</a:t>
            </a:fld>
            <a:endParaRPr lang="en-US"/>
          </a:p>
        </p:txBody>
      </p:sp>
    </p:spTree>
    <p:extLst>
      <p:ext uri="{BB962C8B-B14F-4D97-AF65-F5344CB8AC3E}">
        <p14:creationId xmlns:p14="http://schemas.microsoft.com/office/powerpoint/2010/main" val="18192548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47</a:t>
            </a:fld>
            <a:endParaRPr lang="en-US"/>
          </a:p>
        </p:txBody>
      </p:sp>
      <p:sp>
        <p:nvSpPr>
          <p:cNvPr id="5" name="Date Placeholder 4"/>
          <p:cNvSpPr>
            <a:spLocks noGrp="1"/>
          </p:cNvSpPr>
          <p:nvPr>
            <p:ph type="dt" idx="11"/>
          </p:nvPr>
        </p:nvSpPr>
        <p:spPr/>
        <p:txBody>
          <a:bodyPr/>
          <a:lstStyle/>
          <a:p>
            <a:fld id="{82D9B472-762D-4E37-B6B6-63F31FAFE526}"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5260408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89F68241-66EF-4AAC-A63C-BFB7FE3F8E5E}"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48</a:t>
            </a:fld>
            <a:endParaRPr lang="en-US"/>
          </a:p>
        </p:txBody>
      </p:sp>
    </p:spTree>
    <p:extLst>
      <p:ext uri="{BB962C8B-B14F-4D97-AF65-F5344CB8AC3E}">
        <p14:creationId xmlns:p14="http://schemas.microsoft.com/office/powerpoint/2010/main" val="20180180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49</a:t>
            </a:fld>
            <a:endParaRPr lang="en-US"/>
          </a:p>
        </p:txBody>
      </p:sp>
      <p:sp>
        <p:nvSpPr>
          <p:cNvPr id="5" name="Date Placeholder 4"/>
          <p:cNvSpPr>
            <a:spLocks noGrp="1"/>
          </p:cNvSpPr>
          <p:nvPr>
            <p:ph type="dt" idx="11"/>
          </p:nvPr>
        </p:nvSpPr>
        <p:spPr/>
        <p:txBody>
          <a:bodyPr/>
          <a:lstStyle/>
          <a:p>
            <a:fld id="{F5E645A6-7840-4B59-B834-24E2726E094A}"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175006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DA69-A571-1F49-91C0-61EBFAAB21F4}" type="slidenum">
              <a:rPr lang="en-US" smtClean="0"/>
              <a:pPr/>
              <a:t>50</a:t>
            </a:fld>
            <a:endParaRPr lang="en-US"/>
          </a:p>
        </p:txBody>
      </p:sp>
      <p:sp>
        <p:nvSpPr>
          <p:cNvPr id="5" name="Date Placeholder 4"/>
          <p:cNvSpPr>
            <a:spLocks noGrp="1"/>
          </p:cNvSpPr>
          <p:nvPr>
            <p:ph type="dt" idx="11"/>
          </p:nvPr>
        </p:nvSpPr>
        <p:spPr/>
        <p:txBody>
          <a:bodyPr/>
          <a:lstStyle/>
          <a:p>
            <a:fld id="{5D09F39C-D2A5-472E-97A0-06159488A3F4}" type="datetime1">
              <a:rPr lang="en-US" smtClean="0"/>
              <a:t>9/28/26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7093451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13890CB6-4AFB-4D01-8CF1-B60BAC909786}" type="datetime1">
              <a:rPr lang="en-US" smtClean="0"/>
              <a:t>9/28/26</a:t>
            </a:fld>
            <a:endParaRPr lang="en-US"/>
          </a:p>
        </p:txBody>
      </p:sp>
      <p:sp>
        <p:nvSpPr>
          <p:cNvPr id="6" name="Slide Number Placeholder 5"/>
          <p:cNvSpPr>
            <a:spLocks noGrp="1"/>
          </p:cNvSpPr>
          <p:nvPr>
            <p:ph type="sldNum" sz="quarter" idx="12"/>
          </p:nvPr>
        </p:nvSpPr>
        <p:spPr/>
        <p:txBody>
          <a:bodyPr/>
          <a:lstStyle/>
          <a:p>
            <a:fld id="{4158DA69-A571-1F49-91C0-61EBFAAB21F4}" type="slidenum">
              <a:rPr lang="en-US" smtClean="0"/>
              <a:pPr/>
              <a:t>51</a:t>
            </a:fld>
            <a:endParaRPr lang="en-US"/>
          </a:p>
        </p:txBody>
      </p:sp>
    </p:spTree>
    <p:extLst>
      <p:ext uri="{BB962C8B-B14F-4D97-AF65-F5344CB8AC3E}">
        <p14:creationId xmlns:p14="http://schemas.microsoft.com/office/powerpoint/2010/main" val="29652440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6349" y="1"/>
            <a:ext cx="12192000" cy="52938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0" name="Freeform 9"/>
          <p:cNvSpPr/>
          <p:nvPr/>
        </p:nvSpPr>
        <p:spPr>
          <a:xfrm>
            <a:off x="6350" y="-24063"/>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ctrTitle"/>
          </p:nvPr>
        </p:nvSpPr>
        <p:spPr>
          <a:xfrm>
            <a:off x="457200" y="3897256"/>
            <a:ext cx="7772400" cy="1463040"/>
          </a:xfrm>
        </p:spPr>
        <p:txBody>
          <a:bodyPr anchor="ctr">
            <a:normAutofit/>
          </a:bodyPr>
          <a:lstStyle>
            <a:lvl1pPr algn="r">
              <a:defRPr sz="3600" spc="200" baseline="0"/>
            </a:lvl1pPr>
          </a:lstStyle>
          <a:p>
            <a:r>
              <a:rPr lang="en-US"/>
              <a:t>Click to edit Master title style</a:t>
            </a:r>
            <a:endParaRPr lang="en-US" dirty="0"/>
          </a:p>
        </p:txBody>
      </p:sp>
      <p:sp>
        <p:nvSpPr>
          <p:cNvPr id="3" name="Subtitle 2"/>
          <p:cNvSpPr>
            <a:spLocks noGrp="1"/>
          </p:cNvSpPr>
          <p:nvPr>
            <p:ph type="subTitle" idx="1" hasCustomPrompt="1"/>
          </p:nvPr>
        </p:nvSpPr>
        <p:spPr>
          <a:xfrm>
            <a:off x="8610600" y="3897256"/>
            <a:ext cx="3200400" cy="1463040"/>
          </a:xfrm>
        </p:spPr>
        <p:txBody>
          <a:bodyPr lIns="91440" rIns="91440" anchor="ctr">
            <a:normAutofit/>
          </a:bodyPr>
          <a:lstStyle>
            <a:lvl1pPr marL="0" indent="0" algn="l">
              <a:lnSpc>
                <a:spcPct val="100000"/>
              </a:lnSpc>
              <a:spcBef>
                <a:spcPts val="0"/>
              </a:spcBef>
              <a:buNone/>
              <a:defRPr sz="160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Thang</a:t>
            </a:r>
            <a:r>
              <a:rPr lang="en-US" dirty="0"/>
              <a:t> Bui</a:t>
            </a:r>
          </a:p>
        </p:txBody>
      </p:sp>
      <p:cxnSp>
        <p:nvCxnSpPr>
          <p:cNvPr id="8" name="Straight Connector 7"/>
          <p:cNvCxnSpPr/>
          <p:nvPr/>
        </p:nvCxnSpPr>
        <p:spPr>
          <a:xfrm flipV="1">
            <a:off x="8386843" y="4201225"/>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34709"/>
            <a:ext cx="1278800" cy="871990"/>
          </a:xfrm>
          <a:prstGeom prst="rect">
            <a:avLst/>
          </a:prstGeom>
        </p:spPr>
      </p:pic>
      <p:sp>
        <p:nvSpPr>
          <p:cNvPr id="11" name="Title 1"/>
          <p:cNvSpPr txBox="1">
            <a:spLocks/>
          </p:cNvSpPr>
          <p:nvPr/>
        </p:nvSpPr>
        <p:spPr>
          <a:xfrm>
            <a:off x="3322651" y="529389"/>
            <a:ext cx="7772400" cy="2317424"/>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4400" kern="1200" cap="all" spc="200" baseline="0">
                <a:solidFill>
                  <a:schemeClr val="tx1">
                    <a:lumMod val="95000"/>
                    <a:lumOff val="5000"/>
                  </a:schemeClr>
                </a:solidFill>
                <a:latin typeface="+mj-lt"/>
                <a:ea typeface="+mj-ea"/>
                <a:cs typeface="+mj-cs"/>
              </a:defRPr>
            </a:lvl1pPr>
          </a:lstStyle>
          <a:p>
            <a:pPr fontAlgn="auto">
              <a:spcAft>
                <a:spcPts val="0"/>
              </a:spcAft>
            </a:pPr>
            <a:r>
              <a:rPr lang="en-US" sz="8000" dirty="0"/>
              <a:t>Software engineering</a:t>
            </a:r>
          </a:p>
        </p:txBody>
      </p:sp>
      <p:sp>
        <p:nvSpPr>
          <p:cNvPr id="12" name="Rectangle 11"/>
          <p:cNvSpPr/>
          <p:nvPr/>
        </p:nvSpPr>
        <p:spPr>
          <a:xfrm>
            <a:off x="1191768" y="6525692"/>
            <a:ext cx="7418832" cy="276999"/>
          </a:xfrm>
          <a:prstGeom prst="rect">
            <a:avLst/>
          </a:prstGeom>
        </p:spPr>
        <p:txBody>
          <a:bodyPr wrap="square">
            <a:spAutoFit/>
          </a:bodyPr>
          <a:lstStyle/>
          <a:p>
            <a:r>
              <a:rPr lang="en-US" sz="1200" dirty="0"/>
              <a:t>Adapted from https://iansommerville.com/software-engineering-book/slides/</a:t>
            </a:r>
          </a:p>
        </p:txBody>
      </p:sp>
      <p:sp>
        <p:nvSpPr>
          <p:cNvPr id="13" name="TextBox 12"/>
          <p:cNvSpPr txBox="1"/>
          <p:nvPr/>
        </p:nvSpPr>
        <p:spPr>
          <a:xfrm>
            <a:off x="9284299" y="2410485"/>
            <a:ext cx="1358064" cy="707886"/>
          </a:xfrm>
          <a:prstGeom prst="rect">
            <a:avLst/>
          </a:prstGeom>
          <a:noFill/>
        </p:spPr>
        <p:txBody>
          <a:bodyPr wrap="none" rtlCol="0">
            <a:spAutoFit/>
          </a:bodyPr>
          <a:lstStyle/>
          <a:p>
            <a:r>
              <a:rPr lang="en-US" sz="4000" dirty="0">
                <a:latin typeface="+mj-lt"/>
              </a:rPr>
              <a:t>CO3001</a:t>
            </a:r>
          </a:p>
        </p:txBody>
      </p:sp>
    </p:spTree>
    <p:extLst>
      <p:ext uri="{BB962C8B-B14F-4D97-AF65-F5344CB8AC3E}">
        <p14:creationId xmlns:p14="http://schemas.microsoft.com/office/powerpoint/2010/main" val="376357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4D9DF4F5-E5D5-424E-9F9B-7A79F9713E3A}" type="datetime1">
              <a:rPr lang="nb-NO" smtClean="0"/>
              <a:t>28.09.2026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2778304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2192000" cy="5775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1" name="Freeform 10"/>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title"/>
          </p:nvPr>
        </p:nvSpPr>
        <p:spPr>
          <a:xfrm>
            <a:off x="457200" y="3885224"/>
            <a:ext cx="77724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3885224"/>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EF18BB3E-8A26-4B20-81BF-A8FFF90C4B99}" type="datetime1">
              <a:rPr lang="nb-NO" smtClean="0"/>
              <a:t>28.09.2026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cxnSp>
        <p:nvCxnSpPr>
          <p:cNvPr id="8" name="Straight Connector 7"/>
          <p:cNvCxnSpPr/>
          <p:nvPr/>
        </p:nvCxnSpPr>
        <p:spPr>
          <a:xfrm flipV="1">
            <a:off x="8386843" y="4189193"/>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877441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96254"/>
            <a:ext cx="10786873" cy="12272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1524002"/>
            <a:ext cx="4965192"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1011" y="1524002"/>
            <a:ext cx="5329988"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A032B8A2-C483-4C46-A470-C32F39D7A2AC}" type="datetime1">
              <a:rPr lang="nb-NO" smtClean="0"/>
              <a:t>28.09.2026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441754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84222"/>
            <a:ext cx="10786873" cy="12392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524002"/>
            <a:ext cx="513604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346962"/>
            <a:ext cx="5136040"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843" y="1524002"/>
            <a:ext cx="5394157"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6416843" y="2346962"/>
            <a:ext cx="5394157"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24130" y="6470704"/>
            <a:ext cx="2154143" cy="274320"/>
          </a:xfrm>
          <a:prstGeom prst="rect">
            <a:avLst/>
          </a:prstGeom>
        </p:spPr>
        <p:txBody>
          <a:bodyPr/>
          <a:lstStyle/>
          <a:p>
            <a:fld id="{8F564D58-9F30-420A-8D67-2E44D8890AB4}" type="datetime1">
              <a:rPr lang="nb-NO" smtClean="0"/>
              <a:t>28.09.2026</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211138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24130" y="6470704"/>
            <a:ext cx="2154143" cy="274320"/>
          </a:xfrm>
          <a:prstGeom prst="rect">
            <a:avLst/>
          </a:prstGeom>
        </p:spPr>
        <p:txBody>
          <a:bodyPr/>
          <a:lstStyle/>
          <a:p>
            <a:fld id="{A0AF38F8-E20F-4F23-8E83-E1F713D341D9}" type="datetime1">
              <a:rPr lang="nb-NO" smtClean="0"/>
              <a:t>28.09.2026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3471852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24130" y="6470704"/>
            <a:ext cx="2154143" cy="274320"/>
          </a:xfrm>
          <a:prstGeom prst="rect">
            <a:avLst/>
          </a:prstGeom>
        </p:spPr>
        <p:txBody>
          <a:bodyPr/>
          <a:lstStyle/>
          <a:p>
            <a:fld id="{45EFA293-F871-48D4-B4C3-770FCE382B2E}" type="datetime1">
              <a:rPr lang="nb-NO" smtClean="0"/>
              <a:t>28.09.2026</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33B370-F672-B743-B3AF-248A63C17270}" type="slidenum">
              <a:rPr lang="en-US" smtClean="0"/>
              <a:pPr/>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3132084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EA71FB4F-96D8-4E55-B93A-08AA748F64E7}" type="datetime1">
              <a:rPr lang="nb-NO" smtClean="0"/>
              <a:t>28.09.2026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775014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FC944386-30EE-42A6-920A-4C4E1A72E47D}" type="datetime1">
              <a:rPr lang="nb-NO" smtClean="0"/>
              <a:t>28.09.2026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3720526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AC8C39FC-07D4-4E6A-A1E5-AB18421F43B8}" type="datetime1">
              <a:rPr lang="nb-NO" smtClean="0"/>
              <a:t>28.09.2026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2954862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9EFE200D-1183-4CD2-A00D-43FAAC771EE1}" type="datetime1">
              <a:rPr lang="nb-NO" smtClean="0"/>
              <a:t>28.09.2026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4292444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24130" y="6470704"/>
            <a:ext cx="2154143" cy="274320"/>
          </a:xfrm>
          <a:prstGeom prst="rect">
            <a:avLst/>
          </a:prstGeom>
        </p:spPr>
        <p:txBody>
          <a:bodyPr rtlCol="0"/>
          <a:lstStyle>
            <a:lvl1pPr>
              <a:defRPr smtClean="0">
                <a:latin typeface="Arial" pitchFamily="34" charset="0"/>
                <a:cs typeface="Arial" pitchFamily="34" charset="0"/>
              </a:defRPr>
            </a:lvl1pPr>
          </a:lstStyle>
          <a:p>
            <a:fld id="{3B39A744-4FA6-4D89-8785-C7444015460C}" type="datetime1">
              <a:rPr lang="nb-NO" smtClean="0"/>
              <a:t>28.09.2026</a:t>
            </a:fld>
            <a:endParaRPr lang="en-US" dirty="0"/>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
        <p:nvSpPr>
          <p:cNvPr id="7" name="Content Placeholder 2"/>
          <p:cNvSpPr>
            <a:spLocks noGrp="1"/>
          </p:cNvSpPr>
          <p:nvPr>
            <p:ph idx="1"/>
          </p:nvPr>
        </p:nvSpPr>
        <p:spPr>
          <a:xfrm>
            <a:off x="609600" y="673100"/>
            <a:ext cx="10972800" cy="580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634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7" y="96254"/>
            <a:ext cx="10786871" cy="12151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1528012"/>
            <a:ext cx="10786872" cy="4781349"/>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33B370-F672-B743-B3AF-248A63C17270}" type="slidenum">
              <a:rPr lang="en-US" smtClean="0"/>
              <a:pPr/>
              <a:t>‹#›</a:t>
            </a:fld>
            <a:endParaRPr lang="en-US"/>
          </a:p>
        </p:txBody>
      </p:sp>
      <p:cxnSp>
        <p:nvCxnSpPr>
          <p:cNvPr id="7" name="Straight Connector 6"/>
          <p:cNvCxnSpPr/>
          <p:nvPr/>
        </p:nvCxnSpPr>
        <p:spPr>
          <a:xfrm flipV="1">
            <a:off x="762000" y="224745"/>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77113139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hf sldNum="0" hdr="0" ftr="0"/>
  <p:txStyles>
    <p:titleStyle>
      <a:lvl1pPr algn="l" defTabSz="914400" rtl="0" eaLnBrk="1" latinLnBrk="0" hangingPunct="1">
        <a:lnSpc>
          <a:spcPct val="80000"/>
        </a:lnSpc>
        <a:spcBef>
          <a:spcPct val="0"/>
        </a:spcBef>
        <a:buNone/>
        <a:defRPr sz="3600" kern="1200" cap="all" spc="100" baseline="0">
          <a:solidFill>
            <a:schemeClr val="tx1">
              <a:lumMod val="95000"/>
              <a:lumOff val="5000"/>
            </a:schemeClr>
          </a:solidFill>
          <a:latin typeface="+mj-lt"/>
          <a:ea typeface="+mj-ea"/>
          <a:cs typeface="+mj-cs"/>
        </a:defRPr>
      </a:lvl1pPr>
    </p:titleStyle>
    <p:body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9.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dirty="0"/>
              <a:t>Chương 7 – Thiết kế kiến trúc</a:t>
            </a:r>
          </a:p>
        </p:txBody>
      </p:sp>
      <p:sp>
        <p:nvSpPr>
          <p:cNvPr id="6" name="Subtitle 5"/>
          <p:cNvSpPr>
            <a:spLocks noGrp="1"/>
          </p:cNvSpPr>
          <p:nvPr>
            <p:ph type="subTitle" idx="1"/>
          </p:nvPr>
        </p:nvSpPr>
        <p:spPr/>
        <p:txBody>
          <a:bodyPr/>
          <a:lstStyle/>
          <a:p>
            <a:r>
              <a:rPr lang="vi-VN" dirty="0"/>
              <a:t>Anh Nguyen-Duc</a:t>
            </a:r>
          </a:p>
          <a:p>
            <a:r>
              <a:rPr lang="vi-VN" dirty="0"/>
              <a:t>Tho Quan-Thanh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chủ đề trong chương</a:t>
            </a:r>
            <a:endParaRPr lang="en-US"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2FCDFD7B-C372-47D1-8E46-606662EC8437}" type="datetime1">
              <a:rPr lang="nb-NO" smtClean="0"/>
              <a:t>28.09.2026</a:t>
            </a:fld>
            <a:endParaRPr lang="en-US"/>
          </a:p>
        </p:txBody>
      </p:sp>
      <p:sp>
        <p:nvSpPr>
          <p:cNvPr id="3" name="Content Placeholder 2"/>
          <p:cNvSpPr>
            <a:spLocks noGrp="1"/>
          </p:cNvSpPr>
          <p:nvPr>
            <p:ph idx="1"/>
          </p:nvPr>
        </p:nvSpPr>
        <p:spPr/>
        <p:txBody>
          <a:bodyPr/>
          <a:lstStyle/>
          <a:p>
            <a:r>
              <a:rPr lang="vi-VN"/>
              <a:t>Các quyết định thiết kế kiến trúc</a:t>
            </a:r>
            <a:endParaRPr lang="en-GB"/>
          </a:p>
          <a:p>
            <a:r>
              <a:rPr lang="vi-VN"/>
              <a:t>Các góc nhìn kiến trúc</a:t>
            </a:r>
            <a:endParaRPr lang="en-GB"/>
          </a:p>
          <a:p>
            <a:r>
              <a:rPr lang="vi-VN"/>
              <a:t>Các mẫu kiến trúc</a:t>
            </a:r>
            <a:endParaRPr lang="en-GB"/>
          </a:p>
          <a:p>
            <a:r>
              <a:rPr lang="vi-VN"/>
              <a:t>Kiến trúc ứng dụng</a:t>
            </a:r>
            <a:endParaRPr lang="en-GB"/>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vi-VN"/>
              <a:t>Kiến trúc phần mềm</a:t>
            </a:r>
          </a:p>
        </p:txBody>
      </p:sp>
      <p:sp>
        <p:nvSpPr>
          <p:cNvPr id="44035" name="Rectangle 3"/>
          <p:cNvSpPr>
            <a:spLocks noGrp="1" noChangeArrowheads="1"/>
          </p:cNvSpPr>
          <p:nvPr>
            <p:ph idx="1"/>
          </p:nvPr>
        </p:nvSpPr>
        <p:spPr/>
        <p:txBody>
          <a:bodyPr/>
          <a:lstStyle/>
          <a:p>
            <a:r>
              <a:rPr lang="vi-VN" dirty="0"/>
              <a:t>Mô tả cách hệ thống được tổ chức thành một tập các thành phần giao tiếp với nhau</a:t>
            </a:r>
            <a:endParaRPr lang="en-GB" dirty="0"/>
          </a:p>
          <a:p>
            <a:endParaRPr lang="en-GB" dirty="0"/>
          </a:p>
          <a:p>
            <a:endParaRPr lang="en-GB" dirty="0"/>
          </a:p>
          <a:p>
            <a:endParaRPr lang="en-GB" dirty="0"/>
          </a:p>
          <a:p>
            <a:endParaRPr lang="en-GB" dirty="0"/>
          </a:p>
          <a:p>
            <a:endParaRPr lang="en-GB"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A873B2B8-1E03-4170-A267-D43FA8B9FB51}" type="datetime1">
              <a:rPr lang="nb-NO" smtClean="0"/>
              <a:t>28.09.2026</a:t>
            </a:fld>
            <a:endParaRPr lang="en-US"/>
          </a:p>
        </p:txBody>
      </p:sp>
      <p:sp>
        <p:nvSpPr>
          <p:cNvPr id="2" name="Rectangle 1"/>
          <p:cNvSpPr/>
          <p:nvPr/>
        </p:nvSpPr>
        <p:spPr>
          <a:xfrm>
            <a:off x="3012142" y="3395515"/>
            <a:ext cx="7655859" cy="2554545"/>
          </a:xfrm>
          <a:prstGeom prst="rect">
            <a:avLst/>
          </a:prstGeom>
        </p:spPr>
        <p:txBody>
          <a:bodyPr wrap="square">
            <a:spAutoFit/>
          </a:bodyPr>
          <a:lstStyle/>
          <a:p>
            <a:r>
              <a:rPr lang="vi-VN" sz="2000" dirty="0"/>
              <a:t>Kiến trúc?</a:t>
            </a:r>
          </a:p>
          <a:p>
            <a:r>
              <a:rPr lang="vi-VN" sz="2000" dirty="0"/>
              <a:t>“Kiến trúc” có thể có nghĩa là: (http://en.wikipedia.org/wiki/Architecture)</a:t>
            </a:r>
          </a:p>
          <a:p>
            <a:r>
              <a:rPr lang="vi-VN" sz="2000" i="1" dirty="0"/>
              <a:t>Thuật ngữ chung để chỉ các tòa nhà và các công trình vật lý khác.</a:t>
            </a:r>
          </a:p>
          <a:p>
            <a:r>
              <a:rPr lang="vi-VN" sz="2000" i="1" dirty="0"/>
              <a:t>Nghệ thuật và khoa học thiết kế các tòa nhà và (một số) công trình không phải nhà.</a:t>
            </a:r>
          </a:p>
          <a:p>
            <a:r>
              <a:rPr lang="vi-VN" sz="2000" i="1" dirty="0"/>
              <a:t>Phong cách thiết kế và phương pháp xây dựng các tòa nhà và công trình vật lý khác.</a:t>
            </a:r>
          </a:p>
          <a:p>
            <a:r>
              <a:rPr lang="vi-VN" sz="2000" i="1"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vi-VN"/>
              <a:t>Thiết kế kiến trúc</a:t>
            </a:r>
            <a:endParaRPr lang="en-GB" dirty="0"/>
          </a:p>
        </p:txBody>
      </p:sp>
      <p:sp>
        <p:nvSpPr>
          <p:cNvPr id="44035" name="Rectangle 3"/>
          <p:cNvSpPr>
            <a:spLocks noGrp="1" noChangeArrowheads="1"/>
          </p:cNvSpPr>
          <p:nvPr>
            <p:ph idx="1"/>
          </p:nvPr>
        </p:nvSpPr>
        <p:spPr/>
        <p:txBody>
          <a:bodyPr>
            <a:normAutofit fontScale="92500" lnSpcReduction="10000"/>
          </a:bodyPr>
          <a:lstStyle/>
          <a:p>
            <a:r>
              <a:rPr lang="vi-VN" dirty="0"/>
              <a:t>Quan tâm đến: </a:t>
            </a:r>
          </a:p>
          <a:p>
            <a:pPr lvl="1"/>
            <a:r>
              <a:rPr lang="vi-VN" dirty="0"/>
              <a:t>cách tổ chức một hệ thống phần mềm và thiết kế cấu trúc tổng thể của hệ thống đó.</a:t>
            </a:r>
          </a:p>
          <a:p>
            <a:pPr lvl="1"/>
            <a:r>
              <a:rPr lang="vi-VN" dirty="0"/>
              <a:t>phép ẩn dụ “xây nhà”: front end, back end, v.v.</a:t>
            </a:r>
            <a:endParaRPr lang="en-US" dirty="0"/>
          </a:p>
          <a:p>
            <a:pPr lvl="1"/>
            <a:r>
              <a:rPr lang="vi-VN" dirty="0"/>
              <a:t>phép ẩn dụ “làm vườn”: refactoring, bảo trì, v.v.</a:t>
            </a:r>
            <a:endParaRPr lang="en-US" dirty="0"/>
          </a:p>
          <a:p>
            <a:r>
              <a:rPr lang="vi-VN" dirty="0"/>
              <a:t>Mắt xích quan trọng giữa thiết kế và kỹ thuật yêu cầu</a:t>
            </a:r>
          </a:p>
          <a:p>
            <a:pPr lvl="1"/>
            <a:r>
              <a:rPr lang="vi-VN" dirty="0"/>
              <a:t>vì nó xác định các thành phần cấu trúc chính trong hệ thống và mối quan hệ giữa chúng. </a:t>
            </a:r>
          </a:p>
          <a:p>
            <a:r>
              <a:rPr lang="vi-VN" dirty="0"/>
              <a:t>Agile?</a:t>
            </a:r>
          </a:p>
          <a:p>
            <a:pPr lvl="1"/>
            <a:r>
              <a:rPr lang="vi-VN" dirty="0"/>
              <a:t>Ở giai đoạn đầu: thiết kế kiến trúc tổng thể của hệ thống.</a:t>
            </a:r>
          </a:p>
          <a:p>
            <a:pPr lvl="1"/>
            <a:r>
              <a:rPr lang="vi-VN" dirty="0"/>
              <a:t>Việc tái cấu trúc (refactor) kiến trúc hệ thống thường rất tốn kém</a:t>
            </a:r>
          </a:p>
          <a:p>
            <a:pPr lvl="1"/>
            <a:endParaRPr lang="en-GB" dirty="0"/>
          </a:p>
        </p:txBody>
      </p:sp>
      <p:sp>
        <p:nvSpPr>
          <p:cNvPr id="2" name="Date Placeholder 1"/>
          <p:cNvSpPr>
            <a:spLocks noGrp="1"/>
          </p:cNvSpPr>
          <p:nvPr>
            <p:ph type="dt" sz="half" idx="10"/>
          </p:nvPr>
        </p:nvSpPr>
        <p:spPr>
          <a:xfrm>
            <a:off x="1024130" y="6506215"/>
            <a:ext cx="2154143" cy="274320"/>
          </a:xfrm>
          <a:prstGeom prst="rect">
            <a:avLst/>
          </a:prstGeom>
        </p:spPr>
        <p:txBody>
          <a:bodyPr/>
          <a:lstStyle/>
          <a:p>
            <a:fld id="{B8E8489E-32EB-4CF0-A246-EA3256B4A1F2}" type="datetime1">
              <a:rPr lang="nb-NO" smtClean="0"/>
              <a:t>28.09.2026</a:t>
            </a:fld>
            <a:endParaRPr lang="en-US"/>
          </a:p>
        </p:txBody>
      </p:sp>
    </p:spTree>
    <p:extLst>
      <p:ext uri="{BB962C8B-B14F-4D97-AF65-F5344CB8AC3E}">
        <p14:creationId xmlns:p14="http://schemas.microsoft.com/office/powerpoint/2010/main" val="698752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của hệ thống điều khiển robot đóng gói</a:t>
            </a:r>
            <a:endParaRPr lang="en-US" dirty="0"/>
          </a:p>
        </p:txBody>
      </p:sp>
      <p:sp>
        <p:nvSpPr>
          <p:cNvPr id="9" name="Date Placeholder 8"/>
          <p:cNvSpPr>
            <a:spLocks noGrp="1"/>
          </p:cNvSpPr>
          <p:nvPr>
            <p:ph type="dt" sz="half" idx="10"/>
          </p:nvPr>
        </p:nvSpPr>
        <p:spPr/>
        <p:txBody>
          <a:bodyPr/>
          <a:lstStyle/>
          <a:p>
            <a:fld id="{04661CDA-03EF-45C4-9CA0-82DD670D4A6A}" type="datetime1">
              <a:rPr lang="nb-NO" smtClean="0"/>
              <a:t>28.09.2026</a:t>
            </a:fld>
            <a:endParaRPr lang="en-US"/>
          </a:p>
        </p:txBody>
      </p:sp>
      <p:pic>
        <p:nvPicPr>
          <p:cNvPr id="8" name="Picture 2" descr="6"/>
          <p:cNvPicPr>
            <a:picLocks noChangeAspect="1" noChangeArrowheads="1"/>
          </p:cNvPicPr>
          <p:nvPr/>
        </p:nvPicPr>
        <p:blipFill>
          <a:blip r:embed="rId3"/>
          <a:srcRect b="-8765"/>
          <a:stretch>
            <a:fillRect/>
          </a:stretch>
        </p:blipFill>
        <p:spPr bwMode="auto">
          <a:xfrm>
            <a:off x="3145111" y="1311443"/>
            <a:ext cx="5749120" cy="557270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Trừu tượng kiến trúc</a:t>
            </a:r>
            <a:endParaRPr lang="en-US" dirty="0"/>
          </a:p>
        </p:txBody>
      </p:sp>
      <p:sp>
        <p:nvSpPr>
          <p:cNvPr id="3" name="Content Placeholder 2"/>
          <p:cNvSpPr>
            <a:spLocks noGrp="1"/>
          </p:cNvSpPr>
          <p:nvPr>
            <p:ph idx="1"/>
          </p:nvPr>
        </p:nvSpPr>
        <p:spPr/>
        <p:txBody>
          <a:bodyPr/>
          <a:lstStyle/>
          <a:p>
            <a:r>
              <a:rPr lang="vi-VN" dirty="0"/>
              <a:t>Kiến trúc ở quy mô nhỏ </a:t>
            </a:r>
          </a:p>
          <a:p>
            <a:pPr lvl="1"/>
            <a:r>
              <a:rPr lang="vi-VN" dirty="0"/>
              <a:t>quan tâm đến kiến trúc của từng chương trình riêng lẻ. </a:t>
            </a:r>
            <a:endParaRPr lang="en-GB" dirty="0"/>
          </a:p>
          <a:p>
            <a:r>
              <a:rPr lang="vi-VN" dirty="0"/>
              <a:t>Kiến trúc ở quy mô lớn </a:t>
            </a:r>
          </a:p>
          <a:p>
            <a:pPr lvl="1"/>
            <a:r>
              <a:rPr lang="vi-VN" dirty="0"/>
              <a:t>quan tâm đến kiến trúc của các hệ thống doanh nghiệp phức tạp bao gồm các hệ thống, chương trình và thành phần chương trình khác.</a:t>
            </a:r>
          </a:p>
          <a:p>
            <a:pPr lvl="1"/>
            <a:endParaRPr lang="en-US" dirty="0"/>
          </a:p>
          <a:p>
            <a:pPr lvl="1"/>
            <a:endParaRPr lang="en-US" dirty="0"/>
          </a:p>
          <a:p>
            <a:pPr lvl="1"/>
            <a:endParaRPr lang="en-US" dirty="0"/>
          </a:p>
          <a:p>
            <a:pPr lvl="1"/>
            <a:endParaRPr lang="en-US"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3FBC70F6-96D0-4BA1-B8A1-4CB68E1C5266}" type="datetime1">
              <a:rPr lang="nb-NO" smtClean="0"/>
              <a:t>28.09.2026</a:t>
            </a:fld>
            <a:endParaRPr lang="en-US"/>
          </a:p>
        </p:txBody>
      </p:sp>
      <p:sp>
        <p:nvSpPr>
          <p:cNvPr id="6" name="Rectangle 5"/>
          <p:cNvSpPr/>
          <p:nvPr/>
        </p:nvSpPr>
        <p:spPr>
          <a:xfrm>
            <a:off x="3864864" y="4758816"/>
            <a:ext cx="6601968" cy="1631216"/>
          </a:xfrm>
          <a:prstGeom prst="rect">
            <a:avLst/>
          </a:prstGeom>
        </p:spPr>
        <p:txBody>
          <a:bodyPr wrap="square">
            <a:spAutoFit/>
          </a:bodyPr>
          <a:lstStyle/>
          <a:p>
            <a:r>
              <a:rPr lang="vi-VN" sz="2000" i="1" dirty="0"/>
              <a:t>Kiến trúc phần mềm quan trọng vì nó ảnh hưởng đến hiệu năng, độ vững chắc, khả năng phân tán và khả năng bảo trì của hệ thống. </a:t>
            </a:r>
          </a:p>
          <a:p>
            <a:pPr marL="628650" lvl="1" indent="-171450">
              <a:buFont typeface="Arial" panose="020B0604020202020204" pitchFamily="34" charset="0"/>
              <a:buChar char="•"/>
            </a:pPr>
            <a:r>
              <a:rPr lang="vi-VN" sz="2000" dirty="0" err="1"/>
              <a:t>Yêu cầu chức năng: các thành phần riêng lẻ</a:t>
            </a:r>
          </a:p>
          <a:p>
            <a:pPr marL="628650" lvl="1" indent="-171450">
              <a:buFont typeface="Arial" panose="020B0604020202020204" pitchFamily="34" charset="0"/>
              <a:buChar char="•"/>
            </a:pPr>
            <a:r>
              <a:rPr lang="vi-VN" sz="2000" dirty="0"/>
              <a:t>Yêu cầu phi chức năng: phụ thuộc vào kiến trúc hệ thống</a:t>
            </a:r>
            <a:endParaRPr lang="en-US" sz="2000"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vi-VN"/>
              <a:t>Ưu điểm của kiến trúc tường minh</a:t>
            </a:r>
            <a:endParaRPr lang="en-GB" dirty="0"/>
          </a:p>
        </p:txBody>
      </p:sp>
      <p:sp>
        <p:nvSpPr>
          <p:cNvPr id="45059" name="Rectangle 3"/>
          <p:cNvSpPr>
            <a:spLocks noGrp="1" noChangeArrowheads="1"/>
          </p:cNvSpPr>
          <p:nvPr>
            <p:ph idx="1"/>
          </p:nvPr>
        </p:nvSpPr>
        <p:spPr/>
        <p:txBody>
          <a:bodyPr/>
          <a:lstStyle/>
          <a:p>
            <a:r>
              <a:rPr lang="vi-VN" dirty="0"/>
              <a:t>Giao tiếp với các bên liên quan</a:t>
            </a:r>
          </a:p>
          <a:p>
            <a:pPr lvl="1"/>
            <a:r>
              <a:rPr lang="vi-VN" dirty="0"/>
              <a:t>Kiến trúc có thể được dùng làm tâm điểm thảo luận của các bên liên quan trong hệ thống.</a:t>
            </a:r>
          </a:p>
          <a:p>
            <a:r>
              <a:rPr lang="vi-VN" dirty="0"/>
              <a:t>Phân tích hệ thống</a:t>
            </a:r>
          </a:p>
          <a:p>
            <a:pPr lvl="1"/>
            <a:r>
              <a:rPr lang="vi-VN" dirty="0"/>
              <a:t>Cho phép phân tích xem hệ thống có đáp ứng được các yêu cầu phi chức năng hay không.</a:t>
            </a:r>
          </a:p>
          <a:p>
            <a:r>
              <a:rPr lang="vi-VN" dirty="0"/>
              <a:t>Tái sử dụng quy mô lớn</a:t>
            </a:r>
          </a:p>
          <a:p>
            <a:pPr lvl="1"/>
            <a:r>
              <a:rPr lang="vi-VN" dirty="0"/>
              <a:t>Kiến trúc có thể được tái sử dụng cho nhiều hệ thống</a:t>
            </a:r>
          </a:p>
          <a:p>
            <a:pPr lvl="1"/>
            <a:r>
              <a:rPr lang="vi-VN" dirty="0"/>
              <a:t>Có thể phát triển các kiến trúc dòng sản phẩm (product-line).</a:t>
            </a:r>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2E348D23-D6C9-4547-B226-441011E4CEFC}" type="datetime1">
              <a:rPr lang="nb-NO" smtClean="0"/>
              <a:t>28.09.2026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cách biểu diễn kiến trúc</a:t>
            </a:r>
            <a:endParaRPr lang="en-US" dirty="0"/>
          </a:p>
        </p:txBody>
      </p:sp>
      <p:sp>
        <p:nvSpPr>
          <p:cNvPr id="3" name="Content Placeholder 2"/>
          <p:cNvSpPr>
            <a:spLocks noGrp="1"/>
          </p:cNvSpPr>
          <p:nvPr>
            <p:ph idx="1"/>
          </p:nvPr>
        </p:nvSpPr>
        <p:spPr/>
        <p:txBody>
          <a:bodyPr/>
          <a:lstStyle/>
          <a:p>
            <a:r>
              <a:rPr lang="vi-VN" dirty="0"/>
              <a:t>Dùng nhiều nhất: các sơ đồ khối đơn giản, không hình thức, thể hiện các thực thể và quan hệ</a:t>
            </a:r>
          </a:p>
          <a:p>
            <a:pPr lvl="1"/>
            <a:r>
              <a:rPr lang="vi-VN" dirty="0"/>
              <a:t>Vấn đề: thiếu ngữ nghĩa</a:t>
            </a:r>
          </a:p>
          <a:p>
            <a:r>
              <a:rPr lang="vi-VN" dirty="0"/>
              <a:t>Sơ đồ hộp và đường nối</a:t>
            </a:r>
          </a:p>
          <a:p>
            <a:pPr lvl="1"/>
            <a:r>
              <a:rPr lang="vi-VN" dirty="0"/>
              <a:t>Rất trừu tượng - không cho thấy bản chất các quan hệ giữa các thành phần cũng như các thuộc tính nhìn thấy từ bên ngoài của các hệ thống con.</a:t>
            </a:r>
          </a:p>
          <a:p>
            <a:pPr lvl="1"/>
            <a:r>
              <a:rPr lang="vi-VN" dirty="0"/>
              <a:t>Tuy nhiên, hữu ích cho việc giao tiếp với các bên liên quan và lập kế hoạch dự án.</a:t>
            </a:r>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CE6F6A59-416F-448E-92C0-C1F888B7082C}" type="datetime1">
              <a:rPr lang="nb-NO" smtClean="0"/>
              <a:t>28.09.2026</a:t>
            </a:fld>
            <a:endParaRPr lang="en-US"/>
          </a:p>
        </p:txBody>
      </p:sp>
    </p:spTree>
    <p:extLst>
      <p:ext uri="{BB962C8B-B14F-4D97-AF65-F5344CB8AC3E}">
        <p14:creationId xmlns:p14="http://schemas.microsoft.com/office/powerpoint/2010/main" val="1370520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Cách dùng các mô hình kiến trúc</a:t>
            </a:r>
            <a:endParaRPr lang="en-US" dirty="0"/>
          </a:p>
        </p:txBody>
      </p:sp>
      <p:sp>
        <p:nvSpPr>
          <p:cNvPr id="3" name="Content Placeholder 2"/>
          <p:cNvSpPr>
            <a:spLocks noGrp="1"/>
          </p:cNvSpPr>
          <p:nvPr>
            <p:ph idx="1"/>
          </p:nvPr>
        </p:nvSpPr>
        <p:spPr/>
        <p:txBody>
          <a:bodyPr/>
          <a:lstStyle/>
          <a:p>
            <a:r>
              <a:rPr lang="vi-VN" dirty="0"/>
              <a:t>Như một cách thúc đẩy thảo luận về thiết kế hệ thống </a:t>
            </a:r>
          </a:p>
          <a:p>
            <a:pPr lvl="1"/>
            <a:r>
              <a:rPr lang="vi-VN" dirty="0"/>
              <a:t>Góc nhìn kiến trúc mức cao hữu ích cho việc giao tiếp với các bên liên quan và lập kế hoạch dự án</a:t>
            </a:r>
            <a:endParaRPr lang="en-GB" dirty="0"/>
          </a:p>
          <a:p>
            <a:r>
              <a:rPr lang="vi-VN" dirty="0"/>
              <a:t>Như một cách lập tài liệu cho kiến trúc đã được thiết kế </a:t>
            </a:r>
          </a:p>
          <a:p>
            <a:pPr lvl="1"/>
            <a:r>
              <a:rPr lang="vi-VN" dirty="0"/>
              <a:t>để tạo ra mô hình hệ thống hoàn chỉnh thể hiện các thành phần khác nhau trong hệ thống, giao diện và các kết nối của chúng. </a:t>
            </a:r>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334938CF-2D3B-448E-9F3E-057BB9AD1B18}" type="datetime1">
              <a:rPr lang="nb-NO" smtClean="0"/>
              <a:t>28.09.2026</a:t>
            </a:fld>
            <a:endParaRPr lang="en-US"/>
          </a:p>
        </p:txBody>
      </p:sp>
    </p:spTree>
    <p:extLst>
      <p:ext uri="{BB962C8B-B14F-4D97-AF65-F5344CB8AC3E}">
        <p14:creationId xmlns:p14="http://schemas.microsoft.com/office/powerpoint/2010/main" val="423284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vi-VN"/>
              <a:t>Phân rã kiến trúc</a:t>
            </a:r>
            <a:endParaRPr lang="en-US" dirty="0"/>
          </a:p>
        </p:txBody>
      </p:sp>
      <p:sp>
        <p:nvSpPr>
          <p:cNvPr id="11267" name="Rectangle 3"/>
          <p:cNvSpPr>
            <a:spLocks noGrp="1" noChangeArrowheads="1"/>
          </p:cNvSpPr>
          <p:nvPr>
            <p:ph idx="1"/>
          </p:nvPr>
        </p:nvSpPr>
        <p:spPr/>
        <p:txBody>
          <a:bodyPr/>
          <a:lstStyle/>
          <a:p>
            <a:r>
              <a:rPr lang="vi-VN" dirty="0"/>
              <a:t>Hệ thống phần mềm: </a:t>
            </a:r>
          </a:p>
          <a:p>
            <a:pPr lvl="1"/>
            <a:r>
              <a:rPr lang="vi-VN" dirty="0"/>
              <a:t>vấn đề độ phức tạp &lt;= mối quan hệ giữa các thành phần</a:t>
            </a:r>
          </a:p>
          <a:p>
            <a:r>
              <a:rPr lang="vi-VN" dirty="0"/>
              <a:t>Mục tiêu:</a:t>
            </a:r>
          </a:p>
          <a:p>
            <a:pPr lvl="1"/>
            <a:r>
              <a:rPr lang="vi-VN" dirty="0"/>
              <a:t>Tối đa hóa cohesion (độ kết dính)</a:t>
            </a:r>
          </a:p>
          <a:p>
            <a:pPr lvl="1"/>
            <a:r>
              <a:rPr lang="vi-VN" dirty="0"/>
              <a:t>Tối thiểu hóa coupling (độ phụ thuộc)</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6" name="Date Placeholder 5"/>
          <p:cNvSpPr>
            <a:spLocks noGrp="1"/>
          </p:cNvSpPr>
          <p:nvPr>
            <p:ph type="dt" sz="half" idx="10"/>
          </p:nvPr>
        </p:nvSpPr>
        <p:spPr>
          <a:xfrm>
            <a:off x="1024130" y="6506215"/>
            <a:ext cx="2154143" cy="274320"/>
          </a:xfrm>
          <a:prstGeom prst="rect">
            <a:avLst/>
          </a:prstGeom>
        </p:spPr>
        <p:txBody>
          <a:bodyPr/>
          <a:lstStyle/>
          <a:p>
            <a:fld id="{B4013573-4D0A-4F5B-A1E1-93E6A0863870}" type="datetime1">
              <a:rPr lang="nb-NO" smtClean="0"/>
              <a:t>28.09.2026</a:t>
            </a:fld>
            <a:endParaRPr lang="en-US"/>
          </a:p>
        </p:txBody>
      </p:sp>
      <p:sp>
        <p:nvSpPr>
          <p:cNvPr id="11271" name="Text Box 4"/>
          <p:cNvSpPr txBox="1">
            <a:spLocks noChangeArrowheads="1"/>
          </p:cNvSpPr>
          <p:nvPr/>
        </p:nvSpPr>
        <p:spPr bwMode="auto">
          <a:xfrm>
            <a:off x="1554295" y="4770638"/>
            <a:ext cx="3515651"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vi-VN" sz="1400" i="1" dirty="0">
                <a:solidFill>
                  <a:schemeClr val="accent2"/>
                </a:solidFill>
              </a:rPr>
              <a:t>Cohesion: mức độ giao tiếp diễn ra giữa các phần tử bên trong một module</a:t>
            </a:r>
          </a:p>
          <a:p>
            <a:pPr eaLnBrk="1" hangingPunct="1"/>
            <a:endParaRPr lang="en-US" sz="1400" dirty="0"/>
          </a:p>
          <a:p>
            <a:pPr eaLnBrk="1" hangingPunct="1"/>
            <a:r>
              <a:rPr lang="vi-VN" sz="1400" i="1" dirty="0">
                <a:solidFill>
                  <a:schemeClr val="accent2"/>
                </a:solidFill>
              </a:rPr>
              <a:t>Coupling: mức độ giao tiếp giữa các module</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9946" y="2947569"/>
            <a:ext cx="5598055" cy="3646136"/>
          </a:xfrm>
          <a:prstGeom prst="rect">
            <a:avLst/>
          </a:prstGeom>
        </p:spPr>
      </p:pic>
    </p:spTree>
    <p:extLst>
      <p:ext uri="{BB962C8B-B14F-4D97-AF65-F5344CB8AC3E}">
        <p14:creationId xmlns:p14="http://schemas.microsoft.com/office/powerpoint/2010/main" val="3881318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quyết định thiết kế kiến trúc</a:t>
            </a:r>
            <a:endParaRPr lang="en-US" dirty="0"/>
          </a:p>
        </p:txBody>
      </p:sp>
      <p:sp>
        <p:nvSpPr>
          <p:cNvPr id="10" name="Text Placeholder 9"/>
          <p:cNvSpPr>
            <a:spLocks noGrp="1"/>
          </p:cNvSpPr>
          <p:nvPr>
            <p:ph type="body" idx="1"/>
          </p:nvPr>
        </p:nvSpPr>
        <p:spPr/>
        <p:txBody>
          <a:bodyPr/>
          <a:lstStyle/>
          <a:p>
            <a:endParaRPr lang="en-US"/>
          </a:p>
        </p:txBody>
      </p:sp>
      <p:sp>
        <p:nvSpPr>
          <p:cNvPr id="3" name="Date Placeholder 2"/>
          <p:cNvSpPr>
            <a:spLocks noGrp="1"/>
          </p:cNvSpPr>
          <p:nvPr>
            <p:ph type="dt" sz="half" idx="10"/>
          </p:nvPr>
        </p:nvSpPr>
        <p:spPr/>
        <p:txBody>
          <a:bodyPr/>
          <a:lstStyle/>
          <a:p>
            <a:fld id="{32D93B0F-5F48-4AE7-9555-C21D564FD120}" type="datetime1">
              <a:rPr lang="nb-NO" smtClean="0"/>
              <a:t>28.09.2026</a:t>
            </a:fld>
            <a:endParaRPr lang="en-US"/>
          </a:p>
        </p:txBody>
      </p:sp>
    </p:spTree>
    <p:extLst>
      <p:ext uri="{BB962C8B-B14F-4D97-AF65-F5344CB8AC3E}">
        <p14:creationId xmlns:p14="http://schemas.microsoft.com/office/powerpoint/2010/main" val="442202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vi-VN"/>
              <a:t>Các quyết định thiết kế kiến trúc</a:t>
            </a:r>
          </a:p>
        </p:txBody>
      </p:sp>
      <p:sp>
        <p:nvSpPr>
          <p:cNvPr id="8" name="Date Placeholder 7"/>
          <p:cNvSpPr>
            <a:spLocks noGrp="1"/>
          </p:cNvSpPr>
          <p:nvPr>
            <p:ph type="dt" sz="half" idx="10"/>
          </p:nvPr>
        </p:nvSpPr>
        <p:spPr/>
        <p:txBody>
          <a:bodyPr/>
          <a:lstStyle/>
          <a:p>
            <a:fld id="{92AEE309-7069-43E9-AE70-AD0B831DE22D}" type="datetime1">
              <a:rPr lang="nb-NO" smtClean="0"/>
              <a:t>28.09.2026</a:t>
            </a:fld>
            <a:endParaRPr lang="en-US"/>
          </a:p>
        </p:txBody>
      </p:sp>
      <p:pic>
        <p:nvPicPr>
          <p:cNvPr id="9" name="Picture 8" descr="6.2 Arch design question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3079" y="1311443"/>
            <a:ext cx="8705841" cy="46719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vi-VN" dirty="0"/>
              <a:t>Kiến trúc và các đặc tính của hệ thống</a:t>
            </a:r>
          </a:p>
        </p:txBody>
      </p:sp>
      <p:sp>
        <p:nvSpPr>
          <p:cNvPr id="50179" name="Rectangle 3"/>
          <p:cNvSpPr>
            <a:spLocks noGrp="1" noChangeArrowheads="1"/>
          </p:cNvSpPr>
          <p:nvPr>
            <p:ph idx="1"/>
          </p:nvPr>
        </p:nvSpPr>
        <p:spPr/>
        <p:txBody>
          <a:bodyPr>
            <a:normAutofit fontScale="92500" lnSpcReduction="20000"/>
          </a:bodyPr>
          <a:lstStyle/>
          <a:p>
            <a:r>
              <a:rPr lang="vi-VN"/>
              <a:t>Hiệu năng (Performance)</a:t>
            </a:r>
          </a:p>
          <a:p>
            <a:pPr lvl="1"/>
            <a:r>
              <a:rPr lang="vi-VN"/>
              <a:t>Cục bộ hóa các thao tác quan trọng và giảm thiểu giao tiếp. Dùng các thành phần lớn thay vì các thành phần nhỏ mịn.</a:t>
            </a:r>
          </a:p>
          <a:p>
            <a:r>
              <a:rPr lang="vi-VN"/>
              <a:t>Bảo mật (Security)</a:t>
            </a:r>
          </a:p>
          <a:p>
            <a:pPr lvl="1"/>
            <a:r>
              <a:rPr lang="vi-VN"/>
              <a:t>Dùng kiến trúc phân lớp với các tài sản quan trọng nằm ở các lớp bên trong.</a:t>
            </a:r>
          </a:p>
          <a:p>
            <a:r>
              <a:rPr lang="vi-VN"/>
              <a:t>An toàn (Safety)</a:t>
            </a:r>
          </a:p>
          <a:p>
            <a:pPr lvl="1"/>
            <a:r>
              <a:rPr lang="vi-VN"/>
              <a:t>Cục bộ hóa các tính năng quan trọng về an toàn trong một số ít hệ thống con.</a:t>
            </a:r>
          </a:p>
          <a:p>
            <a:r>
              <a:rPr lang="vi-VN"/>
              <a:t>Tính sẵn sàng (Availability)</a:t>
            </a:r>
          </a:p>
          <a:p>
            <a:pPr lvl="1"/>
            <a:r>
              <a:rPr lang="vi-VN"/>
              <a:t>Bao gồm các thành phần dự phòng và cơ chế chịu lỗi.</a:t>
            </a:r>
          </a:p>
          <a:p>
            <a:r>
              <a:rPr lang="vi-VN"/>
              <a:t>Khả năng bảo trì (Maintainability)</a:t>
            </a:r>
          </a:p>
          <a:p>
            <a:pPr lvl="1"/>
            <a:r>
              <a:rPr lang="vi-VN"/>
              <a:t>Dùng các thành phần nhỏ mịn, có thể thay thế được.</a:t>
            </a:r>
            <a:endParaRPr lang="en-US"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62CA6FC0-1ADD-48A7-8496-570238BBC66D}" type="datetime1">
              <a:rPr lang="nb-NO" smtClean="0"/>
              <a:t>28.09.2026</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Các góc nhìn kiến trúc</a:t>
            </a:r>
          </a:p>
        </p:txBody>
      </p:sp>
      <p:sp>
        <p:nvSpPr>
          <p:cNvPr id="10" name="Text Placeholder 9"/>
          <p:cNvSpPr>
            <a:spLocks noGrp="1"/>
          </p:cNvSpPr>
          <p:nvPr>
            <p:ph type="body" idx="1"/>
          </p:nvPr>
        </p:nvSpPr>
        <p:spPr/>
        <p:txBody>
          <a:bodyPr/>
          <a:lstStyle/>
          <a:p>
            <a:endParaRPr lang="en-US"/>
          </a:p>
        </p:txBody>
      </p:sp>
      <p:sp>
        <p:nvSpPr>
          <p:cNvPr id="3" name="Date Placeholder 2"/>
          <p:cNvSpPr>
            <a:spLocks noGrp="1"/>
          </p:cNvSpPr>
          <p:nvPr>
            <p:ph type="dt" sz="half" idx="10"/>
          </p:nvPr>
        </p:nvSpPr>
        <p:spPr/>
        <p:txBody>
          <a:bodyPr/>
          <a:lstStyle/>
          <a:p>
            <a:fld id="{791A7171-46B8-46E0-A7D1-8C8F20A26C22}" type="datetime1">
              <a:rPr lang="nb-NO" smtClean="0"/>
              <a:t>28.09.2026</a:t>
            </a:fld>
            <a:endParaRPr lang="en-US"/>
          </a:p>
        </p:txBody>
      </p:sp>
    </p:spTree>
    <p:extLst>
      <p:ext uri="{BB962C8B-B14F-4D97-AF65-F5344CB8AC3E}">
        <p14:creationId xmlns:p14="http://schemas.microsoft.com/office/powerpoint/2010/main" val="1135051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góc nhìn kiến trúc</a:t>
            </a:r>
            <a:endParaRPr lang="en-US" dirty="0"/>
          </a:p>
        </p:txBody>
      </p:sp>
      <p:sp>
        <p:nvSpPr>
          <p:cNvPr id="3" name="Content Placeholder 2"/>
          <p:cNvSpPr>
            <a:spLocks noGrp="1"/>
          </p:cNvSpPr>
          <p:nvPr>
            <p:ph idx="1"/>
          </p:nvPr>
        </p:nvSpPr>
        <p:spPr/>
        <p:txBody>
          <a:bodyPr>
            <a:normAutofit fontScale="92500" lnSpcReduction="10000"/>
          </a:bodyPr>
          <a:lstStyle/>
          <a:p>
            <a:r>
              <a:rPr lang="vi-VN"/>
              <a:t>Những góc nhìn hay quan điểm nào hữu ích khi thiết kế và lập tài liệu kiến trúc của hệ thống?</a:t>
            </a:r>
            <a:endParaRPr lang="en-GB"/>
          </a:p>
          <a:p>
            <a:endParaRPr lang="en-US"/>
          </a:p>
          <a:p>
            <a:r>
              <a:rPr lang="vi-VN"/>
              <a:t>Nên dùng ký hiệu nào để mô tả các mô hình kiến trúc?</a:t>
            </a:r>
          </a:p>
          <a:p>
            <a:endParaRPr lang="en-US"/>
          </a:p>
          <a:p>
            <a:r>
              <a:rPr lang="vi-VN"/>
              <a:t>Mỗi mô hình kiến trúc chỉ thể hiện một góc nhìn hoặc quan điểm về hệ thống. </a:t>
            </a:r>
          </a:p>
          <a:p>
            <a:pPr lvl="1"/>
            <a:r>
              <a:rPr lang="vi-VN"/>
              <a:t>hệ thống được phân rã thành các module như thế nào</a:t>
            </a:r>
          </a:p>
          <a:p>
            <a:pPr lvl="1"/>
            <a:r>
              <a:rPr lang="vi-VN"/>
              <a:t>các tiến trình lúc chạy tương tác với nhau ra sao </a:t>
            </a:r>
          </a:p>
          <a:p>
            <a:pPr lvl="1"/>
            <a:r>
              <a:rPr lang="vi-VN"/>
              <a:t>các thành phần hệ thống được phân bố trên mạng như thế nào</a:t>
            </a:r>
          </a:p>
          <a:p>
            <a:endParaRPr lang="en-US"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11884084-BE93-4EB1-8D21-71F60BD3CECF}" type="datetime1">
              <a:rPr lang="nb-NO" smtClean="0"/>
              <a:t>28.09.2026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góc nhìn kiến trúc</a:t>
            </a:r>
            <a:endParaRPr lang="en-US" dirty="0"/>
          </a:p>
        </p:txBody>
      </p:sp>
      <p:sp>
        <p:nvSpPr>
          <p:cNvPr id="3" name="Content Placeholder 2"/>
          <p:cNvSpPr>
            <a:spLocks noGrp="1"/>
          </p:cNvSpPr>
          <p:nvPr>
            <p:ph idx="1"/>
          </p:nvPr>
        </p:nvSpPr>
        <p:spPr/>
        <p:txBody>
          <a:bodyPr/>
          <a:lstStyle/>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FB53009E-94F9-44A5-9A59-43B2A1308841}" type="datetime1">
              <a:rPr lang="nb-NO" smtClean="0"/>
              <a:t>28.09.2026</a:t>
            </a:fld>
            <a:endParaRPr lang="en-US"/>
          </a:p>
        </p:txBody>
      </p:sp>
      <p:pic>
        <p:nvPicPr>
          <p:cNvPr id="7" name="Picture 6" descr="6.3 Architectural view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1600201"/>
            <a:ext cx="5023866" cy="3779861"/>
          </a:xfrm>
          <a:prstGeom prst="rect">
            <a:avLst/>
          </a:prstGeom>
        </p:spPr>
      </p:pic>
      <p:sp>
        <p:nvSpPr>
          <p:cNvPr id="6" name="Rectangle 5"/>
          <p:cNvSpPr/>
          <p:nvPr/>
        </p:nvSpPr>
        <p:spPr>
          <a:xfrm>
            <a:off x="3138791" y="5830670"/>
            <a:ext cx="5729592" cy="830997"/>
          </a:xfrm>
          <a:prstGeom prst="rect">
            <a:avLst/>
          </a:prstGeom>
        </p:spPr>
        <p:txBody>
          <a:bodyPr wrap="square">
            <a:spAutoFit/>
          </a:bodyPr>
          <a:lstStyle/>
          <a:p>
            <a:r>
              <a:rPr lang="vi-VN" sz="2400" dirty="0"/>
              <a:t>cần trình bày nhiều góc nhìn của kiến trúc phần mềm. </a:t>
            </a:r>
            <a:endParaRPr lang="en-US" sz="2400" dirty="0"/>
          </a:p>
        </p:txBody>
      </p:sp>
    </p:spTree>
    <p:extLst>
      <p:ext uri="{BB962C8B-B14F-4D97-AF65-F5344CB8AC3E}">
        <p14:creationId xmlns:p14="http://schemas.microsoft.com/office/powerpoint/2010/main" val="1494271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Mô hình 4 + 1 view của kiến trúc phần mềm</a:t>
            </a:r>
          </a:p>
        </p:txBody>
      </p:sp>
      <p:sp>
        <p:nvSpPr>
          <p:cNvPr id="10" name="Date Placeholder 9"/>
          <p:cNvSpPr>
            <a:spLocks noGrp="1"/>
          </p:cNvSpPr>
          <p:nvPr>
            <p:ph type="dt" sz="half" idx="10"/>
          </p:nvPr>
        </p:nvSpPr>
        <p:spPr/>
        <p:txBody>
          <a:bodyPr/>
          <a:lstStyle/>
          <a:p>
            <a:fld id="{4CD2AEC1-2A68-4947-949E-A4E63A72C97F}" type="datetime1">
              <a:rPr lang="nb-NO" smtClean="0"/>
              <a:t>28.09.2026</a:t>
            </a:fld>
            <a:endParaRPr lang="en-US"/>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2790" t="3205" r="2325" b="14139"/>
          <a:stretch/>
        </p:blipFill>
        <p:spPr>
          <a:xfrm>
            <a:off x="3290317" y="1835970"/>
            <a:ext cx="5279943" cy="3094216"/>
          </a:xfrm>
          <a:prstGeom prst="rect">
            <a:avLst/>
          </a:prstGeom>
        </p:spPr>
      </p:pic>
      <p:sp>
        <p:nvSpPr>
          <p:cNvPr id="8" name="Rectangle 7"/>
          <p:cNvSpPr/>
          <p:nvPr/>
        </p:nvSpPr>
        <p:spPr>
          <a:xfrm>
            <a:off x="1554480" y="1053205"/>
            <a:ext cx="3956304" cy="1200329"/>
          </a:xfrm>
          <a:prstGeom prst="rect">
            <a:avLst/>
          </a:prstGeom>
        </p:spPr>
        <p:txBody>
          <a:bodyPr wrap="square">
            <a:spAutoFit/>
          </a:bodyPr>
          <a:lstStyle/>
          <a:p>
            <a:r>
              <a:rPr lang="vi-VN" sz="2400" dirty="0"/>
              <a:t>thể hiện các trừu tượng chính của hệ thống dưới dạng đối tượng hoặc lớp. </a:t>
            </a:r>
            <a:endParaRPr lang="en-GB" sz="2400" dirty="0"/>
          </a:p>
        </p:txBody>
      </p:sp>
      <p:sp>
        <p:nvSpPr>
          <p:cNvPr id="9" name="Rectangle 8"/>
          <p:cNvSpPr/>
          <p:nvPr/>
        </p:nvSpPr>
        <p:spPr>
          <a:xfrm>
            <a:off x="1981200" y="5062310"/>
            <a:ext cx="4370832" cy="1200329"/>
          </a:xfrm>
          <a:prstGeom prst="rect">
            <a:avLst/>
          </a:prstGeom>
        </p:spPr>
        <p:txBody>
          <a:bodyPr wrap="square">
            <a:spAutoFit/>
          </a:bodyPr>
          <a:lstStyle/>
          <a:p>
            <a:r>
              <a:rPr lang="vi-VN" sz="2400" dirty="0"/>
              <a:t>thể hiện cách hệ thống, lúc chạy, được cấu thành từ các tiến trình tương tác với nhau. </a:t>
            </a:r>
            <a:endParaRPr lang="en-GB" sz="2400" dirty="0"/>
          </a:p>
        </p:txBody>
      </p:sp>
      <p:sp>
        <p:nvSpPr>
          <p:cNvPr id="11" name="Rectangle 10"/>
          <p:cNvSpPr/>
          <p:nvPr/>
        </p:nvSpPr>
        <p:spPr>
          <a:xfrm>
            <a:off x="6077712" y="1053205"/>
            <a:ext cx="4465320" cy="830997"/>
          </a:xfrm>
          <a:prstGeom prst="rect">
            <a:avLst/>
          </a:prstGeom>
        </p:spPr>
        <p:txBody>
          <a:bodyPr wrap="square">
            <a:spAutoFit/>
          </a:bodyPr>
          <a:lstStyle/>
          <a:p>
            <a:pPr algn="r"/>
            <a:r>
              <a:rPr lang="vi-VN" sz="2400" dirty="0"/>
              <a:t>thể hiện cách phần mềm được phân rã để phát triển.</a:t>
            </a:r>
            <a:endParaRPr lang="en-GB" sz="2400" dirty="0"/>
          </a:p>
        </p:txBody>
      </p:sp>
      <p:sp>
        <p:nvSpPr>
          <p:cNvPr id="12" name="Flowchart: Manual Input 11"/>
          <p:cNvSpPr/>
          <p:nvPr/>
        </p:nvSpPr>
        <p:spPr>
          <a:xfrm>
            <a:off x="6309230" y="5062309"/>
            <a:ext cx="4358770" cy="1569660"/>
          </a:xfrm>
          <a:prstGeom prst="rect">
            <a:avLst/>
          </a:prstGeom>
          <a:ln>
            <a:solidFill>
              <a:schemeClr val="bg1"/>
            </a:solidFill>
          </a:ln>
        </p:spPr>
        <p:txBody>
          <a:bodyPr wrap="square">
            <a:spAutoFit/>
          </a:bodyPr>
          <a:lstStyle/>
          <a:p>
            <a:pPr algn="r"/>
            <a:r>
              <a:rPr lang="vi-VN" sz="2400" dirty="0"/>
              <a:t>thể hiện phần cứng của hệ thống và cách các thành phần phần mềm được phân bố trên các bộ xử lý của hệ thống.</a:t>
            </a:r>
          </a:p>
        </p:txBody>
      </p:sp>
      <p:cxnSp>
        <p:nvCxnSpPr>
          <p:cNvPr id="23" name="Straight Arrow Connector 22"/>
          <p:cNvCxnSpPr/>
          <p:nvPr/>
        </p:nvCxnSpPr>
        <p:spPr>
          <a:xfrm flipV="1">
            <a:off x="2566416" y="4315968"/>
            <a:ext cx="966216" cy="104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365248" y="2458384"/>
            <a:ext cx="1167384" cy="449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8865108" y="2089052"/>
            <a:ext cx="504444"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8729472" y="4480560"/>
            <a:ext cx="702564" cy="743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Mô hình 4 + 1 view so với UML</a:t>
            </a:r>
          </a:p>
        </p:txBody>
      </p:sp>
      <p:sp>
        <p:nvSpPr>
          <p:cNvPr id="3" name="Content Placeholder 2"/>
          <p:cNvSpPr>
            <a:spLocks noGrp="1"/>
          </p:cNvSpPr>
          <p:nvPr>
            <p:ph idx="1"/>
          </p:nvPr>
        </p:nvSpPr>
        <p:spPr/>
        <p:txBody>
          <a:bodyPr>
            <a:normAutofit fontScale="92500" lnSpcReduction="10000"/>
          </a:bodyPr>
          <a:lstStyle/>
          <a:p>
            <a:r>
              <a:rPr lang="vi-VN"/>
              <a:t>Logical view:</a:t>
            </a:r>
          </a:p>
          <a:p>
            <a:pPr lvl="1"/>
            <a:r>
              <a:rPr lang="vi-VN"/>
              <a:t>Sơ đồ lớp, sơ đồ giao tiếp, sơ đồ tuần tự</a:t>
            </a:r>
          </a:p>
          <a:p>
            <a:r>
              <a:rPr lang="vi-VN"/>
              <a:t>Process view:</a:t>
            </a:r>
          </a:p>
          <a:p>
            <a:pPr lvl="1"/>
            <a:r>
              <a:rPr lang="vi-VN"/>
              <a:t>Sơ đồ hoạt động</a:t>
            </a:r>
          </a:p>
          <a:p>
            <a:r>
              <a:rPr lang="vi-VN"/>
              <a:t>Development view:</a:t>
            </a:r>
          </a:p>
          <a:p>
            <a:pPr lvl="1"/>
            <a:r>
              <a:rPr lang="vi-VN"/>
              <a:t>Sơ đồ thành phần (component), sơ đồ gói (package).</a:t>
            </a:r>
          </a:p>
          <a:p>
            <a:r>
              <a:rPr lang="vi-VN"/>
              <a:t>Physical view:</a:t>
            </a:r>
          </a:p>
          <a:p>
            <a:pPr lvl="1"/>
            <a:r>
              <a:rPr lang="vi-VN"/>
              <a:t>Sơ đồ triển khai (deployment)</a:t>
            </a:r>
          </a:p>
          <a:p>
            <a:r>
              <a:rPr lang="vi-VN"/>
              <a:t>Kịch bản (+1):</a:t>
            </a:r>
          </a:p>
          <a:p>
            <a:pPr lvl="1"/>
            <a:r>
              <a:rPr lang="vi-VN"/>
              <a:t>Use case</a:t>
            </a:r>
            <a:endParaRPr lang="en-US"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23E7EB17-F4CC-4D35-A864-B201B1D0F14A}" type="datetime1">
              <a:rPr lang="nb-NO" smtClean="0"/>
              <a:t>28.09.2026</a:t>
            </a:fld>
            <a:endParaRPr lang="en-US"/>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2790" t="3205" r="2325" b="14139"/>
          <a:stretch/>
        </p:blipFill>
        <p:spPr>
          <a:xfrm>
            <a:off x="6516624" y="4425160"/>
            <a:ext cx="4151376" cy="2432840"/>
          </a:xfrm>
          <a:prstGeom prst="rect">
            <a:avLst/>
          </a:prstGeom>
        </p:spPr>
      </p:pic>
    </p:spTree>
    <p:extLst>
      <p:ext uri="{BB962C8B-B14F-4D97-AF65-F5344CB8AC3E}">
        <p14:creationId xmlns:p14="http://schemas.microsoft.com/office/powerpoint/2010/main" val="1853849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Các mẫu kiến trúc</a:t>
            </a:r>
          </a:p>
        </p:txBody>
      </p:sp>
      <p:sp>
        <p:nvSpPr>
          <p:cNvPr id="10" name="Text Placeholder 9"/>
          <p:cNvSpPr>
            <a:spLocks noGrp="1"/>
          </p:cNvSpPr>
          <p:nvPr>
            <p:ph type="body" idx="1"/>
          </p:nvPr>
        </p:nvSpPr>
        <p:spPr/>
        <p:txBody>
          <a:bodyPr/>
          <a:lstStyle/>
          <a:p>
            <a:endParaRPr lang="en-US"/>
          </a:p>
        </p:txBody>
      </p:sp>
      <p:sp>
        <p:nvSpPr>
          <p:cNvPr id="6" name="Date Placeholder 5"/>
          <p:cNvSpPr>
            <a:spLocks noGrp="1"/>
          </p:cNvSpPr>
          <p:nvPr>
            <p:ph type="dt" sz="half" idx="10"/>
          </p:nvPr>
        </p:nvSpPr>
        <p:spPr/>
        <p:txBody>
          <a:bodyPr/>
          <a:lstStyle/>
          <a:p>
            <a:fld id="{C3483BFF-E65E-40DF-9C2A-B15DB7FB026D}" type="datetime1">
              <a:rPr lang="nb-NO" smtClean="0"/>
              <a:t>28.09.2026</a:t>
            </a:fld>
            <a:endParaRPr lang="en-US"/>
          </a:p>
        </p:txBody>
      </p:sp>
    </p:spTree>
    <p:extLst>
      <p:ext uri="{BB962C8B-B14F-4D97-AF65-F5344CB8AC3E}">
        <p14:creationId xmlns:p14="http://schemas.microsoft.com/office/powerpoint/2010/main" val="442779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mẫu kiến trúc</a:t>
            </a:r>
            <a:endParaRPr lang="en-US" dirty="0"/>
          </a:p>
        </p:txBody>
      </p:sp>
      <p:sp>
        <p:nvSpPr>
          <p:cNvPr id="3" name="Content Placeholder 2"/>
          <p:cNvSpPr>
            <a:spLocks noGrp="1"/>
          </p:cNvSpPr>
          <p:nvPr>
            <p:ph idx="1"/>
          </p:nvPr>
        </p:nvSpPr>
        <p:spPr/>
        <p:txBody>
          <a:bodyPr>
            <a:normAutofit/>
          </a:bodyPr>
          <a:lstStyle/>
          <a:p>
            <a:r>
              <a:rPr lang="vi-VN" dirty="0"/>
              <a:t>Pattern là phương tiện để biểu diễn, chia sẻ và tái sử dụng tri thức.</a:t>
            </a:r>
          </a:p>
          <a:p>
            <a:pPr lvl="1"/>
            <a:r>
              <a:rPr lang="vi-VN" dirty="0"/>
              <a:t>Pattern cần bao gồm thông tin về khi nào chúng hữu ích và khi nào không.</a:t>
            </a:r>
          </a:p>
          <a:p>
            <a:pPr lvl="1"/>
            <a:r>
              <a:rPr lang="vi-VN" dirty="0"/>
              <a:t>Pattern có thể được biểu diễn bằng mô tả dạng bảng và dạng đồ họa.</a:t>
            </a:r>
          </a:p>
          <a:p>
            <a:r>
              <a:rPr lang="vi-VN" dirty="0"/>
              <a:t>Mẫu kiến trúc là mô tả đã được chuẩn hóa về thực hành thiết kế tốt, đã được thử nghiệm và kiểm chứng trong nhiều môi trường khác nhau.</a:t>
            </a:r>
          </a:p>
          <a:p>
            <a:endParaRPr lang="en-US"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6ACD2937-FDDA-4144-87C8-804CFEC3E15D}" type="datetime1">
              <a:rPr lang="nb-NO" smtClean="0"/>
              <a:t>28.09.2026</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Mẫu Model-View-Controller (MVC)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57744284"/>
              </p:ext>
            </p:extLst>
          </p:nvPr>
        </p:nvGraphicFramePr>
        <p:xfrm>
          <a:off x="1524000" y="1046558"/>
          <a:ext cx="9144000" cy="5446839"/>
        </p:xfrm>
        <a:graphic>
          <a:graphicData uri="http://schemas.openxmlformats.org/drawingml/2006/table">
            <a:tbl>
              <a:tblPr firstRow="1" bandRow="1">
                <a:tableStyleId>{5C22544A-7EE6-4342-B048-85BDC9FD1C3A}</a:tableStyleId>
              </a:tblPr>
              <a:tblGrid>
                <a:gridCol w="1810512">
                  <a:extLst>
                    <a:ext uri="{9D8B030D-6E8A-4147-A177-3AD203B41FA5}">
                      <a16:colId xmlns:a16="http://schemas.microsoft.com/office/drawing/2014/main" val="20000"/>
                    </a:ext>
                  </a:extLst>
                </a:gridCol>
                <a:gridCol w="7333488">
                  <a:extLst>
                    <a:ext uri="{9D8B030D-6E8A-4147-A177-3AD203B41FA5}">
                      <a16:colId xmlns:a16="http://schemas.microsoft.com/office/drawing/2014/main" val="20001"/>
                    </a:ext>
                  </a:extLst>
                </a:gridCol>
              </a:tblGrid>
              <a:tr h="417639">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Tên</a:t>
                      </a:r>
                    </a:p>
                  </a:txBody>
                  <a:tcPr marL="68580" marR="68580" marT="0" marB="0" anchor="ctr"/>
                </a:tc>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MVC (Model-View-Controller)</a:t>
                      </a:r>
                    </a:p>
                  </a:txBody>
                  <a:tcPr marL="68580" marR="68580" marT="0" marB="0" anchor="ctr"/>
                </a:tc>
                <a:extLst>
                  <a:ext uri="{0D108BD9-81ED-4DB2-BD59-A6C34878D82A}">
                    <a16:rowId xmlns:a16="http://schemas.microsoft.com/office/drawing/2014/main" val="10000"/>
                  </a:ext>
                </a:extLst>
              </a:tr>
              <a:tr h="1993392">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Mô tả</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Tách phần trình bày và tương tác khỏi dữ liệu hệ thống. Hệ thống được cấu trúc thành ba thành phần logic tương tác với nhau. Thành phần Model quản lý dữ liệu hệ thống và các thao tác liên quan trên dữ liệu đó. Thành phần View định nghĩa và quản lý cách dữ liệu được trình bày cho người dùng. Thành phần Controller quản lý tương tác của người dùng (ví dụ: nhấn phím, nhấp chuột, v.v.) và chuyển các tương tác này đến View và Model.</a:t>
                      </a:r>
                    </a:p>
                  </a:txBody>
                  <a:tcPr marL="68580" marR="68580" marT="0" marB="0"/>
                </a:tc>
                <a:extLst>
                  <a:ext uri="{0D108BD9-81ED-4DB2-BD59-A6C34878D82A}">
                    <a16:rowId xmlns:a16="http://schemas.microsoft.com/office/drawing/2014/main" val="10001"/>
                  </a:ext>
                </a:extLst>
              </a:tr>
              <a:tr h="658368">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Ví dụ</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Slide tiếp theo cho thấy kiến trúc của một hệ thống ứng dụng web được tổ chức theo mẫu MVC.</a:t>
                      </a:r>
                    </a:p>
                  </a:txBody>
                  <a:tcPr marL="68580" marR="68580" marT="0" marB="0"/>
                </a:tc>
                <a:extLst>
                  <a:ext uri="{0D108BD9-81ED-4DB2-BD59-A6C34878D82A}">
                    <a16:rowId xmlns:a16="http://schemas.microsoft.com/office/drawing/2014/main" val="10002"/>
                  </a:ext>
                </a:extLst>
              </a:tr>
              <a:tr h="914400">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Khi nào dùng</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Dùng khi có nhiều cách để xem và tương tác với dữ liệu. Cũng dùng khi chưa biết các yêu cầu tương lai về tương tác và trình bày dữ liệu. </a:t>
                      </a:r>
                    </a:p>
                  </a:txBody>
                  <a:tcPr marL="68580" marR="68580" marT="0" marB="0"/>
                </a:tc>
                <a:extLst>
                  <a:ext uri="{0D108BD9-81ED-4DB2-BD59-A6C34878D82A}">
                    <a16:rowId xmlns:a16="http://schemas.microsoft.com/office/drawing/2014/main" val="10003"/>
                  </a:ext>
                </a:extLst>
              </a:tr>
              <a:tr h="914400">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Ưu điểm</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Cho phép dữ liệu thay đổi độc lập với cách biểu diễn và ngược lại. Hỗ trợ trình bày cùng một dữ liệu theo nhiều cách, với thay đổi ở một cách biểu diễn được hiển thị ở tất cả các cách còn lại. </a:t>
                      </a:r>
                    </a:p>
                  </a:txBody>
                  <a:tcPr marL="68580" marR="68580" marT="0" marB="0"/>
                </a:tc>
                <a:extLst>
                  <a:ext uri="{0D108BD9-81ED-4DB2-BD59-A6C34878D82A}">
                    <a16:rowId xmlns:a16="http://schemas.microsoft.com/office/drawing/2014/main" val="10004"/>
                  </a:ext>
                </a:extLst>
              </a:tr>
              <a:tr h="449594">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Nhược điểm</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Có thể phát sinh thêm mã nguồn và độ phức tạp của mã khi mô hình dữ liệu và các tương tác đơn giản.</a:t>
                      </a:r>
                    </a:p>
                  </a:txBody>
                  <a:tcPr marL="68580" marR="68580" marT="0" marB="0"/>
                </a:tc>
                <a:extLst>
                  <a:ext uri="{0D108BD9-81ED-4DB2-BD59-A6C34878D82A}">
                    <a16:rowId xmlns:a16="http://schemas.microsoft.com/office/drawing/2014/main" val="10005"/>
                  </a:ext>
                </a:extLst>
              </a:tr>
            </a:tbl>
          </a:graphicData>
        </a:graphic>
      </p:graphicFrame>
      <p:sp>
        <p:nvSpPr>
          <p:cNvPr id="10" name="Date Placeholder 9"/>
          <p:cNvSpPr>
            <a:spLocks noGrp="1"/>
          </p:cNvSpPr>
          <p:nvPr>
            <p:ph type="dt" sz="half" idx="10"/>
          </p:nvPr>
        </p:nvSpPr>
        <p:spPr>
          <a:xfrm>
            <a:off x="1024130" y="6506215"/>
            <a:ext cx="2154143" cy="274320"/>
          </a:xfrm>
          <a:prstGeom prst="rect">
            <a:avLst/>
          </a:prstGeom>
        </p:spPr>
        <p:txBody>
          <a:bodyPr/>
          <a:lstStyle/>
          <a:p>
            <a:fld id="{FE9E0C30-65A1-465F-A747-BBE642C9C568}" type="datetime1">
              <a:rPr lang="nb-NO" smtClean="0"/>
              <a:t>28.09.2026</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Cái nhìn khái niệm về MVC và MVC trên web </a:t>
            </a:r>
            <a:endParaRPr lang="en-US" dirty="0"/>
          </a:p>
        </p:txBody>
      </p:sp>
      <p:sp>
        <p:nvSpPr>
          <p:cNvPr id="9" name="Date Placeholder 8"/>
          <p:cNvSpPr>
            <a:spLocks noGrp="1"/>
          </p:cNvSpPr>
          <p:nvPr>
            <p:ph type="dt" sz="half" idx="10"/>
          </p:nvPr>
        </p:nvSpPr>
        <p:spPr/>
        <p:txBody>
          <a:bodyPr/>
          <a:lstStyle/>
          <a:p>
            <a:fld id="{164EDCE7-7305-4EFB-8775-8B3A66A8AB53}" type="datetime1">
              <a:rPr lang="nb-NO" smtClean="0"/>
              <a:t>28.09.2026</a:t>
            </a:fld>
            <a:endParaRPr lang="en-US"/>
          </a:p>
        </p:txBody>
      </p:sp>
      <p:sp>
        <p:nvSpPr>
          <p:cNvPr id="3" name="Notched Right Arrow 2"/>
          <p:cNvSpPr/>
          <p:nvPr/>
        </p:nvSpPr>
        <p:spPr>
          <a:xfrm>
            <a:off x="4047744" y="5047488"/>
            <a:ext cx="1298448" cy="60350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6"/>
          <p:cNvPicPr>
            <a:picLocks noChangeAspect="1" noChangeArrowheads="1"/>
          </p:cNvPicPr>
          <p:nvPr/>
        </p:nvPicPr>
        <p:blipFill>
          <a:blip r:embed="rId3"/>
          <a:srcRect t="-10443" b="-8620"/>
          <a:stretch>
            <a:fillRect/>
          </a:stretch>
        </p:blipFill>
        <p:spPr bwMode="auto">
          <a:xfrm>
            <a:off x="1637919" y="888736"/>
            <a:ext cx="4819650" cy="3759200"/>
          </a:xfrm>
          <a:prstGeom prst="rect">
            <a:avLst/>
          </a:prstGeom>
          <a:noFill/>
          <a:ln w="9525">
            <a:noFill/>
            <a:miter lim="800000"/>
            <a:headEnd/>
            <a:tailEnd/>
          </a:ln>
        </p:spPr>
      </p:pic>
      <p:pic>
        <p:nvPicPr>
          <p:cNvPr id="11" name="Picture 2" descr="6"/>
          <p:cNvPicPr>
            <a:picLocks noChangeAspect="1" noChangeArrowheads="1"/>
          </p:cNvPicPr>
          <p:nvPr/>
        </p:nvPicPr>
        <p:blipFill>
          <a:blip r:embed="rId4"/>
          <a:srcRect b="-8466"/>
          <a:stretch>
            <a:fillRect/>
          </a:stretch>
        </p:blipFill>
        <p:spPr bwMode="auto">
          <a:xfrm>
            <a:off x="6102350" y="2550850"/>
            <a:ext cx="4565650" cy="41941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Mẫu kiến trúc phân lớp (Layered)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2973156"/>
              </p:ext>
            </p:extLst>
          </p:nvPr>
        </p:nvGraphicFramePr>
        <p:xfrm>
          <a:off x="1524001" y="877562"/>
          <a:ext cx="9143999" cy="5593143"/>
        </p:xfrm>
        <a:graphic>
          <a:graphicData uri="http://schemas.openxmlformats.org/drawingml/2006/table">
            <a:tbl>
              <a:tblPr firstRow="1" bandRow="1">
                <a:tableStyleId>{5C22544A-7EE6-4342-B048-85BDC9FD1C3A}</a:tableStyleId>
              </a:tblPr>
              <a:tblGrid>
                <a:gridCol w="1885735">
                  <a:extLst>
                    <a:ext uri="{9D8B030D-6E8A-4147-A177-3AD203B41FA5}">
                      <a16:colId xmlns:a16="http://schemas.microsoft.com/office/drawing/2014/main" val="20000"/>
                    </a:ext>
                  </a:extLst>
                </a:gridCol>
                <a:gridCol w="7258264">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Tên</a:t>
                      </a:r>
                    </a:p>
                  </a:txBody>
                  <a:tcPr marL="68580" marR="68580" marT="0" marB="0" anchor="ctr"/>
                </a:tc>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Kiến trúc phân lớp</a:t>
                      </a:r>
                    </a:p>
                  </a:txBody>
                  <a:tcPr marL="68580" marR="68580" marT="0" marB="0" anchor="ctr"/>
                </a:tc>
                <a:extLst>
                  <a:ext uri="{0D108BD9-81ED-4DB2-BD59-A6C34878D82A}">
                    <a16:rowId xmlns:a16="http://schemas.microsoft.com/office/drawing/2014/main" val="10000"/>
                  </a:ext>
                </a:extLst>
              </a:tr>
              <a:tr h="1162367">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Mô tả</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Tổ chức hệ thống thành các lớp, mỗi lớp gắn với một nhóm chức năng liên quan. Một lớp cung cấp dịch vụ cho lớp nằm trên nó, nên các lớp thấp nhất biểu diễn các dịch vụ cốt lõi có khả năng được dùng trong toàn hệ thống. </a:t>
                      </a:r>
                    </a:p>
                  </a:txBody>
                  <a:tcPr marL="68580" marR="68580" marT="0" marB="0"/>
                </a:tc>
                <a:extLst>
                  <a:ext uri="{0D108BD9-81ED-4DB2-BD59-A6C34878D82A}">
                    <a16:rowId xmlns:a16="http://schemas.microsoft.com/office/drawing/2014/main" val="10001"/>
                  </a:ext>
                </a:extLst>
              </a:tr>
              <a:tr h="621792">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Ví dụ</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Mô hình phân lớp của hệ thống chia sẻ tài liệu có bản quyền được lưu ở nhiều thư viện khác nhau</a:t>
                      </a:r>
                    </a:p>
                  </a:txBody>
                  <a:tcPr marL="68580" marR="68580" marT="0" marB="0"/>
                </a:tc>
                <a:extLst>
                  <a:ext uri="{0D108BD9-81ED-4DB2-BD59-A6C34878D82A}">
                    <a16:rowId xmlns:a16="http://schemas.microsoft.com/office/drawing/2014/main" val="10002"/>
                  </a:ext>
                </a:extLst>
              </a:tr>
              <a:tr h="1133856">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Khi nào dùng</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Dùng khi xây dựng các tiện ích mới trên nền các hệ thống hiện có; khi việc phát triển được chia cho nhiều nhóm và mỗi nhóm chịu trách nhiệm một lớp chức năng; khi có yêu cầu bảo mật nhiều cấp.</a:t>
                      </a:r>
                    </a:p>
                  </a:txBody>
                  <a:tcPr marL="68580" marR="68580" marT="0" marB="0"/>
                </a:tc>
                <a:extLst>
                  <a:ext uri="{0D108BD9-81ED-4DB2-BD59-A6C34878D82A}">
                    <a16:rowId xmlns:a16="http://schemas.microsoft.com/office/drawing/2014/main" val="10003"/>
                  </a:ext>
                </a:extLst>
              </a:tr>
              <a:tr h="932688">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Ưu điểm</a:t>
                      </a:r>
                    </a:p>
                  </a:txBody>
                  <a:tcPr marL="68580" marR="68580"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Cho phép thay thế toàn bộ một lớp miễn là giữ nguyên giao diện. Có thể cung cấp các tiện ích dự phòng (ví dụ: xác thực) ở mỗi lớp để tăng độ tin cậy của hệ thống.</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Nhược điểm</a:t>
                      </a:r>
                    </a:p>
                  </a:txBody>
                  <a:tcPr marL="68580" marR="68580" marT="0" marB="0"/>
                </a:tc>
                <a:tc>
                  <a:txBody>
                    <a:bodyPr/>
                    <a:lstStyle/>
                    <a:p>
                      <a:pPr algn="l">
                        <a:spcAft>
                          <a:spcPts val="0"/>
                        </a:spcAft>
                        <a:tabLst>
                          <a:tab pos="342900" algn="l"/>
                          <a:tab pos="685800" algn="l"/>
                          <a:tab pos="1028700" algn="l"/>
                        </a:tabLst>
                      </a:pPr>
                      <a:r>
                        <a:rPr lang="vi-VN" sz="1550" dirty="0">
                          <a:solidFill>
                            <a:srgbClr val="000000"/>
                          </a:solidFill>
                          <a:latin typeface="Helvetica"/>
                          <a:ea typeface="Times New Roman"/>
                          <a:cs typeface="Helvetica"/>
                        </a:rPr>
                        <a:t>Trên thực tế, việc tách bạch rõ ràng giữa các lớp thường khó, và một lớp cấp cao có thể phải tương tác trực tiếp với các lớp cấp thấp thay vì thông qua lớp ngay bên dưới. Hiệu năng có thể là vấn đề vì một yêu cầu dịch vụ bị diễn giải qua nhiều tầng khi được xử lý ở từng lớp.</a:t>
                      </a:r>
                    </a:p>
                  </a:txBody>
                  <a:tcPr marL="68580" marR="68580" marT="0" marB="0"/>
                </a:tc>
                <a:extLst>
                  <a:ext uri="{0D108BD9-81ED-4DB2-BD59-A6C34878D82A}">
                    <a16:rowId xmlns:a16="http://schemas.microsoft.com/office/drawing/2014/main" val="10005"/>
                  </a:ext>
                </a:extLst>
              </a:tr>
            </a:tbl>
          </a:graphicData>
        </a:graphic>
      </p:graphicFrame>
      <p:sp>
        <p:nvSpPr>
          <p:cNvPr id="10" name="Date Placeholder 9"/>
          <p:cNvSpPr>
            <a:spLocks noGrp="1"/>
          </p:cNvSpPr>
          <p:nvPr>
            <p:ph type="dt" sz="half" idx="10"/>
          </p:nvPr>
        </p:nvSpPr>
        <p:spPr>
          <a:xfrm>
            <a:off x="1024130" y="6506215"/>
            <a:ext cx="2154143" cy="274320"/>
          </a:xfrm>
          <a:prstGeom prst="rect">
            <a:avLst/>
          </a:prstGeom>
        </p:spPr>
        <p:txBody>
          <a:bodyPr/>
          <a:lstStyle/>
          <a:p>
            <a:fld id="{1E195C46-3C81-4E1C-9728-CD0B83899C02}" type="datetime1">
              <a:rPr lang="nb-NO" smtClean="0"/>
              <a:t>28.09.2026</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Một kiến trúc phân lớp tổng quát </a:t>
            </a:r>
            <a:endParaRPr lang="en-US" dirty="0"/>
          </a:p>
        </p:txBody>
      </p:sp>
      <p:pic>
        <p:nvPicPr>
          <p:cNvPr id="11" name="Content Placeholder 3" descr="6.6 LayeredArch.eps"/>
          <p:cNvPicPr>
            <a:picLocks noGrp="1" noChangeAspect="1"/>
          </p:cNvPicPr>
          <p:nvPr>
            <p:ph idx="1"/>
          </p:nvPr>
        </p:nvPicPr>
        <p:blipFill>
          <a:blip r:embed="rId3"/>
          <a:srcRect l="-16082" r="-16082"/>
          <a:stretch>
            <a:fillRect/>
          </a:stretch>
        </p:blipFill>
        <p:spPr>
          <a:xfrm>
            <a:off x="1252751" y="1617811"/>
            <a:ext cx="5084421" cy="2795526"/>
          </a:xfrm>
        </p:spPr>
      </p:pic>
      <p:sp>
        <p:nvSpPr>
          <p:cNvPr id="10" name="Date Placeholder 9"/>
          <p:cNvSpPr>
            <a:spLocks noGrp="1"/>
          </p:cNvSpPr>
          <p:nvPr>
            <p:ph type="dt" sz="half" idx="10"/>
          </p:nvPr>
        </p:nvSpPr>
        <p:spPr>
          <a:xfrm>
            <a:off x="1024130" y="6506215"/>
            <a:ext cx="2154143" cy="274320"/>
          </a:xfrm>
          <a:prstGeom prst="rect">
            <a:avLst/>
          </a:prstGeom>
        </p:spPr>
        <p:txBody>
          <a:bodyPr/>
          <a:lstStyle/>
          <a:p>
            <a:fld id="{D56B6458-51E7-4E81-B26A-B562C0E998F6}" type="datetime1">
              <a:rPr lang="nb-NO" smtClean="0"/>
              <a:t>28.09.2026</a:t>
            </a:fld>
            <a:endParaRPr lang="en-US"/>
          </a:p>
        </p:txBody>
      </p:sp>
      <p:sp>
        <p:nvSpPr>
          <p:cNvPr id="9" name="Notched Right Arrow 8"/>
          <p:cNvSpPr/>
          <p:nvPr/>
        </p:nvSpPr>
        <p:spPr>
          <a:xfrm>
            <a:off x="4047744" y="5047488"/>
            <a:ext cx="1298448" cy="60350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6.9 iLearn architecture.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8024" y="2453864"/>
            <a:ext cx="4709927" cy="3918947"/>
          </a:xfrm>
          <a:prstGeom prst="rect">
            <a:avLst/>
          </a:prstGeom>
        </p:spPr>
      </p:pic>
      <p:sp>
        <p:nvSpPr>
          <p:cNvPr id="3" name="Rectangle 2"/>
          <p:cNvSpPr/>
          <p:nvPr/>
        </p:nvSpPr>
        <p:spPr>
          <a:xfrm>
            <a:off x="6600454" y="2084531"/>
            <a:ext cx="3605346" cy="369332"/>
          </a:xfrm>
          <a:prstGeom prst="rect">
            <a:avLst/>
          </a:prstGeom>
        </p:spPr>
        <p:txBody>
          <a:bodyPr wrap="none">
            <a:spAutoFit/>
          </a:bodyPr>
          <a:lstStyle/>
          <a:p>
            <a:r>
              <a:rPr lang="vi-VN" dirty="0"/>
              <a:t>Kiến trúc của hệ thống iLearn </a:t>
            </a:r>
            <a:endParaRPr lang="en-US" dirty="0"/>
          </a:p>
        </p:txBody>
      </p:sp>
      <p:sp>
        <p:nvSpPr>
          <p:cNvPr id="13" name="Rectangle 12"/>
          <p:cNvSpPr/>
          <p:nvPr/>
        </p:nvSpPr>
        <p:spPr>
          <a:xfrm>
            <a:off x="1919288" y="1221525"/>
            <a:ext cx="2980496" cy="369332"/>
          </a:xfrm>
          <a:prstGeom prst="rect">
            <a:avLst/>
          </a:prstGeom>
        </p:spPr>
        <p:txBody>
          <a:bodyPr wrap="none">
            <a:spAutoFit/>
          </a:bodyPr>
          <a:lstStyle/>
          <a:p>
            <a:r>
              <a:rPr lang="vi-VN" dirty="0"/>
              <a:t>Một kiến trúc phân lớp tổng quát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vi-VN"/>
              <a:t>Kiến trúc kho dữ liệu (Repository)</a:t>
            </a:r>
            <a:endParaRPr lang="en-GB" dirty="0"/>
          </a:p>
        </p:txBody>
      </p:sp>
      <p:sp>
        <p:nvSpPr>
          <p:cNvPr id="13315" name="Rectangle 3"/>
          <p:cNvSpPr>
            <a:spLocks noGrp="1" noChangeArrowheads="1"/>
          </p:cNvSpPr>
          <p:nvPr>
            <p:ph idx="1"/>
          </p:nvPr>
        </p:nvSpPr>
        <p:spPr/>
        <p:txBody>
          <a:bodyPr/>
          <a:lstStyle/>
          <a:p>
            <a:r>
              <a:rPr lang="vi-VN"/>
              <a:t>Các hệ thống con phải trao đổi dữ liệu. Có thể thực hiện theo hai cách:</a:t>
            </a:r>
          </a:p>
          <a:p>
            <a:pPr lvl="1"/>
            <a:r>
              <a:rPr lang="vi-VN"/>
              <a:t>Dữ liệu dùng chung được lưu trong một cơ sở dữ liệu hoặc repository trung tâm và tất cả hệ thống con đều có thể truy cập;</a:t>
            </a:r>
          </a:p>
          <a:p>
            <a:pPr lvl="1"/>
            <a:r>
              <a:rPr lang="vi-VN"/>
              <a:t>Mỗi hệ thống con tự duy trì cơ sở dữ liệu riêng và truyền dữ liệu một cách tường minh cho các hệ thống con khác.</a:t>
            </a:r>
          </a:p>
          <a:p>
            <a:r>
              <a:rPr lang="vi-VN"/>
              <a:t>Khi cần chia sẻ lượng dữ liệu lớn, mô hình chia sẻ qua repository được dùng phổ biến nhất vì đây là cơ chế chia sẻ dữ liệu hiệu quả.</a:t>
            </a:r>
            <a:endParaRPr lang="en-GB"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34E5C4BC-F1E2-449E-8DDF-D1B57B13483B}" type="datetime1">
              <a:rPr lang="nb-NO" smtClean="0"/>
              <a:t>28.09.2026</a:t>
            </a:fld>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Mẫu Repository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27557329"/>
              </p:ext>
            </p:extLst>
          </p:nvPr>
        </p:nvGraphicFramePr>
        <p:xfrm>
          <a:off x="1524000" y="906413"/>
          <a:ext cx="9144000" cy="5854923"/>
        </p:xfrm>
        <a:graphic>
          <a:graphicData uri="http://schemas.openxmlformats.org/drawingml/2006/table">
            <a:tbl>
              <a:tblPr firstRow="1" bandRow="1">
                <a:tableStyleId>{5C22544A-7EE6-4342-B048-85BDC9FD1C3A}</a:tableStyleId>
              </a:tblPr>
              <a:tblGrid>
                <a:gridCol w="1847088">
                  <a:extLst>
                    <a:ext uri="{9D8B030D-6E8A-4147-A177-3AD203B41FA5}">
                      <a16:colId xmlns:a16="http://schemas.microsoft.com/office/drawing/2014/main" val="20000"/>
                    </a:ext>
                  </a:extLst>
                </a:gridCol>
                <a:gridCol w="7296912">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Tên</a:t>
                      </a:r>
                    </a:p>
                  </a:txBody>
                  <a:tcPr marL="68146" marR="68146" marT="0" marB="0" anchor="ctr"/>
                </a:tc>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Repository </a:t>
                      </a:r>
                    </a:p>
                  </a:txBody>
                  <a:tcPr marL="68146" marR="68146" marT="0" marB="0" anchor="ctr"/>
                </a:tc>
                <a:extLst>
                  <a:ext uri="{0D108BD9-81ED-4DB2-BD59-A6C34878D82A}">
                    <a16:rowId xmlns:a16="http://schemas.microsoft.com/office/drawing/2014/main" val="10000"/>
                  </a:ext>
                </a:extLst>
              </a:tr>
              <a:tr h="881888">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Mô tả</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Toàn bộ dữ liệu của hệ thống được quản lý trong một repository trung tâm mà mọi thành phần đều truy cập được. Các thành phần không tương tác trực tiếp mà chỉ thông qua repository. </a:t>
                      </a:r>
                    </a:p>
                  </a:txBody>
                  <a:tcPr marL="68146" marR="68146" marT="0" marB="0"/>
                </a:tc>
                <a:extLst>
                  <a:ext uri="{0D108BD9-81ED-4DB2-BD59-A6C34878D82A}">
                    <a16:rowId xmlns:a16="http://schemas.microsoft.com/office/drawing/2014/main" val="10001"/>
                  </a:ext>
                </a:extLst>
              </a:tr>
              <a:tr h="871443">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Ví dụ</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Phần tiếp theo là ví dụ về một IDE, trong đó các thành phần dùng một repository chứa thông tin thiết kế hệ thống. Mỗi công cụ phần mềm tạo ra thông tin để các công cụ khác có thể sử dụng.</a:t>
                      </a:r>
                    </a:p>
                  </a:txBody>
                  <a:tcPr marL="68146" marR="68146" marT="0" marB="0"/>
                </a:tc>
                <a:extLst>
                  <a:ext uri="{0D108BD9-81ED-4DB2-BD59-A6C34878D82A}">
                    <a16:rowId xmlns:a16="http://schemas.microsoft.com/office/drawing/2014/main" val="10002"/>
                  </a:ext>
                </a:extLst>
              </a:tr>
              <a:tr h="1152144">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Khi nào dùng</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Nên dùng mẫu này khi hệ thống sinh ra lượng thông tin lớn cần lưu trữ lâu dài. Cũng có thể dùng cho các hệ thống hướng dữ liệu, nơi việc đưa dữ liệu vào repository kích hoạt một hành động hoặc một công cụ.</a:t>
                      </a:r>
                    </a:p>
                  </a:txBody>
                  <a:tcPr marL="68146" marR="68146" marT="0" marB="0"/>
                </a:tc>
                <a:extLst>
                  <a:ext uri="{0D108BD9-81ED-4DB2-BD59-A6C34878D82A}">
                    <a16:rowId xmlns:a16="http://schemas.microsoft.com/office/drawing/2014/main" val="10003"/>
                  </a:ext>
                </a:extLst>
              </a:tr>
              <a:tr h="1481328">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Ưu điểm</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Các thành phần có thể độc lập — không cần biết sự tồn tại của các thành phần khác. Thay đổi do một thành phần thực hiện có thể được lan truyền đến mọi thành phần. Toàn bộ dữ liệu có thể được quản lý nhất quán (ví dụ: sao lưu cùng lúc) vì tất cả nằm ở một nơi. </a:t>
                      </a:r>
                    </a:p>
                  </a:txBody>
                  <a:tcPr marL="68146" marR="68146"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Nhược điểm</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Repository là điểm lỗi duy nhất (single point of failure) nên sự cố ở repository ảnh hưởng toàn hệ thống. Có thể kém hiệu quả khi mọi giao tiếp đều đi qua repository. Việc phân tán repository trên nhiều máy tính có thể khó khăn.</a:t>
                      </a:r>
                    </a:p>
                  </a:txBody>
                  <a:tcPr marL="68146" marR="68146" marT="0" marB="0"/>
                </a:tc>
                <a:extLst>
                  <a:ext uri="{0D108BD9-81ED-4DB2-BD59-A6C34878D82A}">
                    <a16:rowId xmlns:a16="http://schemas.microsoft.com/office/drawing/2014/main" val="10005"/>
                  </a:ext>
                </a:extLst>
              </a:tr>
            </a:tbl>
          </a:graphicData>
        </a:graphic>
      </p:graphicFrame>
      <p:sp>
        <p:nvSpPr>
          <p:cNvPr id="10" name="Date Placeholder 9"/>
          <p:cNvSpPr>
            <a:spLocks noGrp="1"/>
          </p:cNvSpPr>
          <p:nvPr>
            <p:ph type="dt" sz="half" idx="10"/>
          </p:nvPr>
        </p:nvSpPr>
        <p:spPr>
          <a:xfrm>
            <a:off x="1024130" y="6506215"/>
            <a:ext cx="2154143" cy="274320"/>
          </a:xfrm>
          <a:prstGeom prst="rect">
            <a:avLst/>
          </a:prstGeom>
        </p:spPr>
        <p:txBody>
          <a:bodyPr/>
          <a:lstStyle/>
          <a:p>
            <a:fld id="{E145917B-43D1-47F7-A3A0-F893B05A7444}" type="datetime1">
              <a:rPr lang="nb-NO" smtClean="0"/>
              <a:t>28.09.2026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repository cho một IDE </a:t>
            </a:r>
            <a:endParaRPr lang="en-US" dirty="0"/>
          </a:p>
        </p:txBody>
      </p:sp>
      <p:pic>
        <p:nvPicPr>
          <p:cNvPr id="7" name="Content Placeholder 3" descr="6.9 RepositoryIDE.eps"/>
          <p:cNvPicPr>
            <a:picLocks noGrp="1" noChangeAspect="1"/>
          </p:cNvPicPr>
          <p:nvPr>
            <p:ph idx="1"/>
          </p:nvPr>
        </p:nvPicPr>
        <p:blipFill>
          <a:blip r:embed="rId3"/>
          <a:srcRect t="-12287" b="-12287"/>
          <a:stretch>
            <a:fillRect/>
          </a:stretch>
        </p:blipFill>
        <p:spPr>
          <a:xfrm>
            <a:off x="1746887" y="1311443"/>
            <a:ext cx="8270238" cy="4543059"/>
          </a:xfrm>
        </p:spPr>
      </p:pic>
      <p:sp>
        <p:nvSpPr>
          <p:cNvPr id="10" name="Date Placeholder 9"/>
          <p:cNvSpPr>
            <a:spLocks noGrp="1"/>
          </p:cNvSpPr>
          <p:nvPr>
            <p:ph type="dt" sz="half" idx="10"/>
          </p:nvPr>
        </p:nvSpPr>
        <p:spPr>
          <a:xfrm>
            <a:off x="1024130" y="6506215"/>
            <a:ext cx="2154143" cy="274320"/>
          </a:xfrm>
          <a:prstGeom prst="rect">
            <a:avLst/>
          </a:prstGeom>
        </p:spPr>
        <p:txBody>
          <a:bodyPr/>
          <a:lstStyle/>
          <a:p>
            <a:fld id="{109AC365-CCC1-429E-98C5-B8F785F2B8F8}" type="datetime1">
              <a:rPr lang="nb-NO" smtClean="0"/>
              <a:t>28.09.2026</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Mẫu Client–server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91140943"/>
              </p:ext>
            </p:extLst>
          </p:nvPr>
        </p:nvGraphicFramePr>
        <p:xfrm>
          <a:off x="1524000" y="993448"/>
          <a:ext cx="9144000" cy="5477256"/>
        </p:xfrm>
        <a:graphic>
          <a:graphicData uri="http://schemas.openxmlformats.org/drawingml/2006/table">
            <a:tbl>
              <a:tblPr firstRow="1" bandRow="1">
                <a:tableStyleId>{5C22544A-7EE6-4342-B048-85BDC9FD1C3A}</a:tableStyleId>
              </a:tblPr>
              <a:tblGrid>
                <a:gridCol w="1865376">
                  <a:extLst>
                    <a:ext uri="{9D8B030D-6E8A-4147-A177-3AD203B41FA5}">
                      <a16:colId xmlns:a16="http://schemas.microsoft.com/office/drawing/2014/main" val="20000"/>
                    </a:ext>
                  </a:extLst>
                </a:gridCol>
                <a:gridCol w="7278624">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Tên</a:t>
                      </a:r>
                    </a:p>
                  </a:txBody>
                  <a:tcPr marL="68146" marR="68146" marT="0" marB="0"/>
                </a:tc>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Client-server</a:t>
                      </a:r>
                    </a:p>
                  </a:txBody>
                  <a:tcPr marL="68146" marR="68146" marT="0" marB="0"/>
                </a:tc>
                <a:extLst>
                  <a:ext uri="{0D108BD9-81ED-4DB2-BD59-A6C34878D82A}">
                    <a16:rowId xmlns:a16="http://schemas.microsoft.com/office/drawing/2014/main" val="10000"/>
                  </a:ext>
                </a:extLst>
              </a:tr>
              <a:tr h="122936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Mô tả</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Trong kiến trúc client–server, chức năng của hệ thống được tổ chức thành các dịch vụ, mỗi dịch vụ do một server riêng cung cấp. Client là người dùng các dịch vụ này và truy cập server để sử dụng chúng.</a:t>
                      </a:r>
                    </a:p>
                  </a:txBody>
                  <a:tcPr marL="68146" marR="68146" marT="0" marB="0"/>
                </a:tc>
                <a:extLst>
                  <a:ext uri="{0D108BD9-81ED-4DB2-BD59-A6C34878D82A}">
                    <a16:rowId xmlns:a16="http://schemas.microsoft.com/office/drawing/2014/main" val="10001"/>
                  </a:ext>
                </a:extLst>
              </a:tr>
              <a:tr h="676656">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Ví dụ</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Hình ở slide tiếp theo là ví dụ về một thư viện phim và video/DVD được tổ chức như một hệ thống client–server.</a:t>
                      </a:r>
                    </a:p>
                  </a:txBody>
                  <a:tcPr marL="68146" marR="68146" marT="0" marB="0"/>
                </a:tc>
                <a:extLst>
                  <a:ext uri="{0D108BD9-81ED-4DB2-BD59-A6C34878D82A}">
                    <a16:rowId xmlns:a16="http://schemas.microsoft.com/office/drawing/2014/main" val="10002"/>
                  </a:ext>
                </a:extLst>
              </a:tr>
              <a:tr h="896112">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Khi nào dùng</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Dùng khi cần truy cập dữ liệu trong cơ sở dữ liệu dùng chung từ nhiều vị trí. Vì server có thể được nhân bản, mẫu này cũng có thể dùng khi tải của hệ thống biến động.</a:t>
                      </a:r>
                    </a:p>
                  </a:txBody>
                  <a:tcPr marL="68146" marR="68146" marT="0" marB="0"/>
                </a:tc>
                <a:extLst>
                  <a:ext uri="{0D108BD9-81ED-4DB2-BD59-A6C34878D82A}">
                    <a16:rowId xmlns:a16="http://schemas.microsoft.com/office/drawing/2014/main" val="10003"/>
                  </a:ext>
                </a:extLst>
              </a:tr>
              <a:tr h="1207008">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Ưu điểm</a:t>
                      </a:r>
                      <a:endParaRPr lang="en-GB" sz="155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Ưu điểm chính của mô hình này là các server có thể được phân tán trên mạng. Các chức năng chung (ví dụ: dịch vụ in) có thể dành cho mọi client mà không cần mọi dịch vụ phải tự cài đặt. </a:t>
                      </a:r>
                    </a:p>
                  </a:txBody>
                  <a:tcPr marL="68146" marR="68146"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Nhược điểm</a:t>
                      </a:r>
                      <a:endParaRPr lang="en-GB" sz="155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Mỗi dịch vụ là một điểm lỗi duy nhất nên dễ bị tấn công từ chối dịch vụ hoặc sự cố server. Hiệu năng có thể khó dự đoán vì phụ thuộc vào cả mạng lẫn hệ thống. Có thể phát sinh vấn đề quản lý nếu các server thuộc về những tổ chức khác nhau.</a:t>
                      </a:r>
                    </a:p>
                  </a:txBody>
                  <a:tcPr marL="68146" marR="68146" marT="0" marB="0"/>
                </a:tc>
                <a:extLst>
                  <a:ext uri="{0D108BD9-81ED-4DB2-BD59-A6C34878D82A}">
                    <a16:rowId xmlns:a16="http://schemas.microsoft.com/office/drawing/2014/main" val="10005"/>
                  </a:ext>
                </a:extLst>
              </a:tr>
            </a:tbl>
          </a:graphicData>
        </a:graphic>
      </p:graphicFrame>
      <p:sp>
        <p:nvSpPr>
          <p:cNvPr id="10" name="Date Placeholder 9"/>
          <p:cNvSpPr>
            <a:spLocks noGrp="1"/>
          </p:cNvSpPr>
          <p:nvPr>
            <p:ph type="dt" sz="half" idx="10"/>
          </p:nvPr>
        </p:nvSpPr>
        <p:spPr>
          <a:xfrm>
            <a:off x="1024130" y="6506215"/>
            <a:ext cx="2154143" cy="274320"/>
          </a:xfrm>
          <a:prstGeom prst="rect">
            <a:avLst/>
          </a:prstGeom>
        </p:spPr>
        <p:txBody>
          <a:bodyPr/>
          <a:lstStyle/>
          <a:p>
            <a:fld id="{0723E293-6DFD-43CF-9C25-0C54A20FCB73}" type="datetime1">
              <a:rPr lang="nb-NO" smtClean="0"/>
              <a:t>28.09.2026</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Kiến trúc client–server cho một thư viện phim </a:t>
            </a:r>
            <a:endParaRPr lang="en-US" dirty="0"/>
          </a:p>
        </p:txBody>
      </p:sp>
      <p:pic>
        <p:nvPicPr>
          <p:cNvPr id="7" name="Content Placeholder 3" descr="6.11 ClientServerFilmPhoto.eps"/>
          <p:cNvPicPr>
            <a:picLocks noGrp="1" noChangeAspect="1"/>
          </p:cNvPicPr>
          <p:nvPr>
            <p:ph idx="1"/>
          </p:nvPr>
        </p:nvPicPr>
        <p:blipFill>
          <a:blip r:embed="rId3"/>
          <a:stretch>
            <a:fillRect/>
          </a:stretch>
        </p:blipFill>
        <p:spPr>
          <a:xfrm>
            <a:off x="1705909" y="1311443"/>
            <a:ext cx="8785522" cy="4945923"/>
          </a:xfrm>
        </p:spPr>
      </p:pic>
      <p:sp>
        <p:nvSpPr>
          <p:cNvPr id="10" name="Date Placeholder 9"/>
          <p:cNvSpPr>
            <a:spLocks noGrp="1"/>
          </p:cNvSpPr>
          <p:nvPr>
            <p:ph type="dt" sz="half" idx="10"/>
          </p:nvPr>
        </p:nvSpPr>
        <p:spPr>
          <a:xfrm>
            <a:off x="1024130" y="6506215"/>
            <a:ext cx="2154143" cy="274320"/>
          </a:xfrm>
          <a:prstGeom prst="rect">
            <a:avLst/>
          </a:prstGeom>
        </p:spPr>
        <p:txBody>
          <a:bodyPr/>
          <a:lstStyle/>
          <a:p>
            <a:fld id="{65A14A6A-592C-4AAA-A61C-B9636DAF3090}" type="datetime1">
              <a:rPr lang="nb-NO" smtClean="0"/>
              <a:t>28.09.2026</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Mẫu pipe and filter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69958354"/>
              </p:ext>
            </p:extLst>
          </p:nvPr>
        </p:nvGraphicFramePr>
        <p:xfrm>
          <a:off x="1524000" y="843378"/>
          <a:ext cx="9144000" cy="5663184"/>
        </p:xfrm>
        <a:graphic>
          <a:graphicData uri="http://schemas.openxmlformats.org/drawingml/2006/table">
            <a:tbl>
              <a:tblPr firstRow="1" bandRow="1">
                <a:tableStyleId>{5C22544A-7EE6-4342-B048-85BDC9FD1C3A}</a:tableStyleId>
              </a:tblPr>
              <a:tblGrid>
                <a:gridCol w="1879056">
                  <a:extLst>
                    <a:ext uri="{9D8B030D-6E8A-4147-A177-3AD203B41FA5}">
                      <a16:colId xmlns:a16="http://schemas.microsoft.com/office/drawing/2014/main" val="20000"/>
                    </a:ext>
                  </a:extLst>
                </a:gridCol>
                <a:gridCol w="7264944">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Tên</a:t>
                      </a:r>
                    </a:p>
                  </a:txBody>
                  <a:tcPr marL="68146" marR="68146" marT="0" marB="0" anchor="ctr"/>
                </a:tc>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Pipe and filter</a:t>
                      </a:r>
                    </a:p>
                  </a:txBody>
                  <a:tcPr marL="68146" marR="68146" marT="0" marB="0" anchor="ctr"/>
                </a:tc>
                <a:extLst>
                  <a:ext uri="{0D108BD9-81ED-4DB2-BD59-A6C34878D82A}">
                    <a16:rowId xmlns:a16="http://schemas.microsoft.com/office/drawing/2014/main" val="10000"/>
                  </a:ext>
                </a:extLst>
              </a:tr>
              <a:tr h="1122680">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Mô tả</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Việc xử lý dữ liệu trong hệ thống được tổ chức sao cho mỗi thành phần xử lý (filter) là riêng biệt và thực hiện một loại biến đổi dữ liệu. Dữ liệu chảy (như trong một đường ống) từ thành phần này sang thành phần khác để xử lý. </a:t>
                      </a:r>
                    </a:p>
                  </a:txBody>
                  <a:tcPr marL="68146" marR="68146" marT="0" marB="0"/>
                </a:tc>
                <a:extLst>
                  <a:ext uri="{0D108BD9-81ED-4DB2-BD59-A6C34878D82A}">
                    <a16:rowId xmlns:a16="http://schemas.microsoft.com/office/drawing/2014/main" val="10001"/>
                  </a:ext>
                </a:extLst>
              </a:tr>
              <a:tr h="676656">
                <a:tc>
                  <a:txBody>
                    <a:bodyPr/>
                    <a:lstStyle/>
                    <a:p>
                      <a:pPr algn="just">
                        <a:spcAft>
                          <a:spcPts val="0"/>
                        </a:spcAft>
                        <a:tabLst>
                          <a:tab pos="342900" algn="l"/>
                          <a:tab pos="685800" algn="l"/>
                          <a:tab pos="1028700" algn="l"/>
                        </a:tabLst>
                      </a:pPr>
                      <a:r>
                        <a:rPr lang="vi-VN" sz="1550" b="1" dirty="0">
                          <a:solidFill>
                            <a:srgbClr val="000000"/>
                          </a:solidFill>
                          <a:latin typeface="Helvetica"/>
                          <a:ea typeface="Times New Roman"/>
                          <a:cs typeface="Helvetica"/>
                        </a:rPr>
                        <a:t>Ví dụ</a:t>
                      </a:r>
                      <a:endParaRPr lang="en-GB" sz="1550" dirty="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Hình ở slide tiếp theo là ví dụ về một hệ thống pipe and filter dùng để xử lý hóa đơn.</a:t>
                      </a:r>
                    </a:p>
                  </a:txBody>
                  <a:tcPr marL="68146" marR="68146" marT="0" marB="0"/>
                </a:tc>
                <a:extLst>
                  <a:ext uri="{0D108BD9-81ED-4DB2-BD59-A6C34878D82A}">
                    <a16:rowId xmlns:a16="http://schemas.microsoft.com/office/drawing/2014/main" val="10002"/>
                  </a:ext>
                </a:extLst>
              </a:tr>
              <a:tr h="914400">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Khi nào dùng</a:t>
                      </a:r>
                      <a:endParaRPr lang="en-GB" sz="155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a:solidFill>
                            <a:srgbClr val="000000"/>
                          </a:solidFill>
                          <a:latin typeface="Helvetica"/>
                          <a:ea typeface="Times New Roman"/>
                          <a:cs typeface="Helvetica"/>
                        </a:rPr>
                        <a:t>Thường dùng trong các ứng dụng xử lý dữ liệu (cả theo lô lẫn theo giao dịch) nơi đầu vào được xử lý qua các giai đoạn riêng để tạo ra các đầu ra liên quan.</a:t>
                      </a:r>
                    </a:p>
                  </a:txBody>
                  <a:tcPr marL="68146" marR="68146" marT="0" marB="0"/>
                </a:tc>
                <a:extLst>
                  <a:ext uri="{0D108BD9-81ED-4DB2-BD59-A6C34878D82A}">
                    <a16:rowId xmlns:a16="http://schemas.microsoft.com/office/drawing/2014/main" val="10003"/>
                  </a:ext>
                </a:extLst>
              </a:tr>
              <a:tr h="1207008">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Ưu điểm</a:t>
                      </a:r>
                      <a:endParaRPr lang="en-GB" sz="155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a:solidFill>
                            <a:srgbClr val="000000"/>
                          </a:solidFill>
                          <a:latin typeface="Helvetica"/>
                          <a:ea typeface="Times New Roman"/>
                          <a:cs typeface="Helvetica"/>
                        </a:rPr>
                        <a:t>Dễ hiểu và hỗ trợ tái sử dụng các phép biến đổi. Kiểu luồng công việc phù hợp với cấu trúc của nhiều quy trình nghiệp vụ. Dễ phát triển thêm bằng cách bổ sung các phép biến đổi. Có thể triển khai dưới dạng hệ thống tuần tự hoặc đồng thời.</a:t>
                      </a:r>
                    </a:p>
                  </a:txBody>
                  <a:tcPr marL="68146" marR="68146"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vi-VN" sz="1550" b="1">
                          <a:solidFill>
                            <a:srgbClr val="000000"/>
                          </a:solidFill>
                          <a:latin typeface="Helvetica"/>
                          <a:ea typeface="Times New Roman"/>
                          <a:cs typeface="Helvetica"/>
                        </a:rPr>
                        <a:t>Nhược điểm</a:t>
                      </a:r>
                      <a:endParaRPr lang="en-GB" sz="1550">
                        <a:solidFill>
                          <a:srgbClr val="000000"/>
                        </a:solidFill>
                        <a:latin typeface="Helvetica"/>
                        <a:ea typeface="Times New Roman"/>
                        <a:cs typeface="Helvetica"/>
                      </a:endParaRPr>
                    </a:p>
                  </a:txBody>
                  <a:tcPr marL="68146" marR="68146" marT="0" marB="0"/>
                </a:tc>
                <a:tc>
                  <a:txBody>
                    <a:bodyPr/>
                    <a:lstStyle/>
                    <a:p>
                      <a:pPr algn="just">
                        <a:spcAft>
                          <a:spcPts val="0"/>
                        </a:spcAft>
                        <a:tabLst>
                          <a:tab pos="342900" algn="l"/>
                          <a:tab pos="685800" algn="l"/>
                          <a:tab pos="1028700" algn="l"/>
                        </a:tabLst>
                      </a:pPr>
                      <a:r>
                        <a:rPr lang="vi-VN" sz="1550" dirty="0">
                          <a:solidFill>
                            <a:srgbClr val="000000"/>
                          </a:solidFill>
                          <a:latin typeface="Helvetica"/>
                          <a:ea typeface="Times New Roman"/>
                          <a:cs typeface="Helvetica"/>
                        </a:rPr>
                        <a:t>Định dạng truyền dữ liệu phải được thống nhất giữa các phép biến đổi giao tiếp với nhau. Mỗi phép biến đổi phải phân tích (parse) đầu vào và chuyển đầu ra về dạng đã thống nhất. Điều này làm tăng chi phí hệ thống và có thể khiến không thể tái sử dụng các phép biến đổi chức năng dùng cấu trúc dữ liệu không tương thích.</a:t>
                      </a:r>
                    </a:p>
                  </a:txBody>
                  <a:tcPr marL="68146" marR="68146" marT="0" marB="0"/>
                </a:tc>
                <a:extLst>
                  <a:ext uri="{0D108BD9-81ED-4DB2-BD59-A6C34878D82A}">
                    <a16:rowId xmlns:a16="http://schemas.microsoft.com/office/drawing/2014/main" val="10005"/>
                  </a:ext>
                </a:extLst>
              </a:tr>
            </a:tbl>
          </a:graphicData>
        </a:graphic>
      </p:graphicFrame>
      <p:sp>
        <p:nvSpPr>
          <p:cNvPr id="10" name="Date Placeholder 9"/>
          <p:cNvSpPr>
            <a:spLocks noGrp="1"/>
          </p:cNvSpPr>
          <p:nvPr>
            <p:ph type="dt" sz="half" idx="10"/>
          </p:nvPr>
        </p:nvSpPr>
        <p:spPr>
          <a:xfrm>
            <a:off x="1024130" y="6506215"/>
            <a:ext cx="2154143" cy="274320"/>
          </a:xfrm>
          <a:prstGeom prst="rect">
            <a:avLst/>
          </a:prstGeom>
        </p:spPr>
        <p:txBody>
          <a:bodyPr/>
          <a:lstStyle/>
          <a:p>
            <a:fld id="{C5C36B4A-D028-4CFD-8C12-D2ADF8059A18}" type="datetime1">
              <a:rPr lang="nb-NO" smtClean="0"/>
              <a:t>28.09.2026</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Một ví dụ về kiến trúc pipe and filter </a:t>
            </a:r>
            <a:endParaRPr lang="en-US" dirty="0"/>
          </a:p>
        </p:txBody>
      </p:sp>
      <p:sp>
        <p:nvSpPr>
          <p:cNvPr id="10" name="Date Placeholder 9"/>
          <p:cNvSpPr>
            <a:spLocks noGrp="1"/>
          </p:cNvSpPr>
          <p:nvPr>
            <p:ph type="dt" sz="half" idx="10"/>
          </p:nvPr>
        </p:nvSpPr>
        <p:spPr/>
        <p:txBody>
          <a:bodyPr/>
          <a:lstStyle/>
          <a:p>
            <a:fld id="{56010752-51E6-4053-B032-A1383407FF8B}" type="datetime1">
              <a:rPr lang="nb-NO" smtClean="0"/>
              <a:t>28.09.2026</a:t>
            </a:fld>
            <a:endParaRPr lang="en-US"/>
          </a:p>
        </p:txBody>
      </p:sp>
      <p:pic>
        <p:nvPicPr>
          <p:cNvPr id="9" name="Content Placeholder 3" descr="6.13 InvoiceProc.eps"/>
          <p:cNvPicPr>
            <a:picLocks noChangeAspect="1"/>
          </p:cNvPicPr>
          <p:nvPr/>
        </p:nvPicPr>
        <p:blipFill rotWithShape="1">
          <a:blip r:embed="rId3"/>
          <a:srcRect l="-456" t="-4034" r="-668" b="1"/>
          <a:stretch/>
        </p:blipFill>
        <p:spPr>
          <a:xfrm>
            <a:off x="1649380" y="2035581"/>
            <a:ext cx="9018621" cy="26508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nb-NO"/>
          </a:p>
        </p:txBody>
      </p:sp>
      <p:sp>
        <p:nvSpPr>
          <p:cNvPr id="3" name="Content Placeholder 2"/>
          <p:cNvSpPr>
            <a:spLocks noGrp="1"/>
          </p:cNvSpPr>
          <p:nvPr>
            <p:ph idx="1"/>
          </p:nvPr>
        </p:nvSpPr>
        <p:spPr/>
        <p:txBody>
          <a:bodyPr/>
          <a:lstStyle/>
          <a:p>
            <a:endParaRPr lang="nb-NO"/>
          </a:p>
        </p:txBody>
      </p:sp>
      <p:sp>
        <p:nvSpPr>
          <p:cNvPr id="4" name="Date Placeholder 3"/>
          <p:cNvSpPr>
            <a:spLocks noGrp="1"/>
          </p:cNvSpPr>
          <p:nvPr>
            <p:ph type="dt" sz="half" idx="10"/>
          </p:nvPr>
        </p:nvSpPr>
        <p:spPr>
          <a:xfrm>
            <a:off x="1024130" y="6506215"/>
            <a:ext cx="2154143" cy="274320"/>
          </a:xfrm>
          <a:prstGeom prst="rect">
            <a:avLst/>
          </a:prstGeom>
        </p:spPr>
        <p:txBody>
          <a:bodyPr/>
          <a:lstStyle/>
          <a:p>
            <a:fld id="{ADF120FD-552F-452E-BB90-FA0D48970107}" type="datetime1">
              <a:rPr lang="nb-NO" smtClean="0"/>
              <a:t>28.09.2026</a:t>
            </a:fld>
            <a:endParaRPr lang="en-US"/>
          </a:p>
        </p:txBody>
      </p:sp>
      <p:pic>
        <p:nvPicPr>
          <p:cNvPr id="4098" name="Picture 2" descr="Monolithic Architecture vs Microservice Architecture Compared | NCube"/>
          <p:cNvPicPr>
            <a:picLocks noChangeAspect="1" noChangeArrowheads="1"/>
          </p:cNvPicPr>
          <p:nvPr/>
        </p:nvPicPr>
        <p:blipFill rotWithShape="1">
          <a:blip r:embed="rId3">
            <a:extLst>
              <a:ext uri="{28A0092B-C50C-407E-A947-70E740481C1C}">
                <a14:useLocalDpi xmlns:a14="http://schemas.microsoft.com/office/drawing/2010/main" val="0"/>
              </a:ext>
            </a:extLst>
          </a:blip>
          <a:srcRect l="12074" b="3037"/>
          <a:stretch/>
        </p:blipFill>
        <p:spPr bwMode="auto">
          <a:xfrm>
            <a:off x="166531" y="227276"/>
            <a:ext cx="12025469" cy="6630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6577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Kiến trúc cho một nền tảng streaming</a:t>
            </a:r>
            <a:endParaRPr lang="nb-NO" dirty="0"/>
          </a:p>
        </p:txBody>
      </p:sp>
      <p:sp>
        <p:nvSpPr>
          <p:cNvPr id="3" name="Content Placeholder 2"/>
          <p:cNvSpPr>
            <a:spLocks noGrp="1"/>
          </p:cNvSpPr>
          <p:nvPr>
            <p:ph idx="1"/>
          </p:nvPr>
        </p:nvSpPr>
        <p:spPr>
          <a:xfrm>
            <a:off x="351183" y="1528012"/>
            <a:ext cx="11459817" cy="4781349"/>
          </a:xfrm>
        </p:spPr>
        <p:txBody>
          <a:bodyPr/>
          <a:lstStyle/>
          <a:p>
            <a:r>
              <a:rPr lang="vi-VN" dirty="0"/>
              <a:t>nền tảng streaming là nguồn giải trí trực tuyến theo yêu cầu cho chương trình truyền hình, phim và các nội dung streaming khác. Ví dụ như Hulu, Netflix, Amazon Prime Video, Vimeo và Sundance Now. </a:t>
            </a:r>
            <a:endParaRPr lang="nb-NO" dirty="0"/>
          </a:p>
        </p:txBody>
      </p:sp>
      <p:sp>
        <p:nvSpPr>
          <p:cNvPr id="4" name="Date Placeholder 3"/>
          <p:cNvSpPr>
            <a:spLocks noGrp="1"/>
          </p:cNvSpPr>
          <p:nvPr>
            <p:ph type="dt" sz="half" idx="10"/>
          </p:nvPr>
        </p:nvSpPr>
        <p:spPr>
          <a:xfrm>
            <a:off x="1024130" y="6506215"/>
            <a:ext cx="2154143" cy="274320"/>
          </a:xfrm>
          <a:prstGeom prst="rect">
            <a:avLst/>
          </a:prstGeom>
        </p:spPr>
        <p:txBody>
          <a:bodyPr/>
          <a:lstStyle/>
          <a:p>
            <a:fld id="{C318942E-F8D9-44AD-B458-94B667CA1EE1}" type="datetime1">
              <a:rPr lang="nb-NO" smtClean="0"/>
              <a:t>28.09.2026</a:t>
            </a:fld>
            <a:endParaRPr lang="en-US"/>
          </a:p>
        </p:txBody>
      </p:sp>
      <p:pic>
        <p:nvPicPr>
          <p:cNvPr id="1026" name="Picture 2" descr="The UML use case diagram of the audio streaming service.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1214" y="2893113"/>
            <a:ext cx="5489842" cy="3964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1099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Đọc thêm về </a:t>
            </a:r>
          </a:p>
        </p:txBody>
      </p:sp>
      <p:sp>
        <p:nvSpPr>
          <p:cNvPr id="3" name="Content Placeholder 2"/>
          <p:cNvSpPr>
            <a:spLocks noGrp="1"/>
          </p:cNvSpPr>
          <p:nvPr>
            <p:ph idx="1"/>
          </p:nvPr>
        </p:nvSpPr>
        <p:spPr/>
        <p:txBody>
          <a:bodyPr/>
          <a:lstStyle/>
          <a:p>
            <a:r>
              <a:rPr lang="vi-VN" dirty="0" err="1"/>
              <a:t>Mẫu client-server</a:t>
            </a:r>
            <a:endParaRPr lang="nb-NO" dirty="0"/>
          </a:p>
          <a:p>
            <a:r>
              <a:rPr lang="vi-VN" dirty="0" err="1"/>
              <a:t>Mẫu repository</a:t>
            </a:r>
            <a:endParaRPr lang="nb-NO" dirty="0"/>
          </a:p>
          <a:p>
            <a:r>
              <a:rPr lang="vi-VN" dirty="0" err="1"/>
              <a:t>Mẫu phân lớp (layered)</a:t>
            </a:r>
            <a:endParaRPr lang="nb-NO" dirty="0"/>
          </a:p>
          <a:p>
            <a:r>
              <a:rPr lang="vi-VN" dirty="0"/>
              <a:t>Mẫu MVC</a:t>
            </a:r>
            <a:endParaRPr lang="nb-NO" dirty="0"/>
          </a:p>
          <a:p>
            <a:r>
              <a:rPr lang="vi-VN" dirty="0"/>
              <a:t>Mẫu pipe and filter</a:t>
            </a:r>
            <a:endParaRPr lang="nb-NO" dirty="0"/>
          </a:p>
          <a:p>
            <a:r>
              <a:rPr lang="vi-VN" dirty="0"/>
              <a:t>Kiến trúc microservice so với kiến trúc nguyên khối (monolithic)</a:t>
            </a:r>
            <a:endParaRPr lang="nb-NO" dirty="0"/>
          </a:p>
          <a:p>
            <a:pPr lvl="1"/>
            <a:r>
              <a:rPr lang="vi-VN" dirty="0" err="1"/>
              <a:t>Ưu &amp; nhược điểm</a:t>
            </a:r>
            <a:endParaRPr lang="nb-NO" dirty="0"/>
          </a:p>
          <a:p>
            <a:endParaRPr lang="nb-NO" dirty="0"/>
          </a:p>
        </p:txBody>
      </p:sp>
      <p:sp>
        <p:nvSpPr>
          <p:cNvPr id="4" name="Date Placeholder 3"/>
          <p:cNvSpPr>
            <a:spLocks noGrp="1"/>
          </p:cNvSpPr>
          <p:nvPr>
            <p:ph type="dt" sz="half" idx="10"/>
          </p:nvPr>
        </p:nvSpPr>
        <p:spPr>
          <a:xfrm>
            <a:off x="1024130" y="6506215"/>
            <a:ext cx="2154143" cy="274320"/>
          </a:xfrm>
          <a:prstGeom prst="rect">
            <a:avLst/>
          </a:prstGeom>
        </p:spPr>
        <p:txBody>
          <a:bodyPr/>
          <a:lstStyle/>
          <a:p>
            <a:fld id="{698A4F6F-0322-4A8A-B449-14910332202A}" type="datetime1">
              <a:rPr lang="nb-NO" smtClean="0"/>
              <a:t>28.09.2026</a:t>
            </a:fld>
            <a:endParaRPr lang="en-US"/>
          </a:p>
        </p:txBody>
      </p:sp>
    </p:spTree>
    <p:extLst>
      <p:ext uri="{BB962C8B-B14F-4D97-AF65-F5344CB8AC3E}">
        <p14:creationId xmlns:p14="http://schemas.microsoft.com/office/powerpoint/2010/main" val="3711217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prstGeom prst="rect">
            <a:avLst/>
          </a:prstGeom>
        </p:spPr>
        <p:txBody>
          <a:bodyPr/>
          <a:lstStyle/>
          <a:p>
            <a:fld id="{CE238E4E-9762-4F4B-9DC4-027BD713DB9C}" type="datetime1">
              <a:rPr lang="nb-NO" smtClean="0"/>
              <a:t>28.09.2026</a:t>
            </a:fld>
            <a:endParaRPr lang="en-US"/>
          </a:p>
        </p:txBody>
      </p:sp>
      <p:pic>
        <p:nvPicPr>
          <p:cNvPr id="2050" name="Picture 2" descr="https://miro.medium.com/max/972/1*0MHo_ywcTvh1IVjf1h9ez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0304" y="96254"/>
            <a:ext cx="9071443" cy="680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005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prstGeom prst="rect">
            <a:avLst/>
          </a:prstGeom>
        </p:spPr>
        <p:txBody>
          <a:bodyPr/>
          <a:lstStyle/>
          <a:p>
            <a:fld id="{C2E5655C-0807-4230-9018-D3B111BA28B7}" type="datetime1">
              <a:rPr lang="nb-NO" smtClean="0"/>
              <a:t>28.09.2026</a:t>
            </a:fld>
            <a:endParaRPr lang="en-US"/>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970443557"/>
              </p:ext>
            </p:extLst>
          </p:nvPr>
        </p:nvGraphicFramePr>
        <p:xfrm>
          <a:off x="423333" y="621402"/>
          <a:ext cx="11345334" cy="5615196"/>
        </p:xfrm>
        <a:graphic>
          <a:graphicData uri="http://schemas.openxmlformats.org/drawingml/2006/table">
            <a:tbl>
              <a:tblPr>
                <a:tableStyleId>{5940675A-B579-460E-94D1-54222C63F5DA}</a:tableStyleId>
              </a:tblPr>
              <a:tblGrid>
                <a:gridCol w="5672667">
                  <a:extLst>
                    <a:ext uri="{9D8B030D-6E8A-4147-A177-3AD203B41FA5}">
                      <a16:colId xmlns:a16="http://schemas.microsoft.com/office/drawing/2014/main" val="2095409709"/>
                    </a:ext>
                  </a:extLst>
                </a:gridCol>
                <a:gridCol w="5672667">
                  <a:extLst>
                    <a:ext uri="{9D8B030D-6E8A-4147-A177-3AD203B41FA5}">
                      <a16:colId xmlns:a16="http://schemas.microsoft.com/office/drawing/2014/main" val="1418943155"/>
                    </a:ext>
                  </a:extLst>
                </a:gridCol>
              </a:tblGrid>
              <a:tr h="375365">
                <a:tc>
                  <a:txBody>
                    <a:bodyPr/>
                    <a:lstStyle/>
                    <a:p>
                      <a:pPr fontAlgn="t"/>
                      <a:r>
                        <a:rPr lang="vi-VN" sz="1700" b="1" dirty="0" err="1">
                          <a:effectLst/>
                        </a:rPr>
                        <a:t>Kiến trúc nguyên khối (Monolithic)</a:t>
                      </a:r>
                      <a:endParaRPr lang="nb-NO" sz="1700" b="1" dirty="0">
                        <a:effectLst/>
                      </a:endParaRPr>
                    </a:p>
                  </a:txBody>
                  <a:tcPr marL="59393" marR="59393" marT="59393" marB="59393"/>
                </a:tc>
                <a:tc>
                  <a:txBody>
                    <a:bodyPr/>
                    <a:lstStyle/>
                    <a:p>
                      <a:pPr fontAlgn="t"/>
                      <a:r>
                        <a:rPr lang="vi-VN" sz="1700" b="1" dirty="0">
                          <a:effectLst/>
                        </a:rPr>
                        <a:t>Kiến trúc microservices</a:t>
                      </a:r>
                      <a:endParaRPr lang="nb-NO" sz="1700" b="1" dirty="0">
                        <a:effectLst/>
                      </a:endParaRPr>
                    </a:p>
                  </a:txBody>
                  <a:tcPr marL="59393" marR="59393" marT="59393" marB="59393"/>
                </a:tc>
                <a:extLst>
                  <a:ext uri="{0D108BD9-81ED-4DB2-BD59-A6C34878D82A}">
                    <a16:rowId xmlns:a16="http://schemas.microsoft.com/office/drawing/2014/main" val="167663256"/>
                  </a:ext>
                </a:extLst>
              </a:tr>
              <a:tr h="375365">
                <a:tc>
                  <a:txBody>
                    <a:bodyPr/>
                    <a:lstStyle/>
                    <a:p>
                      <a:pPr fontAlgn="t"/>
                      <a:r>
                        <a:rPr lang="vi-VN" sz="1700" dirty="0">
                          <a:effectLst/>
                        </a:rPr>
                        <a:t>Đơn giản để phát triển và triển khai</a:t>
                      </a:r>
                    </a:p>
                  </a:txBody>
                  <a:tcPr marL="59393" marR="59393" marT="59393" marB="59393"/>
                </a:tc>
                <a:tc>
                  <a:txBody>
                    <a:bodyPr/>
                    <a:lstStyle/>
                    <a:p>
                      <a:pPr fontAlgn="t"/>
                      <a:r>
                        <a:rPr lang="vi-VN" sz="1700" dirty="0">
                          <a:effectLst/>
                        </a:rPr>
                        <a:t>Phức tạp và khó phát triển, triển khai</a:t>
                      </a:r>
                    </a:p>
                  </a:txBody>
                  <a:tcPr marL="59393" marR="59393" marT="59393" marB="59393"/>
                </a:tc>
                <a:extLst>
                  <a:ext uri="{0D108BD9-81ED-4DB2-BD59-A6C34878D82A}">
                    <a16:rowId xmlns:a16="http://schemas.microsoft.com/office/drawing/2014/main" val="4144428683"/>
                  </a:ext>
                </a:extLst>
              </a:tr>
              <a:tr h="247076">
                <a:tc>
                  <a:txBody>
                    <a:bodyPr/>
                    <a:lstStyle/>
                    <a:p>
                      <a:pPr fontAlgn="t"/>
                      <a:r>
                        <a:rPr lang="vi-VN" sz="1700">
                          <a:effectLst/>
                        </a:rPr>
                        <a:t>Tính liên kết</a:t>
                      </a:r>
                    </a:p>
                  </a:txBody>
                  <a:tcPr marL="59393" marR="59393" marT="59393" marB="59393"/>
                </a:tc>
                <a:tc>
                  <a:txBody>
                    <a:bodyPr/>
                    <a:lstStyle/>
                    <a:p>
                      <a:pPr fontAlgn="t"/>
                      <a:r>
                        <a:rPr lang="vi-VN" sz="1700" dirty="0">
                          <a:effectLst/>
                        </a:rPr>
                        <a:t>Tính tự chủ</a:t>
                      </a:r>
                    </a:p>
                  </a:txBody>
                  <a:tcPr marL="59393" marR="59393" marT="59393" marB="59393"/>
                </a:tc>
                <a:extLst>
                  <a:ext uri="{0D108BD9-81ED-4DB2-BD59-A6C34878D82A}">
                    <a16:rowId xmlns:a16="http://schemas.microsoft.com/office/drawing/2014/main" val="2368177504"/>
                  </a:ext>
                </a:extLst>
              </a:tr>
              <a:tr h="503654">
                <a:tc>
                  <a:txBody>
                    <a:bodyPr/>
                    <a:lstStyle/>
                    <a:p>
                      <a:pPr fontAlgn="t"/>
                      <a:r>
                        <a:rPr lang="vi-VN" sz="1700">
                          <a:effectLst/>
                        </a:rPr>
                        <a:t>Thay đổi mã nguồn ảnh hưởng toàn bộ hệ thống</a:t>
                      </a:r>
                    </a:p>
                  </a:txBody>
                  <a:tcPr marL="59393" marR="59393" marT="59393" marB="59393"/>
                </a:tc>
                <a:tc>
                  <a:txBody>
                    <a:bodyPr/>
                    <a:lstStyle/>
                    <a:p>
                      <a:pPr fontAlgn="t"/>
                      <a:r>
                        <a:rPr lang="vi-VN" sz="1700" dirty="0">
                          <a:effectLst/>
                        </a:rPr>
                        <a:t>Chỉ microservice bị thay đổi chịu ảnh hưởng</a:t>
                      </a:r>
                    </a:p>
                  </a:txBody>
                  <a:tcPr marL="59393" marR="59393" marT="59393" marB="59393"/>
                </a:tc>
                <a:extLst>
                  <a:ext uri="{0D108BD9-81ED-4DB2-BD59-A6C34878D82A}">
                    <a16:rowId xmlns:a16="http://schemas.microsoft.com/office/drawing/2014/main" val="2954080225"/>
                  </a:ext>
                </a:extLst>
              </a:tr>
              <a:tr h="375365">
                <a:tc>
                  <a:txBody>
                    <a:bodyPr/>
                    <a:lstStyle/>
                    <a:p>
                      <a:pPr fontAlgn="t"/>
                      <a:r>
                        <a:rPr lang="vi-VN" sz="1700">
                          <a:effectLst/>
                        </a:rPr>
                        <a:t>Giao tiếp giữa các dịch vụ</a:t>
                      </a:r>
                    </a:p>
                  </a:txBody>
                  <a:tcPr marL="59393" marR="59393" marT="59393" marB="59393"/>
                </a:tc>
                <a:tc>
                  <a:txBody>
                    <a:bodyPr/>
                    <a:lstStyle/>
                    <a:p>
                      <a:pPr fontAlgn="t"/>
                      <a:r>
                        <a:rPr lang="vi-VN" sz="1700" dirty="0">
                          <a:effectLst/>
                        </a:rPr>
                        <a:t>Dùng API để giao tiếp</a:t>
                      </a:r>
                      <a:endParaRPr lang="nb-NO" sz="1700" dirty="0">
                        <a:effectLst/>
                      </a:endParaRPr>
                    </a:p>
                  </a:txBody>
                  <a:tcPr marL="59393" marR="59393" marT="59393" marB="59393"/>
                </a:tc>
                <a:extLst>
                  <a:ext uri="{0D108BD9-81ED-4DB2-BD59-A6C34878D82A}">
                    <a16:rowId xmlns:a16="http://schemas.microsoft.com/office/drawing/2014/main" val="3666554148"/>
                  </a:ext>
                </a:extLst>
              </a:tr>
              <a:tr h="888522">
                <a:tc>
                  <a:txBody>
                    <a:bodyPr/>
                    <a:lstStyle/>
                    <a:p>
                      <a:pPr fontAlgn="t"/>
                      <a:r>
                        <a:rPr lang="vi-VN" sz="1700" dirty="0">
                          <a:effectLst/>
                        </a:rPr>
                        <a:t>Kiểm thử đơn giản</a:t>
                      </a:r>
                    </a:p>
                    <a:p>
                      <a:pPr fontAlgn="t"/>
                      <a:r>
                        <a:rPr lang="vi-VN" sz="1700" dirty="0">
                          <a:effectLst/>
                        </a:rPr>
                        <a:t>Toàn bộ hệ thống được kiểm thử cùng một lúc.</a:t>
                      </a:r>
                    </a:p>
                  </a:txBody>
                  <a:tcPr marL="59393" marR="59393" marT="59393" marB="59393"/>
                </a:tc>
                <a:tc>
                  <a:txBody>
                    <a:bodyPr/>
                    <a:lstStyle/>
                    <a:p>
                      <a:pPr fontAlgn="t"/>
                      <a:r>
                        <a:rPr lang="vi-VN" sz="1700">
                          <a:effectLst/>
                        </a:rPr>
                        <a:t>Kiểm thử phức tạp hơn nhiều</a:t>
                      </a:r>
                    </a:p>
                    <a:p>
                      <a:pPr fontAlgn="t"/>
                      <a:r>
                        <a:rPr lang="vi-VN" sz="1700">
                          <a:effectLst/>
                        </a:rPr>
                        <a:t>Thực hiện theo từng đơn vị hoặc thành phần, sau đó mới kiểm thử toàn hệ thống</a:t>
                      </a:r>
                    </a:p>
                  </a:txBody>
                  <a:tcPr marL="59393" marR="59393" marT="59393" marB="59393"/>
                </a:tc>
                <a:extLst>
                  <a:ext uri="{0D108BD9-81ED-4DB2-BD59-A6C34878D82A}">
                    <a16:rowId xmlns:a16="http://schemas.microsoft.com/office/drawing/2014/main" val="3639672320"/>
                  </a:ext>
                </a:extLst>
              </a:tr>
              <a:tr h="503654">
                <a:tc>
                  <a:txBody>
                    <a:bodyPr/>
                    <a:lstStyle/>
                    <a:p>
                      <a:pPr fontAlgn="t"/>
                      <a:r>
                        <a:rPr lang="vi-VN" sz="1700">
                          <a:effectLst/>
                        </a:rPr>
                        <a:t>Một codebase và một cơ sở dữ liệu dùng chung</a:t>
                      </a:r>
                    </a:p>
                  </a:txBody>
                  <a:tcPr marL="59393" marR="59393" marT="59393" marB="59393"/>
                </a:tc>
                <a:tc>
                  <a:txBody>
                    <a:bodyPr/>
                    <a:lstStyle/>
                    <a:p>
                      <a:pPr fontAlgn="t"/>
                      <a:r>
                        <a:rPr lang="vi-VN" sz="1700">
                          <a:effectLst/>
                        </a:rPr>
                        <a:t>Mỗi microservice có codebase và cơ sở dữ liệu riêng</a:t>
                      </a:r>
                    </a:p>
                  </a:txBody>
                  <a:tcPr marL="59393" marR="59393" marT="59393" marB="59393"/>
                </a:tc>
                <a:extLst>
                  <a:ext uri="{0D108BD9-81ED-4DB2-BD59-A6C34878D82A}">
                    <a16:rowId xmlns:a16="http://schemas.microsoft.com/office/drawing/2014/main" val="3010249037"/>
                  </a:ext>
                </a:extLst>
              </a:tr>
              <a:tr h="375365">
                <a:tc>
                  <a:txBody>
                    <a:bodyPr/>
                    <a:lstStyle/>
                    <a:p>
                      <a:pPr fontAlgn="t"/>
                      <a:r>
                        <a:rPr lang="vi-VN" sz="1700">
                          <a:effectLst/>
                        </a:rPr>
                        <a:t>Khó mở rộng hoặc nâng cấp</a:t>
                      </a:r>
                    </a:p>
                  </a:txBody>
                  <a:tcPr marL="59393" marR="59393" marT="59393" marB="59393"/>
                </a:tc>
                <a:tc>
                  <a:txBody>
                    <a:bodyPr/>
                    <a:lstStyle/>
                    <a:p>
                      <a:pPr fontAlgn="t"/>
                      <a:r>
                        <a:rPr lang="vi-VN" sz="1700">
                          <a:effectLst/>
                        </a:rPr>
                        <a:t>Rất dễ mở rộng và nâng cấp</a:t>
                      </a:r>
                    </a:p>
                  </a:txBody>
                  <a:tcPr marL="59393" marR="59393" marT="59393" marB="59393"/>
                </a:tc>
                <a:extLst>
                  <a:ext uri="{0D108BD9-81ED-4DB2-BD59-A6C34878D82A}">
                    <a16:rowId xmlns:a16="http://schemas.microsoft.com/office/drawing/2014/main" val="2172659547"/>
                  </a:ext>
                </a:extLst>
              </a:tr>
              <a:tr h="503654">
                <a:tc>
                  <a:txBody>
                    <a:bodyPr/>
                    <a:lstStyle/>
                    <a:p>
                      <a:pPr fontAlgn="t"/>
                      <a:r>
                        <a:rPr lang="vi-VN" sz="1700">
                          <a:effectLst/>
                        </a:rPr>
                        <a:t>Rẻ hơn và phát triển nhanh hơn</a:t>
                      </a:r>
                    </a:p>
                  </a:txBody>
                  <a:tcPr marL="59393" marR="59393" marT="59393" marB="59393"/>
                </a:tc>
                <a:tc>
                  <a:txBody>
                    <a:bodyPr/>
                    <a:lstStyle/>
                    <a:p>
                      <a:pPr fontAlgn="t"/>
                      <a:r>
                        <a:rPr lang="vi-VN" sz="1700">
                          <a:effectLst/>
                        </a:rPr>
                        <a:t>Đắt hơn và mất nhiều thời gian phát triển hơn</a:t>
                      </a:r>
                    </a:p>
                  </a:txBody>
                  <a:tcPr marL="59393" marR="59393" marT="59393" marB="59393"/>
                </a:tc>
                <a:extLst>
                  <a:ext uri="{0D108BD9-81ED-4DB2-BD59-A6C34878D82A}">
                    <a16:rowId xmlns:a16="http://schemas.microsoft.com/office/drawing/2014/main" val="762509017"/>
                  </a:ext>
                </a:extLst>
              </a:tr>
              <a:tr h="631943">
                <a:tc>
                  <a:txBody>
                    <a:bodyPr/>
                    <a:lstStyle/>
                    <a:p>
                      <a:pPr fontAlgn="t"/>
                      <a:r>
                        <a:rPr lang="vi-VN" sz="1700">
                          <a:effectLst/>
                        </a:rPr>
                        <a:t>Toàn bộ hệ thống có thể bị ảnh hưởng chỉ bởi một lỗi</a:t>
                      </a:r>
                    </a:p>
                  </a:txBody>
                  <a:tcPr marL="59393" marR="59393" marT="59393" marB="59393"/>
                </a:tc>
                <a:tc>
                  <a:txBody>
                    <a:bodyPr/>
                    <a:lstStyle/>
                    <a:p>
                      <a:pPr fontAlgn="t"/>
                      <a:r>
                        <a:rPr lang="vi-VN" sz="1700" dirty="0">
                          <a:effectLst/>
                        </a:rPr>
                        <a:t>Toàn bộ hệ thống được che chắn khỏi lỗi ở một dịch vụ con</a:t>
                      </a:r>
                    </a:p>
                  </a:txBody>
                  <a:tcPr marL="59393" marR="59393" marT="59393" marB="59393"/>
                </a:tc>
                <a:extLst>
                  <a:ext uri="{0D108BD9-81ED-4DB2-BD59-A6C34878D82A}">
                    <a16:rowId xmlns:a16="http://schemas.microsoft.com/office/drawing/2014/main" val="2860405973"/>
                  </a:ext>
                </a:extLst>
              </a:tr>
            </a:tbl>
          </a:graphicData>
        </a:graphic>
      </p:graphicFrame>
    </p:spTree>
    <p:extLst>
      <p:ext uri="{BB962C8B-B14F-4D97-AF65-F5344CB8AC3E}">
        <p14:creationId xmlns:p14="http://schemas.microsoft.com/office/powerpoint/2010/main" val="3521996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ứng dụng</a:t>
            </a:r>
            <a:endParaRPr lang="en-US" dirty="0"/>
          </a:p>
        </p:txBody>
      </p:sp>
      <p:sp>
        <p:nvSpPr>
          <p:cNvPr id="10" name="Text Placeholder 9"/>
          <p:cNvSpPr>
            <a:spLocks noGrp="1"/>
          </p:cNvSpPr>
          <p:nvPr>
            <p:ph type="body" idx="1"/>
          </p:nvPr>
        </p:nvSpPr>
        <p:spPr/>
        <p:txBody>
          <a:bodyPr/>
          <a:lstStyle/>
          <a:p>
            <a:endParaRPr lang="en-US"/>
          </a:p>
        </p:txBody>
      </p:sp>
      <p:sp>
        <p:nvSpPr>
          <p:cNvPr id="6" name="Date Placeholder 5"/>
          <p:cNvSpPr>
            <a:spLocks noGrp="1"/>
          </p:cNvSpPr>
          <p:nvPr>
            <p:ph type="dt" sz="half" idx="10"/>
          </p:nvPr>
        </p:nvSpPr>
        <p:spPr/>
        <p:txBody>
          <a:bodyPr/>
          <a:lstStyle/>
          <a:p>
            <a:fld id="{DDA6AAE5-0C07-40F4-B3E0-8364E4E22EA8}" type="datetime1">
              <a:rPr lang="nb-NO" smtClean="0"/>
              <a:t>28.09.2026</a:t>
            </a:fld>
            <a:endParaRPr lang="en-US"/>
          </a:p>
        </p:txBody>
      </p:sp>
    </p:spTree>
    <p:extLst>
      <p:ext uri="{BB962C8B-B14F-4D97-AF65-F5344CB8AC3E}">
        <p14:creationId xmlns:p14="http://schemas.microsoft.com/office/powerpoint/2010/main" val="6650118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vi-VN"/>
              <a:t>Kiến trúc ứng dụng</a:t>
            </a:r>
            <a:endParaRPr lang="en-US" dirty="0"/>
          </a:p>
        </p:txBody>
      </p:sp>
      <p:sp>
        <p:nvSpPr>
          <p:cNvPr id="137219" name="Rectangle 3"/>
          <p:cNvSpPr>
            <a:spLocks noGrp="1" noChangeArrowheads="1"/>
          </p:cNvSpPr>
          <p:nvPr>
            <p:ph idx="1"/>
          </p:nvPr>
        </p:nvSpPr>
        <p:spPr/>
        <p:txBody>
          <a:bodyPr>
            <a:normAutofit/>
          </a:bodyPr>
          <a:lstStyle/>
          <a:p>
            <a:r>
              <a:rPr lang="vi-VN"/>
              <a:t>Các hệ thống ứng dụng được thiết kế để đáp ứng một nhu cầu của tổ chức.</a:t>
            </a:r>
          </a:p>
          <a:p>
            <a:pPr lvl="1"/>
            <a:r>
              <a:rPr lang="vi-VN"/>
              <a:t>Vì các doanh nghiệp có nhiều điểm chung, hệ thống ứng dụng của họ cũng thường có kiến trúc chung phản ánh các yêu cầu ứng dụng.</a:t>
            </a:r>
          </a:p>
          <a:p>
            <a:endParaRPr lang="en-US"/>
          </a:p>
          <a:p>
            <a:r>
              <a:rPr lang="vi-VN"/>
              <a:t>Kiến trúc ứng dụng tổng quát là kiến trúc cho một loại hệ thống phần mềm, có thể được cấu hình và điều chỉnh để tạo ra hệ thống đáp ứng các yêu cầu cụ thể.</a:t>
            </a:r>
            <a:endParaRPr lang="en-US"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084D9C0A-8620-4100-B1F8-A0340F6F136E}" type="datetime1">
              <a:rPr lang="nb-NO" smtClean="0"/>
              <a:t>28.09.2026</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vi-VN"/>
              <a:t>Cách dùng kiến trúc ứng dụng</a:t>
            </a:r>
            <a:endParaRPr lang="en-US" dirty="0"/>
          </a:p>
        </p:txBody>
      </p:sp>
      <p:sp>
        <p:nvSpPr>
          <p:cNvPr id="138243" name="Rectangle 3"/>
          <p:cNvSpPr>
            <a:spLocks noGrp="1" noChangeArrowheads="1"/>
          </p:cNvSpPr>
          <p:nvPr>
            <p:ph idx="1"/>
          </p:nvPr>
        </p:nvSpPr>
        <p:spPr/>
        <p:txBody>
          <a:bodyPr/>
          <a:lstStyle/>
          <a:p>
            <a:r>
              <a:rPr lang="vi-VN"/>
              <a:t>Làm điểm khởi đầu cho thiết kế kiến trúc.</a:t>
            </a:r>
          </a:p>
          <a:p>
            <a:r>
              <a:rPr lang="vi-VN"/>
              <a:t>Làm danh sách kiểm tra thiết kế.</a:t>
            </a:r>
          </a:p>
          <a:p>
            <a:r>
              <a:rPr lang="vi-VN"/>
              <a:t>Làm cách tổ chức công việc của nhóm phát triển.</a:t>
            </a:r>
          </a:p>
          <a:p>
            <a:r>
              <a:rPr lang="vi-VN"/>
              <a:t>Làm phương tiện đánh giá các thành phần có thể tái sử dụng.</a:t>
            </a:r>
          </a:p>
          <a:p>
            <a:r>
              <a:rPr lang="vi-VN"/>
              <a:t>Làm bộ từ vựng để nói về các loại ứng dụng.</a:t>
            </a:r>
          </a:p>
          <a:p>
            <a:endParaRPr lang="en-US"/>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14A4B83C-29A3-4420-AE17-0915B84341E8}" type="datetime1">
              <a:rPr lang="nb-NO" smtClean="0"/>
              <a:t>28.09.2026</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vi-VN"/>
              <a:t>Ví dụ về các loại ứng dụng</a:t>
            </a:r>
            <a:endParaRPr lang="en-US" dirty="0"/>
          </a:p>
        </p:txBody>
      </p:sp>
      <p:sp>
        <p:nvSpPr>
          <p:cNvPr id="139267" name="Rectangle 3"/>
          <p:cNvSpPr>
            <a:spLocks noGrp="1" noChangeArrowheads="1"/>
          </p:cNvSpPr>
          <p:nvPr>
            <p:ph idx="1"/>
          </p:nvPr>
        </p:nvSpPr>
        <p:spPr/>
        <p:txBody>
          <a:bodyPr>
            <a:normAutofit/>
          </a:bodyPr>
          <a:lstStyle/>
          <a:p>
            <a:r>
              <a:rPr lang="vi-VN"/>
              <a:t>Ứng dụng xử lý giao dịch</a:t>
            </a:r>
          </a:p>
          <a:p>
            <a:pPr lvl="1"/>
            <a:r>
              <a:rPr lang="vi-VN"/>
              <a:t>Ứng dụng lấy cơ sở dữ liệu làm trung tâm, xử lý yêu cầu của người dùng và cập nhật thông tin trong cơ sở dữ liệu của hệ thống.</a:t>
            </a:r>
          </a:p>
          <a:p>
            <a:r>
              <a:rPr lang="vi-VN"/>
              <a:t>Hệ thống xử lý sự kiện</a:t>
            </a:r>
          </a:p>
          <a:p>
            <a:pPr lvl="1"/>
            <a:r>
              <a:rPr lang="vi-VN"/>
              <a:t>Ứng dụng mà hành động của hệ thống phụ thuộc vào việc diễn giải các sự kiện từ môi trường của hệ thống.</a:t>
            </a:r>
          </a:p>
          <a:p>
            <a:r>
              <a:rPr lang="vi-VN"/>
              <a:t>Hệ thống xử lý ngôn ngữ</a:t>
            </a:r>
          </a:p>
          <a:p>
            <a:pPr lvl="1"/>
            <a:r>
              <a:rPr lang="vi-VN"/>
              <a:t>Ứng dụng mà ý định của người dùng được đặc tả bằng một ngôn ngữ hình thức, sau đó được hệ thống xử lý và diễn giải.</a:t>
            </a:r>
            <a:endParaRPr lang="en-US"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DD5135C9-FA3C-4EBF-99D9-FF3DC3F69022}" type="datetime1">
              <a:rPr lang="nb-NO" smtClean="0"/>
              <a:t>28.09.2026</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vi-VN"/>
              <a:t>Hệ thống xử lý giao dịch</a:t>
            </a:r>
          </a:p>
        </p:txBody>
      </p:sp>
      <p:sp>
        <p:nvSpPr>
          <p:cNvPr id="144387" name="Rectangle 3"/>
          <p:cNvSpPr>
            <a:spLocks noGrp="1" noChangeArrowheads="1"/>
          </p:cNvSpPr>
          <p:nvPr>
            <p:ph idx="1"/>
          </p:nvPr>
        </p:nvSpPr>
        <p:spPr/>
        <p:txBody>
          <a:bodyPr>
            <a:normAutofit lnSpcReduction="10000"/>
          </a:bodyPr>
          <a:lstStyle/>
          <a:p>
            <a:endParaRPr lang="en-US"/>
          </a:p>
          <a:p>
            <a:endParaRPr lang="en-US"/>
          </a:p>
          <a:p>
            <a:r>
              <a:rPr lang="vi-VN"/>
              <a:t>Xử lý các yêu cầu của người dùng về thông tin từ cơ sở dữ liệu hoặc yêu cầu cập nhật cơ sở dữ liệu.</a:t>
            </a:r>
          </a:p>
          <a:p>
            <a:r>
              <a:rPr lang="vi-VN"/>
              <a:t>Từ góc nhìn người dùng, một giao dịch là:</a:t>
            </a:r>
          </a:p>
          <a:p>
            <a:pPr lvl="1"/>
            <a:r>
              <a:rPr lang="vi-VN"/>
              <a:t>Bất kỳ chuỗi thao tác mạch lạc nào đáp ứng một mục tiêu;</a:t>
            </a:r>
          </a:p>
          <a:p>
            <a:pPr lvl="1"/>
            <a:r>
              <a:rPr lang="vi-VN"/>
              <a:t>Ví dụ - tìm giờ bay của các chuyến bay từ London đến Paris.</a:t>
            </a:r>
          </a:p>
          <a:p>
            <a:r>
              <a:rPr lang="vi-VN"/>
              <a:t>Người dùng gửi các yêu cầu dịch vụ bất đồng bộ, sau đó được xử lý bởi một transaction manager.</a:t>
            </a:r>
            <a:endParaRPr lang="en-US"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E1AF2C92-B83D-4124-8895-B53F4A6860B8}" type="datetime1">
              <a:rPr lang="nb-NO" smtClean="0"/>
              <a:t>28.09.2026</a:t>
            </a:fld>
            <a:endParaRPr lang="en-US"/>
          </a:p>
        </p:txBody>
      </p:sp>
      <p:pic>
        <p:nvPicPr>
          <p:cNvPr id="9" name="Content Placeholder 3" descr="6.14 TransactionProcSys.eps"/>
          <p:cNvPicPr>
            <a:picLocks noChangeAspect="1"/>
          </p:cNvPicPr>
          <p:nvPr/>
        </p:nvPicPr>
        <p:blipFill rotWithShape="1">
          <a:blip r:embed="rId3"/>
          <a:srcRect t="-9971" b="-10690"/>
          <a:stretch/>
        </p:blipFill>
        <p:spPr bwMode="auto">
          <a:xfrm>
            <a:off x="2271109" y="1246167"/>
            <a:ext cx="7649782" cy="836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phần mềm của một hệ thống ATM </a:t>
            </a:r>
            <a:endParaRPr lang="en-US" dirty="0"/>
          </a:p>
        </p:txBody>
      </p:sp>
      <p:pic>
        <p:nvPicPr>
          <p:cNvPr id="7" name="Content Placeholder 3" descr="6.15 ATMSystemArch.eps"/>
          <p:cNvPicPr>
            <a:picLocks noGrp="1" noChangeAspect="1"/>
          </p:cNvPicPr>
          <p:nvPr>
            <p:ph idx="1"/>
          </p:nvPr>
        </p:nvPicPr>
        <p:blipFill>
          <a:blip r:embed="rId3"/>
          <a:srcRect t="-13074" b="-13074"/>
          <a:stretch>
            <a:fillRect/>
          </a:stretch>
        </p:blipFill>
        <p:spPr>
          <a:xfrm>
            <a:off x="1747598" y="1165413"/>
            <a:ext cx="8634652" cy="4750731"/>
          </a:xfrm>
        </p:spPr>
      </p:pic>
      <p:sp>
        <p:nvSpPr>
          <p:cNvPr id="10" name="Date Placeholder 9"/>
          <p:cNvSpPr>
            <a:spLocks noGrp="1"/>
          </p:cNvSpPr>
          <p:nvPr>
            <p:ph type="dt" sz="half" idx="10"/>
          </p:nvPr>
        </p:nvSpPr>
        <p:spPr>
          <a:xfrm>
            <a:off x="1024130" y="6506215"/>
            <a:ext cx="2154143" cy="274320"/>
          </a:xfrm>
          <a:prstGeom prst="rect">
            <a:avLst/>
          </a:prstGeom>
        </p:spPr>
        <p:txBody>
          <a:bodyPr/>
          <a:lstStyle/>
          <a:p>
            <a:fld id="{A9F13949-B57B-4A26-8C88-2453CEAE04EE}" type="datetime1">
              <a:rPr lang="nb-NO" smtClean="0"/>
              <a:t>28.09.2026</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vi-VN"/>
              <a:t>Kiến trúc hệ thống thông tin</a:t>
            </a:r>
          </a:p>
        </p:txBody>
      </p:sp>
      <p:sp>
        <p:nvSpPr>
          <p:cNvPr id="146435" name="Rectangle 3"/>
          <p:cNvSpPr>
            <a:spLocks noGrp="1" noChangeArrowheads="1"/>
          </p:cNvSpPr>
          <p:nvPr>
            <p:ph idx="1"/>
          </p:nvPr>
        </p:nvSpPr>
        <p:spPr/>
        <p:txBody>
          <a:bodyPr>
            <a:normAutofit/>
          </a:bodyPr>
          <a:lstStyle/>
          <a:p>
            <a:r>
              <a:rPr lang="vi-VN"/>
              <a:t>Hệ thống thông tin có kiến trúc tổng quát có thể được tổ chức thành kiến trúc phân lớp.</a:t>
            </a:r>
          </a:p>
          <a:p>
            <a:r>
              <a:rPr lang="vi-VN"/>
              <a:t>Đây là các hệ thống dựa trên giao dịch vì tương tác với chúng thường liên quan đến các giao dịch cơ sở dữ liệu.</a:t>
            </a:r>
          </a:p>
          <a:p>
            <a:r>
              <a:rPr lang="vi-VN"/>
              <a:t>Các lớp gồm:</a:t>
            </a:r>
          </a:p>
          <a:p>
            <a:pPr lvl="1"/>
            <a:r>
              <a:rPr lang="vi-VN"/>
              <a:t>Giao diện người dùng</a:t>
            </a:r>
          </a:p>
          <a:p>
            <a:pPr lvl="1"/>
            <a:r>
              <a:rPr lang="vi-VN"/>
              <a:t>Giao tiếp với người dùng</a:t>
            </a:r>
          </a:p>
          <a:p>
            <a:pPr lvl="1"/>
            <a:r>
              <a:rPr lang="vi-VN"/>
              <a:t>Truy xuất thông tin</a:t>
            </a:r>
          </a:p>
          <a:p>
            <a:pPr lvl="1"/>
            <a:r>
              <a:rPr lang="vi-VN"/>
              <a:t>Cơ sở dữ liệu hệ thống</a:t>
            </a:r>
          </a:p>
          <a:p>
            <a:pPr lvl="1"/>
            <a:endParaRPr lang="en-US"/>
          </a:p>
          <a:p>
            <a:pPr lvl="1"/>
            <a:endParaRPr lang="en-US"/>
          </a:p>
          <a:p>
            <a:pPr lvl="1"/>
            <a:endParaRPr lang="en-US"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0EF70244-5F4C-4EB9-A06F-B0A7760866BA}" type="datetime1">
              <a:rPr lang="nb-NO" smtClean="0"/>
              <a:t>28.09.2026</a:t>
            </a:fld>
            <a:endParaRPr lang="en-US"/>
          </a:p>
        </p:txBody>
      </p:sp>
      <p:pic>
        <p:nvPicPr>
          <p:cNvPr id="9" name="Content Placeholder 3" descr="6.16 InfoSysArch.eps"/>
          <p:cNvPicPr>
            <a:picLocks noChangeAspect="1"/>
          </p:cNvPicPr>
          <p:nvPr/>
        </p:nvPicPr>
        <p:blipFill>
          <a:blip r:embed="rId3"/>
          <a:srcRect l="-15661" r="-15661"/>
          <a:stretch>
            <a:fillRect/>
          </a:stretch>
        </p:blipFill>
        <p:spPr bwMode="auto">
          <a:xfrm>
            <a:off x="5700859" y="3670130"/>
            <a:ext cx="5591108" cy="3074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của hệ thống Mentcare</a:t>
            </a:r>
            <a:endParaRPr lang="en-US" dirty="0"/>
          </a:p>
        </p:txBody>
      </p:sp>
      <p:pic>
        <p:nvPicPr>
          <p:cNvPr id="5" name="Content Placeholder 4" descr="6.17 MHC-PMSArch.eps"/>
          <p:cNvPicPr>
            <a:picLocks noGrp="1" noChangeAspect="1"/>
          </p:cNvPicPr>
          <p:nvPr>
            <p:ph idx="1"/>
          </p:nvPr>
        </p:nvPicPr>
        <p:blipFill>
          <a:blip r:embed="rId2"/>
          <a:srcRect l="-14940" r="-14940"/>
          <a:stretch>
            <a:fillRect/>
          </a:stretch>
        </p:blipFill>
        <p:spPr>
          <a:xfrm>
            <a:off x="1930338" y="1311442"/>
            <a:ext cx="8737663" cy="4805348"/>
          </a:xfrm>
        </p:spPr>
      </p:pic>
      <p:sp>
        <p:nvSpPr>
          <p:cNvPr id="3" name="Date Placeholder 2"/>
          <p:cNvSpPr>
            <a:spLocks noGrp="1"/>
          </p:cNvSpPr>
          <p:nvPr>
            <p:ph type="dt" sz="half" idx="10"/>
          </p:nvPr>
        </p:nvSpPr>
        <p:spPr>
          <a:xfrm>
            <a:off x="1024130" y="6506215"/>
            <a:ext cx="2154143" cy="274320"/>
          </a:xfrm>
          <a:prstGeom prst="rect">
            <a:avLst/>
          </a:prstGeom>
        </p:spPr>
        <p:txBody>
          <a:bodyPr/>
          <a:lstStyle/>
          <a:p>
            <a:fld id="{9C13A74F-457C-455E-B84A-DD5D73876D30}" type="datetime1">
              <a:rPr lang="nb-NO" smtClean="0"/>
              <a:t>28.09.2026</a:t>
            </a:fld>
            <a:endParaRPr lang="en-US"/>
          </a:p>
        </p:txBody>
      </p:sp>
    </p:spTree>
    <p:extLst>
      <p:ext uri="{BB962C8B-B14F-4D97-AF65-F5344CB8AC3E}">
        <p14:creationId xmlns:p14="http://schemas.microsoft.com/office/powerpoint/2010/main" val="714427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Hệ thống thông tin trên nền web</a:t>
            </a:r>
            <a:endParaRPr lang="en-US" dirty="0"/>
          </a:p>
        </p:txBody>
      </p:sp>
      <p:sp>
        <p:nvSpPr>
          <p:cNvPr id="3" name="Content Placeholder 2"/>
          <p:cNvSpPr>
            <a:spLocks noGrp="1"/>
          </p:cNvSpPr>
          <p:nvPr>
            <p:ph idx="1"/>
          </p:nvPr>
        </p:nvSpPr>
        <p:spPr/>
        <p:txBody>
          <a:bodyPr>
            <a:normAutofit/>
          </a:bodyPr>
          <a:lstStyle/>
          <a:p>
            <a:r>
              <a:rPr lang="vi-VN"/>
              <a:t>Các hệ thống quản lý thông tin và tài nguyên ngày nay thường là hệ thống trên nền web, trong đó giao diện người dùng được cài đặt bằng trình duyệt web. </a:t>
            </a:r>
          </a:p>
          <a:p>
            <a:r>
              <a:rPr lang="vi-VN"/>
              <a:t>Thường được cài đặt dưới dạng kiến trúc client/server nhiều tầng.</a:t>
            </a:r>
            <a:endParaRPr lang="en-GB"/>
          </a:p>
          <a:p>
            <a:pPr lvl="1"/>
            <a:r>
              <a:rPr lang="vi-VN"/>
              <a:t>Web server chịu trách nhiệm cho mọi giao tiếp với người dùng, với giao diện người dùng được cài đặt bằng trình duyệt web;</a:t>
            </a:r>
            <a:endParaRPr lang="en-GB"/>
          </a:p>
          <a:p>
            <a:pPr lvl="1"/>
            <a:r>
              <a:rPr lang="vi-VN"/>
              <a:t>Application server chịu trách nhiệm cài đặt logic đặc thù của ứng dụng cũng như các yêu cầu lưu trữ và truy xuất thông tin; </a:t>
            </a:r>
            <a:endParaRPr lang="en-GB"/>
          </a:p>
          <a:p>
            <a:pPr lvl="1"/>
            <a:r>
              <a:rPr lang="vi-VN"/>
              <a:t>Database server chuyển thông tin đến và đi từ cơ sở dữ liệu và xử lý quản lý giao dịch. </a:t>
            </a:r>
            <a:endParaRPr lang="en-GB"/>
          </a:p>
          <a:p>
            <a:endParaRPr lang="en-US" dirty="0"/>
          </a:p>
        </p:txBody>
      </p:sp>
      <p:sp>
        <p:nvSpPr>
          <p:cNvPr id="6" name="Date Placeholder 5"/>
          <p:cNvSpPr>
            <a:spLocks noGrp="1"/>
          </p:cNvSpPr>
          <p:nvPr>
            <p:ph type="dt" sz="half" idx="10"/>
          </p:nvPr>
        </p:nvSpPr>
        <p:spPr>
          <a:xfrm>
            <a:off x="1024130" y="6506215"/>
            <a:ext cx="2154143" cy="274320"/>
          </a:xfrm>
          <a:prstGeom prst="rect">
            <a:avLst/>
          </a:prstGeom>
        </p:spPr>
        <p:txBody>
          <a:bodyPr/>
          <a:lstStyle/>
          <a:p>
            <a:fld id="{1EFA6212-FC10-4F73-92AD-4B8447CD24AA}" type="datetime1">
              <a:rPr lang="nb-NO" smtClean="0"/>
              <a:t>28.09.2026</a:t>
            </a:fld>
            <a:endParaRPr lang="en-US"/>
          </a:p>
        </p:txBody>
      </p:sp>
    </p:spTree>
    <p:extLst>
      <p:ext uri="{BB962C8B-B14F-4D97-AF65-F5344CB8AC3E}">
        <p14:creationId xmlns:p14="http://schemas.microsoft.com/office/powerpoint/2010/main" val="302842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vi-VN"/>
              <a:t>Hệ thống xử lý ngôn ngữ</a:t>
            </a:r>
          </a:p>
        </p:txBody>
      </p:sp>
      <p:sp>
        <p:nvSpPr>
          <p:cNvPr id="160771" name="Rectangle 3"/>
          <p:cNvSpPr>
            <a:spLocks noGrp="1" noChangeArrowheads="1"/>
          </p:cNvSpPr>
          <p:nvPr>
            <p:ph idx="1"/>
          </p:nvPr>
        </p:nvSpPr>
        <p:spPr/>
        <p:txBody>
          <a:bodyPr>
            <a:normAutofit/>
          </a:bodyPr>
          <a:lstStyle/>
          <a:p>
            <a:r>
              <a:rPr lang="vi-VN"/>
              <a:t>Nhận ngôn ngữ tự nhiên hoặc nhân tạo làm đầu vào và sinh ra một dạng biểu diễn khác của ngôn ngữ đó. </a:t>
            </a:r>
          </a:p>
          <a:p>
            <a:r>
              <a:rPr lang="vi-VN"/>
              <a:t>Có thể bao gồm một trình thông dịch để thực hiện các chỉ thị trong ngôn ngữ đang được xử lý.</a:t>
            </a:r>
          </a:p>
          <a:p>
            <a:r>
              <a:rPr lang="vi-VN"/>
              <a:t>Dùng trong những tình huống mà cách dễ nhất để giải quyết vấn đề là mô tả một thuật toán hoặc mô tả dữ liệu của hệ thống</a:t>
            </a:r>
          </a:p>
          <a:p>
            <a:pPr lvl="1"/>
            <a:r>
              <a:rPr lang="vi-VN"/>
              <a:t>Công cụ meta-CASE xử lý mô tả công cụ, quy tắc phương pháp, v.v. và sinh ra các công cụ.</a:t>
            </a:r>
            <a:endParaRPr lang="en-US" dirty="0"/>
          </a:p>
        </p:txBody>
      </p:sp>
      <p:sp>
        <p:nvSpPr>
          <p:cNvPr id="8" name="Date Placeholder 7"/>
          <p:cNvSpPr>
            <a:spLocks noGrp="1"/>
          </p:cNvSpPr>
          <p:nvPr>
            <p:ph type="dt" sz="half" idx="10"/>
          </p:nvPr>
        </p:nvSpPr>
        <p:spPr>
          <a:xfrm>
            <a:off x="1024130" y="6506215"/>
            <a:ext cx="2154143" cy="274320"/>
          </a:xfrm>
          <a:prstGeom prst="rect">
            <a:avLst/>
          </a:prstGeom>
        </p:spPr>
        <p:txBody>
          <a:bodyPr/>
          <a:lstStyle/>
          <a:p>
            <a:fld id="{0B08885A-71C9-443E-8DE2-12C176320E1C}" type="datetime1">
              <a:rPr lang="nb-NO" smtClean="0"/>
              <a:t>28.09.2026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của hệ thống xử lý ngôn ngữ </a:t>
            </a:r>
            <a:endParaRPr lang="en-US" dirty="0"/>
          </a:p>
        </p:txBody>
      </p:sp>
      <p:sp>
        <p:nvSpPr>
          <p:cNvPr id="10" name="Date Placeholder 9"/>
          <p:cNvSpPr>
            <a:spLocks noGrp="1"/>
          </p:cNvSpPr>
          <p:nvPr>
            <p:ph type="dt" sz="half" idx="10"/>
          </p:nvPr>
        </p:nvSpPr>
        <p:spPr/>
        <p:txBody>
          <a:bodyPr/>
          <a:lstStyle/>
          <a:p>
            <a:fld id="{F2DAE9FA-249D-4686-891D-2E45C92A5421}" type="datetime1">
              <a:rPr lang="nb-NO" smtClean="0"/>
              <a:t>28.09.2026</a:t>
            </a:fld>
            <a:endParaRPr lang="en-US"/>
          </a:p>
        </p:txBody>
      </p:sp>
      <p:pic>
        <p:nvPicPr>
          <p:cNvPr id="7" name="Content Placeholder 3" descr="6.18 LangProcSys.eps"/>
          <p:cNvPicPr>
            <a:picLocks noChangeAspect="1"/>
          </p:cNvPicPr>
          <p:nvPr/>
        </p:nvPicPr>
        <p:blipFill>
          <a:blip r:embed="rId3"/>
          <a:srcRect l="-10387" r="-10387"/>
          <a:stretch>
            <a:fillRect/>
          </a:stretch>
        </p:blipFill>
        <p:spPr>
          <a:xfrm>
            <a:off x="1981200" y="1311442"/>
            <a:ext cx="9011980" cy="495624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trình biên dịch</a:t>
            </a:r>
            <a:endParaRPr lang="en-US" dirty="0"/>
          </a:p>
        </p:txBody>
      </p:sp>
      <p:sp>
        <p:nvSpPr>
          <p:cNvPr id="3" name="Content Placeholder 2"/>
          <p:cNvSpPr>
            <a:spLocks noGrp="1"/>
          </p:cNvSpPr>
          <p:nvPr>
            <p:ph idx="1"/>
          </p:nvPr>
        </p:nvSpPr>
        <p:spPr/>
        <p:txBody>
          <a:bodyPr>
            <a:normAutofit fontScale="92500" lnSpcReduction="10000"/>
          </a:bodyPr>
          <a:lstStyle/>
          <a:p>
            <a:r>
              <a:rPr lang="vi-VN" dirty="0"/>
              <a:t>Các thành phần</a:t>
            </a:r>
          </a:p>
          <a:p>
            <a:pPr lvl="1"/>
            <a:r>
              <a:rPr lang="vi-VN" dirty="0"/>
              <a:t>Bộ phân tích từ vựng (lexical analyzer): nhận các token của ngôn ngữ đầu vào và chuyển chúng sang dạng nội bộ.</a:t>
            </a:r>
            <a:endParaRPr lang="en-GB" dirty="0"/>
          </a:p>
          <a:p>
            <a:pPr lvl="1"/>
            <a:r>
              <a:rPr lang="vi-VN" dirty="0"/>
              <a:t>Bảng ký hiệu (symbol table): lưu thông tin về tên của các thực thể (biến, tên lớp, tên đối tượng, v.v.) dùng trong văn bản đang được dịch.</a:t>
            </a:r>
            <a:endParaRPr lang="en-GB" dirty="0"/>
          </a:p>
          <a:p>
            <a:pPr lvl="1"/>
            <a:r>
              <a:rPr lang="vi-VN" dirty="0"/>
              <a:t>Bộ phân tích cú pháp (syntax analyzer): kiểm tra cú pháp của ngôn ngữ đang được dịch. </a:t>
            </a:r>
            <a:endParaRPr lang="en-GB" dirty="0"/>
          </a:p>
          <a:p>
            <a:pPr lvl="1"/>
            <a:r>
              <a:rPr lang="vi-VN" dirty="0"/>
              <a:t>Cây cú pháp (syntax tree): cấu trúc nội bộ biểu diễn chương trình đang được biên dịch.</a:t>
            </a:r>
          </a:p>
          <a:p>
            <a:pPr lvl="1"/>
            <a:r>
              <a:rPr lang="vi-VN" dirty="0"/>
              <a:t>Bộ phân tích ngữ nghĩa (semantic analyzer): dùng thông tin từ cây cú pháp và bảng ký hiệu để kiểm tra tính đúng đắn về ngữ nghĩa của văn bản ngôn ngữ đầu vào. </a:t>
            </a:r>
            <a:endParaRPr lang="en-US" dirty="0"/>
          </a:p>
          <a:p>
            <a:pPr lvl="1"/>
            <a:r>
              <a:rPr lang="vi-VN" dirty="0"/>
              <a:t>Bộ sinh mã (code generator): ‘duyệt’ cây cú pháp và sinh ra mã máy trừu tượng.</a:t>
            </a:r>
            <a:endParaRPr lang="en-GB"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537A8BFD-55C5-4D2D-BF4B-5CC9FE8178E9}" type="datetime1">
              <a:rPr lang="nb-NO" smtClean="0"/>
              <a:t>28.09.2026</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pipe and filter so với kiến trúc repository cho trình biên dịch</a:t>
            </a:r>
            <a:endParaRPr lang="en-US" dirty="0"/>
          </a:p>
        </p:txBody>
      </p:sp>
      <p:pic>
        <p:nvPicPr>
          <p:cNvPr id="8" name="Content Placeholder 3" descr="6.20 RepositoryLPS.eps"/>
          <p:cNvPicPr>
            <a:picLocks noGrp="1" noChangeAspect="1"/>
          </p:cNvPicPr>
          <p:nvPr>
            <p:ph idx="1"/>
          </p:nvPr>
        </p:nvPicPr>
        <p:blipFill>
          <a:blip r:embed="rId3"/>
          <a:stretch>
            <a:fillRect/>
          </a:stretch>
        </p:blipFill>
        <p:spPr>
          <a:xfrm>
            <a:off x="4695212" y="3610338"/>
            <a:ext cx="5363188" cy="2860367"/>
          </a:xfrm>
        </p:spPr>
      </p:pic>
      <p:sp>
        <p:nvSpPr>
          <p:cNvPr id="10" name="Date Placeholder 9"/>
          <p:cNvSpPr>
            <a:spLocks noGrp="1"/>
          </p:cNvSpPr>
          <p:nvPr>
            <p:ph type="dt" sz="half" idx="10"/>
          </p:nvPr>
        </p:nvSpPr>
        <p:spPr>
          <a:xfrm>
            <a:off x="1024130" y="6506215"/>
            <a:ext cx="2154143" cy="274320"/>
          </a:xfrm>
          <a:prstGeom prst="rect">
            <a:avLst/>
          </a:prstGeom>
        </p:spPr>
        <p:txBody>
          <a:bodyPr/>
          <a:lstStyle/>
          <a:p>
            <a:fld id="{4F92A934-9633-4596-A567-1D8452511F1B}" type="datetime1">
              <a:rPr lang="nb-NO" smtClean="0"/>
              <a:t>28.09.2026</a:t>
            </a:fld>
            <a:endParaRPr lang="en-US"/>
          </a:p>
        </p:txBody>
      </p:sp>
      <p:pic>
        <p:nvPicPr>
          <p:cNvPr id="9" name="Content Placeholder 3" descr="6.19 PipeFilterCompModel.eps"/>
          <p:cNvPicPr>
            <a:picLocks noChangeAspect="1"/>
          </p:cNvPicPr>
          <p:nvPr/>
        </p:nvPicPr>
        <p:blipFill>
          <a:blip r:embed="rId4"/>
          <a:srcRect t="-42181" b="-42181"/>
          <a:stretch>
            <a:fillRect/>
          </a:stretch>
        </p:blipFill>
        <p:spPr bwMode="auto">
          <a:xfrm>
            <a:off x="1601818" y="478906"/>
            <a:ext cx="6186791" cy="340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Tóm tắt</a:t>
            </a:r>
            <a:endParaRPr lang="en-US" dirty="0"/>
          </a:p>
        </p:txBody>
      </p:sp>
      <p:sp>
        <p:nvSpPr>
          <p:cNvPr id="3" name="Content Placeholder 2"/>
          <p:cNvSpPr>
            <a:spLocks noGrp="1"/>
          </p:cNvSpPr>
          <p:nvPr>
            <p:ph idx="1"/>
          </p:nvPr>
        </p:nvSpPr>
        <p:spPr/>
        <p:txBody>
          <a:bodyPr>
            <a:normAutofit fontScale="92500" lnSpcReduction="20000"/>
          </a:bodyPr>
          <a:lstStyle/>
          <a:p>
            <a:r>
              <a:rPr lang="vi-VN"/>
              <a:t>Kiến trúc phần mềm là mô tả về cách một hệ thống phần mềm được tổ chức. </a:t>
            </a:r>
            <a:endParaRPr lang="en-GB"/>
          </a:p>
          <a:p>
            <a:r>
              <a:rPr lang="vi-VN"/>
              <a:t>Các quyết định thiết kế kiến trúc gồm quyết định về loại ứng dụng, cách phân bố hệ thống và các kiểu kiến trúc sẽ dùng.</a:t>
            </a:r>
            <a:endParaRPr lang="en-GB"/>
          </a:p>
          <a:p>
            <a:r>
              <a:rPr lang="vi-VN"/>
              <a:t>Kiến trúc có thể được lập tài liệu từ nhiều góc nhìn khác nhau như conceptual view, logical view, process view và development view.</a:t>
            </a:r>
            <a:endParaRPr lang="en-GB"/>
          </a:p>
          <a:p>
            <a:r>
              <a:rPr lang="vi-VN"/>
              <a:t>Mẫu kiến trúc là phương tiện tái sử dụng tri thức về các kiến trúc hệ thống tổng quát. Chúng mô tả kiến trúc, giải thích khi nào có thể dùng và mô tả ưu điểm, nhược điểm của nó.</a:t>
            </a:r>
            <a:endParaRPr lang="en-GB"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17AA0B82-0AF3-4D1A-A503-801EF4C8357B}" type="datetime1">
              <a:rPr lang="nb-NO" smtClean="0"/>
              <a:t>28.09.2026</a:t>
            </a:fld>
            <a:endParaRPr lang="en-US"/>
          </a:p>
        </p:txBody>
      </p:sp>
    </p:spTree>
    <p:extLst>
      <p:ext uri="{BB962C8B-B14F-4D97-AF65-F5344CB8AC3E}">
        <p14:creationId xmlns:p14="http://schemas.microsoft.com/office/powerpoint/2010/main" val="30189215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Tóm tắt (tiếp)</a:t>
            </a:r>
            <a:endParaRPr lang="en-US" dirty="0"/>
          </a:p>
        </p:txBody>
      </p:sp>
      <p:sp>
        <p:nvSpPr>
          <p:cNvPr id="3" name="Content Placeholder 2"/>
          <p:cNvSpPr>
            <a:spLocks noGrp="1"/>
          </p:cNvSpPr>
          <p:nvPr>
            <p:ph idx="1"/>
          </p:nvPr>
        </p:nvSpPr>
        <p:spPr/>
        <p:txBody>
          <a:bodyPr>
            <a:normAutofit lnSpcReduction="10000"/>
          </a:bodyPr>
          <a:lstStyle/>
          <a:p>
            <a:r>
              <a:rPr lang="vi-VN"/>
              <a:t>Mô hình kiến trúc hệ thống ứng dụng giúp chúng ta hiểu và so sánh các ứng dụng, kiểm chứng thiết kế hệ thống ứng dụng và đánh giá các thành phần quy mô lớn có thể tái sử dụng.</a:t>
            </a:r>
            <a:endParaRPr lang="en-GB"/>
          </a:p>
          <a:p>
            <a:r>
              <a:rPr lang="vi-VN"/>
              <a:t>Hệ thống xử lý giao dịch là các hệ thống tương tác cho phép nhiều người dùng truy cập và sửa đổi từ xa thông tin trong cơ sở dữ liệu. </a:t>
            </a:r>
          </a:p>
          <a:p>
            <a:r>
              <a:rPr lang="vi-VN"/>
              <a:t>Hệ thống xử lý ngôn ngữ được dùng để dịch văn bản từ ngôn ngữ này sang ngôn ngữ khác và thực hiện các chỉ thị được đặc tả trong ngôn ngữ đầu vào. Chúng gồm một bộ dịch và một máy trừu tượng thực thi ngôn ngữ được sinh ra.</a:t>
            </a:r>
            <a:endParaRPr lang="en-GB"/>
          </a:p>
          <a:p>
            <a:endParaRPr lang="en-US" dirty="0"/>
          </a:p>
        </p:txBody>
      </p:sp>
      <p:sp>
        <p:nvSpPr>
          <p:cNvPr id="10" name="Date Placeholder 9"/>
          <p:cNvSpPr>
            <a:spLocks noGrp="1"/>
          </p:cNvSpPr>
          <p:nvPr>
            <p:ph type="dt" sz="half" idx="10"/>
          </p:nvPr>
        </p:nvSpPr>
        <p:spPr>
          <a:xfrm>
            <a:off x="1024130" y="6506215"/>
            <a:ext cx="2154143" cy="274320"/>
          </a:xfrm>
          <a:prstGeom prst="rect">
            <a:avLst/>
          </a:prstGeom>
        </p:spPr>
        <p:txBody>
          <a:bodyPr/>
          <a:lstStyle/>
          <a:p>
            <a:fld id="{08E19FA8-BD54-42F9-852E-99DE5F25D9DE}" type="datetime1">
              <a:rPr lang="nb-NO" smtClean="0"/>
              <a:t>28.09.2026</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_SE2019s1">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Theme_SE2019s1" id="{E4EA5176-60B7-4738-A39A-85EA610AC46B}" vid="{8416C537-BC8A-42C5-99D5-28933A3097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Theme_SE2019s1</Template>
  <TotalTime>7928</TotalTime>
  <Words>3176</Words>
  <Application>Microsoft Macintosh PowerPoint</Application>
  <PresentationFormat>Widescreen</PresentationFormat>
  <Paragraphs>487</Paragraphs>
  <Slides>51</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Helvetica</vt:lpstr>
      <vt:lpstr>Tw Cen MT</vt:lpstr>
      <vt:lpstr>Tw Cen MT Condensed</vt:lpstr>
      <vt:lpstr>Wingdings</vt:lpstr>
      <vt:lpstr>Wingdings 3</vt:lpstr>
      <vt:lpstr>Theme_SE2019s1</vt:lpstr>
      <vt:lpstr>Chapter 7 – Architectural Design</vt:lpstr>
      <vt:lpstr>Topics covered</vt:lpstr>
      <vt:lpstr>Software architecture</vt:lpstr>
      <vt:lpstr>Architectural design</vt:lpstr>
      <vt:lpstr>The architecture of a packing robot control system</vt:lpstr>
      <vt:lpstr>Architectural abstraction</vt:lpstr>
      <vt:lpstr>Advantages of explicit architecture</vt:lpstr>
      <vt:lpstr>Architectural representations</vt:lpstr>
      <vt:lpstr>Use of architectural models</vt:lpstr>
      <vt:lpstr>Architecture decomposition</vt:lpstr>
      <vt:lpstr>Architectural design decisions</vt:lpstr>
      <vt:lpstr>Architectural design decisions</vt:lpstr>
      <vt:lpstr>Architecture and system characteristics</vt:lpstr>
      <vt:lpstr>Architectural views</vt:lpstr>
      <vt:lpstr>Architectural views</vt:lpstr>
      <vt:lpstr>Architectural views</vt:lpstr>
      <vt:lpstr>4 + 1 view model of software architecture</vt:lpstr>
      <vt:lpstr>4 + 1 view model vs UML</vt:lpstr>
      <vt:lpstr>Architectural patterns</vt:lpstr>
      <vt:lpstr>Architectural patterns</vt:lpstr>
      <vt:lpstr>The Model-View-Controller (MVC) pattern </vt:lpstr>
      <vt:lpstr>Conceptual view of the MVC and web-based MVC </vt:lpstr>
      <vt:lpstr>The Layered architecture pattern </vt:lpstr>
      <vt:lpstr>A generic layered architecture </vt:lpstr>
      <vt:lpstr>Repository architecture</vt:lpstr>
      <vt:lpstr>The Repository pattern </vt:lpstr>
      <vt:lpstr>A repository architecture for an IDE </vt:lpstr>
      <vt:lpstr>The Client–server pattern </vt:lpstr>
      <vt:lpstr>A client–server architecture for a film library </vt:lpstr>
      <vt:lpstr>The pipe and filter pattern </vt:lpstr>
      <vt:lpstr>An example of the pipe and filter architecture </vt:lpstr>
      <vt:lpstr>PowerPoint Presentation</vt:lpstr>
      <vt:lpstr>Architecture for a streaming platform</vt:lpstr>
      <vt:lpstr>Read about </vt:lpstr>
      <vt:lpstr>PowerPoint Presentation</vt:lpstr>
      <vt:lpstr>PowerPoint Presentation</vt:lpstr>
      <vt:lpstr>Application architectures</vt:lpstr>
      <vt:lpstr>Application architectures</vt:lpstr>
      <vt:lpstr>Use of application architectures</vt:lpstr>
      <vt:lpstr>Examples of application types</vt:lpstr>
      <vt:lpstr>Transaction processing systems</vt:lpstr>
      <vt:lpstr>The software architecture of an ATM system </vt:lpstr>
      <vt:lpstr>Information systems architecture</vt:lpstr>
      <vt:lpstr>The architecture of the Mentcare system</vt:lpstr>
      <vt:lpstr>Web-based information systems</vt:lpstr>
      <vt:lpstr>Language processing systems</vt:lpstr>
      <vt:lpstr>The architecture of a language processing system </vt:lpstr>
      <vt:lpstr>Compiler architecture</vt:lpstr>
      <vt:lpstr>A pipe and filter vs repository architecture for compilers</vt:lpstr>
      <vt:lpstr>Summary</vt:lpstr>
      <vt:lpstr>Summary (cont.)</vt:lpstr>
    </vt:vector>
  </TitlesOfParts>
  <Company>HCMUT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chap6. architecture</dc:title>
  <dc:creator>Thang Bui</dc:creator>
  <cp:lastModifiedBy>Tâm Nguyễn</cp:lastModifiedBy>
  <cp:revision>162</cp:revision>
  <cp:lastPrinted>2017-12-20T07:10:14Z</cp:lastPrinted>
  <dcterms:created xsi:type="dcterms:W3CDTF">2010-01-18T20:35:25Z</dcterms:created>
  <dcterms:modified xsi:type="dcterms:W3CDTF">2026-09-28T05:36:30Z</dcterms:modified>
</cp:coreProperties>
</file>