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7" r:id="rId1"/>
  </p:sldMasterIdLst>
  <p:notesMasterIdLst>
    <p:notesMasterId r:id="rId48"/>
  </p:notesMasterIdLst>
  <p:handoutMasterIdLst>
    <p:handoutMasterId r:id="rId49"/>
  </p:handoutMasterIdLst>
  <p:sldIdLst>
    <p:sldId id="424" r:id="rId2"/>
    <p:sldId id="406" r:id="rId3"/>
    <p:sldId id="398" r:id="rId4"/>
    <p:sldId id="421" r:id="rId5"/>
    <p:sldId id="983" r:id="rId6"/>
    <p:sldId id="324" r:id="rId7"/>
    <p:sldId id="425" r:id="rId8"/>
    <p:sldId id="426" r:id="rId9"/>
    <p:sldId id="427" r:id="rId10"/>
    <p:sldId id="428" r:id="rId11"/>
    <p:sldId id="429" r:id="rId12"/>
    <p:sldId id="422" r:id="rId13"/>
    <p:sldId id="430" r:id="rId14"/>
    <p:sldId id="431" r:id="rId15"/>
    <p:sldId id="432" r:id="rId16"/>
    <p:sldId id="937" r:id="rId17"/>
    <p:sldId id="956" r:id="rId18"/>
    <p:sldId id="975" r:id="rId19"/>
    <p:sldId id="977" r:id="rId20"/>
    <p:sldId id="978" r:id="rId21"/>
    <p:sldId id="979" r:id="rId22"/>
    <p:sldId id="980" r:id="rId23"/>
    <p:sldId id="981" r:id="rId24"/>
    <p:sldId id="916" r:id="rId25"/>
    <p:sldId id="921" r:id="rId26"/>
    <p:sldId id="925" r:id="rId27"/>
    <p:sldId id="922" r:id="rId28"/>
    <p:sldId id="918" r:id="rId29"/>
    <p:sldId id="953" r:id="rId30"/>
    <p:sldId id="923" r:id="rId31"/>
    <p:sldId id="926" r:id="rId32"/>
    <p:sldId id="939" r:id="rId33"/>
    <p:sldId id="940" r:id="rId34"/>
    <p:sldId id="946" r:id="rId35"/>
    <p:sldId id="947" r:id="rId36"/>
    <p:sldId id="860" r:id="rId37"/>
    <p:sldId id="855" r:id="rId38"/>
    <p:sldId id="868" r:id="rId39"/>
    <p:sldId id="867" r:id="rId40"/>
    <p:sldId id="873" r:id="rId41"/>
    <p:sldId id="984" r:id="rId42"/>
    <p:sldId id="360" r:id="rId43"/>
    <p:sldId id="362" r:id="rId44"/>
    <p:sldId id="363" r:id="rId45"/>
    <p:sldId id="364" r:id="rId46"/>
    <p:sldId id="365"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57F6FB-EE12-45FB-A440-AAE67841836F}" v="4" dt="2023-03-22T07:05:03.9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81" autoAdjust="0"/>
    <p:restoredTop sz="63329" autoAdjust="0"/>
  </p:normalViewPr>
  <p:slideViewPr>
    <p:cSldViewPr snapToGrid="0" snapToObjects="1">
      <p:cViewPr varScale="1">
        <p:scale>
          <a:sx n="75" d="100"/>
          <a:sy n="75" d="100"/>
        </p:scale>
        <p:origin x="1880" y="176"/>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57" d="100"/>
          <a:sy n="57" d="100"/>
        </p:scale>
        <p:origin x="283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h Nguyen Duc" userId="04a5c95d-4a59-4e21-b199-e9922fb46c5c" providerId="ADAL" clId="{BB8A329C-265C-48B7-8A6F-27641FBB6C47}"/>
    <pc:docChg chg="modSld">
      <pc:chgData name="Anh Nguyen Duc" userId="04a5c95d-4a59-4e21-b199-e9922fb46c5c" providerId="ADAL" clId="{BB8A329C-265C-48B7-8A6F-27641FBB6C47}" dt="2022-11-01T21:30:48.589" v="72" actId="20577"/>
      <pc:docMkLst>
        <pc:docMk/>
      </pc:docMkLst>
      <pc:sldChg chg="modSp mod">
        <pc:chgData name="Anh Nguyen Duc" userId="04a5c95d-4a59-4e21-b199-e9922fb46c5c" providerId="ADAL" clId="{BB8A329C-265C-48B7-8A6F-27641FBB6C47}" dt="2022-11-01T21:29:27.794" v="62" actId="20577"/>
        <pc:sldMkLst>
          <pc:docMk/>
          <pc:sldMk cId="1788750161" sldId="406"/>
        </pc:sldMkLst>
        <pc:spChg chg="mod">
          <ac:chgData name="Anh Nguyen Duc" userId="04a5c95d-4a59-4e21-b199-e9922fb46c5c" providerId="ADAL" clId="{BB8A329C-265C-48B7-8A6F-27641FBB6C47}" dt="2022-11-01T21:29:27.794" v="62" actId="20577"/>
          <ac:spMkLst>
            <pc:docMk/>
            <pc:sldMk cId="1788750161" sldId="406"/>
            <ac:spMk id="3" creationId="{00000000-0000-0000-0000-000000000000}"/>
          </ac:spMkLst>
        </pc:spChg>
      </pc:sldChg>
      <pc:sldChg chg="modSp mod">
        <pc:chgData name="Anh Nguyen Duc" userId="04a5c95d-4a59-4e21-b199-e9922fb46c5c" providerId="ADAL" clId="{BB8A329C-265C-48B7-8A6F-27641FBB6C47}" dt="2022-11-01T21:30:48.589" v="72" actId="20577"/>
        <pc:sldMkLst>
          <pc:docMk/>
          <pc:sldMk cId="203347341" sldId="957"/>
        </pc:sldMkLst>
        <pc:spChg chg="mod">
          <ac:chgData name="Anh Nguyen Duc" userId="04a5c95d-4a59-4e21-b199-e9922fb46c5c" providerId="ADAL" clId="{BB8A329C-265C-48B7-8A6F-27641FBB6C47}" dt="2022-11-01T21:29:59.327" v="70" actId="20577"/>
          <ac:spMkLst>
            <pc:docMk/>
            <pc:sldMk cId="203347341" sldId="957"/>
            <ac:spMk id="2" creationId="{F4ADC6A8-1758-3FFA-79E9-4E531D3B34E8}"/>
          </ac:spMkLst>
        </pc:spChg>
        <pc:spChg chg="mod">
          <ac:chgData name="Anh Nguyen Duc" userId="04a5c95d-4a59-4e21-b199-e9922fb46c5c" providerId="ADAL" clId="{BB8A329C-265C-48B7-8A6F-27641FBB6C47}" dt="2022-11-01T21:30:48.589" v="72" actId="20577"/>
          <ac:spMkLst>
            <pc:docMk/>
            <pc:sldMk cId="203347341" sldId="957"/>
            <ac:spMk id="3" creationId="{D1FEB751-AA3F-ACEA-BA97-D10714B24416}"/>
          </ac:spMkLst>
        </pc:spChg>
      </pc:sldChg>
    </pc:docChg>
  </pc:docChgLst>
  <pc:docChgLst>
    <pc:chgData name="Anh Nguyen Duc" userId="04a5c95d-4a59-4e21-b199-e9922fb46c5c" providerId="ADAL" clId="{CA57F6FB-EE12-45FB-A440-AAE67841836F}"/>
    <pc:docChg chg="addSld delSld modSld sldOrd">
      <pc:chgData name="Anh Nguyen Duc" userId="04a5c95d-4a59-4e21-b199-e9922fb46c5c" providerId="ADAL" clId="{CA57F6FB-EE12-45FB-A440-AAE67841836F}" dt="2023-03-29T08:23:13.786" v="11" actId="22"/>
      <pc:docMkLst>
        <pc:docMk/>
      </pc:docMkLst>
      <pc:sldChg chg="add del ord">
        <pc:chgData name="Anh Nguyen Duc" userId="04a5c95d-4a59-4e21-b199-e9922fb46c5c" providerId="ADAL" clId="{CA57F6FB-EE12-45FB-A440-AAE67841836F}" dt="2023-03-22T07:04:25.633" v="8" actId="47"/>
        <pc:sldMkLst>
          <pc:docMk/>
          <pc:sldMk cId="0" sldId="845"/>
        </pc:sldMkLst>
      </pc:sldChg>
      <pc:sldChg chg="del">
        <pc:chgData name="Anh Nguyen Duc" userId="04a5c95d-4a59-4e21-b199-e9922fb46c5c" providerId="ADAL" clId="{CA57F6FB-EE12-45FB-A440-AAE67841836F}" dt="2023-03-22T07:05:05.770" v="10" actId="47"/>
        <pc:sldMkLst>
          <pc:docMk/>
          <pc:sldMk cId="2895335485" sldId="853"/>
        </pc:sldMkLst>
      </pc:sldChg>
      <pc:sldChg chg="del">
        <pc:chgData name="Anh Nguyen Duc" userId="04a5c95d-4a59-4e21-b199-e9922fb46c5c" providerId="ADAL" clId="{CA57F6FB-EE12-45FB-A440-AAE67841836F}" dt="2023-03-22T07:03:07.850" v="5" actId="47"/>
        <pc:sldMkLst>
          <pc:docMk/>
          <pc:sldMk cId="177366512" sldId="917"/>
        </pc:sldMkLst>
      </pc:sldChg>
      <pc:sldChg chg="addSp mod">
        <pc:chgData name="Anh Nguyen Duc" userId="04a5c95d-4a59-4e21-b199-e9922fb46c5c" providerId="ADAL" clId="{CA57F6FB-EE12-45FB-A440-AAE67841836F}" dt="2023-03-29T08:23:13.786" v="11" actId="22"/>
        <pc:sldMkLst>
          <pc:docMk/>
          <pc:sldMk cId="2966557867" sldId="958"/>
        </pc:sldMkLst>
        <pc:picChg chg="add">
          <ac:chgData name="Anh Nguyen Duc" userId="04a5c95d-4a59-4e21-b199-e9922fb46c5c" providerId="ADAL" clId="{CA57F6FB-EE12-45FB-A440-AAE67841836F}" dt="2023-03-29T08:23:13.786" v="11" actId="22"/>
          <ac:picMkLst>
            <pc:docMk/>
            <pc:sldMk cId="2966557867" sldId="958"/>
            <ac:picMk id="8" creationId="{F04C52D0-69E8-C0D0-4141-3C1E23FCDB63}"/>
          </ac:picMkLst>
        </pc:picChg>
      </pc:sldChg>
      <pc:sldChg chg="add">
        <pc:chgData name="Anh Nguyen Duc" userId="04a5c95d-4a59-4e21-b199-e9922fb46c5c" providerId="ADAL" clId="{CA57F6FB-EE12-45FB-A440-AAE67841836F}" dt="2023-03-22T07:03:18.167" v="6"/>
        <pc:sldMkLst>
          <pc:docMk/>
          <pc:sldMk cId="2827991545" sldId="975"/>
        </pc:sldMkLst>
      </pc:sldChg>
      <pc:sldChg chg="add">
        <pc:chgData name="Anh Nguyen Duc" userId="04a5c95d-4a59-4e21-b199-e9922fb46c5c" providerId="ADAL" clId="{CA57F6FB-EE12-45FB-A440-AAE67841836F}" dt="2023-03-22T07:03:18.167" v="6"/>
        <pc:sldMkLst>
          <pc:docMk/>
          <pc:sldMk cId="4078289443" sldId="977"/>
        </pc:sldMkLst>
      </pc:sldChg>
      <pc:sldChg chg="add">
        <pc:chgData name="Anh Nguyen Duc" userId="04a5c95d-4a59-4e21-b199-e9922fb46c5c" providerId="ADAL" clId="{CA57F6FB-EE12-45FB-A440-AAE67841836F}" dt="2023-03-22T07:03:18.167" v="6"/>
        <pc:sldMkLst>
          <pc:docMk/>
          <pc:sldMk cId="531758080" sldId="978"/>
        </pc:sldMkLst>
      </pc:sldChg>
      <pc:sldChg chg="add">
        <pc:chgData name="Anh Nguyen Duc" userId="04a5c95d-4a59-4e21-b199-e9922fb46c5c" providerId="ADAL" clId="{CA57F6FB-EE12-45FB-A440-AAE67841836F}" dt="2023-03-22T07:03:18.167" v="6"/>
        <pc:sldMkLst>
          <pc:docMk/>
          <pc:sldMk cId="2986898993" sldId="979"/>
        </pc:sldMkLst>
      </pc:sldChg>
      <pc:sldChg chg="add">
        <pc:chgData name="Anh Nguyen Duc" userId="04a5c95d-4a59-4e21-b199-e9922fb46c5c" providerId="ADAL" clId="{CA57F6FB-EE12-45FB-A440-AAE67841836F}" dt="2023-03-22T07:03:18.167" v="6"/>
        <pc:sldMkLst>
          <pc:docMk/>
          <pc:sldMk cId="2475594448" sldId="980"/>
        </pc:sldMkLst>
      </pc:sldChg>
      <pc:sldChg chg="add">
        <pc:chgData name="Anh Nguyen Duc" userId="04a5c95d-4a59-4e21-b199-e9922fb46c5c" providerId="ADAL" clId="{CA57F6FB-EE12-45FB-A440-AAE67841836F}" dt="2023-03-22T07:03:18.167" v="6"/>
        <pc:sldMkLst>
          <pc:docMk/>
          <pc:sldMk cId="1178591269" sldId="981"/>
        </pc:sldMkLst>
      </pc:sldChg>
      <pc:sldChg chg="add">
        <pc:chgData name="Anh Nguyen Duc" userId="04a5c95d-4a59-4e21-b199-e9922fb46c5c" providerId="ADAL" clId="{CA57F6FB-EE12-45FB-A440-AAE67841836F}" dt="2023-03-22T07:04:24.082" v="7"/>
        <pc:sldMkLst>
          <pc:docMk/>
          <pc:sldMk cId="3857134604" sldId="983"/>
        </pc:sldMkLst>
      </pc:sldChg>
      <pc:sldChg chg="add">
        <pc:chgData name="Anh Nguyen Duc" userId="04a5c95d-4a59-4e21-b199-e9922fb46c5c" providerId="ADAL" clId="{CA57F6FB-EE12-45FB-A440-AAE67841836F}" dt="2023-03-22T07:05:03.985" v="9"/>
        <pc:sldMkLst>
          <pc:docMk/>
          <pc:sldMk cId="2449526657" sldId="98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Software Engineering - CO3001</a:t>
            </a: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DAEE5E3-A02E-4EC0-88BF-B7674C41C976}" type="datetime1">
              <a:rPr lang="en-US" smtClean="0"/>
              <a:t>10/5/26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35C6E44-75D0-C24F-A2A6-8C06F77DC669}" type="slidenum">
              <a:rPr lang="en-US" smtClean="0"/>
              <a:pPr/>
              <a:t>‹#›</a:t>
            </a:fld>
            <a:endParaRPr lang="en-US"/>
          </a:p>
        </p:txBody>
      </p:sp>
    </p:spTree>
    <p:extLst>
      <p:ext uri="{BB962C8B-B14F-4D97-AF65-F5344CB8AC3E}">
        <p14:creationId xmlns:p14="http://schemas.microsoft.com/office/powerpoint/2010/main" val="1356029432"/>
      </p:ext>
    </p:extLst>
  </p:cSld>
  <p:clrMap bg1="lt1" tx1="dk1" bg2="lt2" tx2="dk2" accent1="accent1" accent2="accent2" accent3="accent3" accent4="accent4" accent5="accent5" accent6="accent6" hlink="hlink" folHlink="folHlink"/>
  <p:hf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Software Engineering - CO3001</a:t>
            </a: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50CCADC-90EC-4BB0-AB19-83E9CFC49441}" type="datetime1">
              <a:rPr lang="en-US" smtClean="0"/>
              <a:t>10/5/26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158DA69-A571-1F49-91C0-61EBFAAB21F4}" type="slidenum">
              <a:rPr lang="en-US" smtClean="0"/>
              <a:pPr/>
              <a:t>‹#›</a:t>
            </a:fld>
            <a:endParaRPr lang="en-US"/>
          </a:p>
        </p:txBody>
      </p:sp>
    </p:spTree>
    <p:extLst>
      <p:ext uri="{BB962C8B-B14F-4D97-AF65-F5344CB8AC3E}">
        <p14:creationId xmlns:p14="http://schemas.microsoft.com/office/powerpoint/2010/main" val="2576816785"/>
      </p:ext>
    </p:extLst>
  </p:cSld>
  <p:clrMap bg1="lt1" tx1="dk1" bg2="lt2" tx2="dk2" accent1="accent1" accent2="accent2" accent3="accent3" accent4="accent4" accent5="accent5" accent6="accent6" hlink="hlink" folHlink="folHlink"/>
  <p:hf ftr="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2407299-8F8E-470E-A2BB-1AEEAB1DD04C}" type="slidenum">
              <a:rPr lang="en-US" smtClean="0"/>
              <a:pPr>
                <a:defRPr/>
              </a:pPr>
              <a:t>1</a:t>
            </a:fld>
            <a:endParaRPr lang="en-US"/>
          </a:p>
        </p:txBody>
      </p:sp>
      <p:sp>
        <p:nvSpPr>
          <p:cNvPr id="5" name="Date Placeholder 4"/>
          <p:cNvSpPr>
            <a:spLocks noGrp="1"/>
          </p:cNvSpPr>
          <p:nvPr>
            <p:ph type="dt" idx="11"/>
          </p:nvPr>
        </p:nvSpPr>
        <p:spPr/>
        <p:txBody>
          <a:bodyPr/>
          <a:lstStyle/>
          <a:p>
            <a:pPr>
              <a:defRPr/>
            </a:pPr>
            <a:fld id="{26EB3992-A50F-48CC-A0FF-4149F2D82BC2}" type="datetime1">
              <a:rPr lang="en-US" smtClean="0"/>
              <a:t>10/5/26</a:t>
            </a:fld>
            <a:endParaRPr lang="en-US"/>
          </a:p>
        </p:txBody>
      </p:sp>
      <p:sp>
        <p:nvSpPr>
          <p:cNvPr id="6" name="Header Placeholder 5"/>
          <p:cNvSpPr>
            <a:spLocks noGrp="1"/>
          </p:cNvSpPr>
          <p:nvPr>
            <p:ph type="hdr" sz="quarter" idx="12"/>
          </p:nvPr>
        </p:nvSpPr>
        <p:spPr/>
        <p:txBody>
          <a:bodyPr/>
          <a:lstStyle/>
          <a:p>
            <a:pPr>
              <a:defRPr/>
            </a:pPr>
            <a:r>
              <a:rPr lang="vi-VN"/>
              <a:t>Công nghệ phần mềm - CO3001</a:t>
            </a:r>
          </a:p>
        </p:txBody>
      </p:sp>
    </p:spTree>
    <p:extLst>
      <p:ext uri="{BB962C8B-B14F-4D97-AF65-F5344CB8AC3E}">
        <p14:creationId xmlns:p14="http://schemas.microsoft.com/office/powerpoint/2010/main" val="2393125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2407299-8F8E-470E-A2BB-1AEEAB1DD04C}" type="slidenum">
              <a:rPr lang="en-US" smtClean="0"/>
              <a:pPr>
                <a:defRPr/>
              </a:pPr>
              <a:t>2</a:t>
            </a:fld>
            <a:endParaRPr lang="en-US"/>
          </a:p>
        </p:txBody>
      </p:sp>
      <p:sp>
        <p:nvSpPr>
          <p:cNvPr id="5" name="Date Placeholder 4"/>
          <p:cNvSpPr>
            <a:spLocks noGrp="1"/>
          </p:cNvSpPr>
          <p:nvPr>
            <p:ph type="dt" idx="11"/>
          </p:nvPr>
        </p:nvSpPr>
        <p:spPr/>
        <p:txBody>
          <a:bodyPr/>
          <a:lstStyle/>
          <a:p>
            <a:pPr>
              <a:defRPr/>
            </a:pPr>
            <a:fld id="{485B947E-741F-417D-8037-BBD8FBBB082D}" type="datetime1">
              <a:rPr lang="en-US" smtClean="0"/>
              <a:t>10/5/26</a:t>
            </a:fld>
            <a:endParaRPr lang="en-US"/>
          </a:p>
        </p:txBody>
      </p:sp>
      <p:sp>
        <p:nvSpPr>
          <p:cNvPr id="6" name="Header Placeholder 5"/>
          <p:cNvSpPr>
            <a:spLocks noGrp="1"/>
          </p:cNvSpPr>
          <p:nvPr>
            <p:ph type="hdr" sz="quarter" idx="12"/>
          </p:nvPr>
        </p:nvSpPr>
        <p:spPr/>
        <p:txBody>
          <a:bodyPr/>
          <a:lstStyle/>
          <a:p>
            <a:pPr>
              <a:defRPr/>
            </a:pPr>
            <a:r>
              <a:rPr lang="vi-VN"/>
              <a:t>Công nghệ phần mềm - CO3001</a:t>
            </a:r>
          </a:p>
        </p:txBody>
      </p:sp>
    </p:spTree>
    <p:extLst>
      <p:ext uri="{BB962C8B-B14F-4D97-AF65-F5344CB8AC3E}">
        <p14:creationId xmlns:p14="http://schemas.microsoft.com/office/powerpoint/2010/main" val="16214834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r>
              <a:rPr lang="vi-VN" dirty="0"/>
              <a:t>Trong giai đoạn </a:t>
            </a:r>
            <a:r>
              <a:rPr lang="vi-VN" b="1" dirty="0"/>
              <a:t>Implementation</a:t>
            </a:r>
            <a:r>
              <a:rPr lang="vi-VN" dirty="0"/>
              <a:t>, chúng ta không chỉ code từng phần riêng lẻ, mà còn phải </a:t>
            </a:r>
            <a:r>
              <a:rPr lang="vi-VN" b="1" dirty="0"/>
              <a:t>kết hợp các phần đó lại thành hệ thống hoạt động được</a:t>
            </a:r>
            <a:r>
              <a:rPr lang="vi-VN" dirty="0"/>
              <a:t>.</a:t>
            </a:r>
            <a:endParaRPr lang="en-US" dirty="0"/>
          </a:p>
        </p:txBody>
      </p:sp>
      <p:sp>
        <p:nvSpPr>
          <p:cNvPr id="4" name="Slide Number Placeholder 3"/>
          <p:cNvSpPr>
            <a:spLocks noGrp="1"/>
          </p:cNvSpPr>
          <p:nvPr>
            <p:ph type="sldNum" sz="quarter" idx="10"/>
          </p:nvPr>
        </p:nvSpPr>
        <p:spPr/>
        <p:txBody>
          <a:bodyPr/>
          <a:lstStyle/>
          <a:p>
            <a:pPr>
              <a:defRPr/>
            </a:pPr>
            <a:fld id="{02407299-8F8E-470E-A2BB-1AEEAB1DD04C}" type="slidenum">
              <a:rPr lang="en-US" smtClean="0"/>
              <a:pPr>
                <a:defRPr/>
              </a:pPr>
              <a:t>3</a:t>
            </a:fld>
            <a:endParaRPr lang="en-US"/>
          </a:p>
        </p:txBody>
      </p:sp>
      <p:sp>
        <p:nvSpPr>
          <p:cNvPr id="5" name="Date Placeholder 4"/>
          <p:cNvSpPr>
            <a:spLocks noGrp="1"/>
          </p:cNvSpPr>
          <p:nvPr>
            <p:ph type="dt" idx="11"/>
          </p:nvPr>
        </p:nvSpPr>
        <p:spPr/>
        <p:txBody>
          <a:bodyPr/>
          <a:lstStyle/>
          <a:p>
            <a:pPr>
              <a:defRPr/>
            </a:pPr>
            <a:fld id="{B4495E5A-9029-4373-95D9-1EAAED44A82D}" type="datetime1">
              <a:rPr lang="en-US" smtClean="0"/>
              <a:t>10/5/26</a:t>
            </a:fld>
            <a:endParaRPr lang="en-US"/>
          </a:p>
        </p:txBody>
      </p:sp>
      <p:sp>
        <p:nvSpPr>
          <p:cNvPr id="6" name="Header Placeholder 5"/>
          <p:cNvSpPr>
            <a:spLocks noGrp="1"/>
          </p:cNvSpPr>
          <p:nvPr>
            <p:ph type="hdr" sz="quarter" idx="12"/>
          </p:nvPr>
        </p:nvSpPr>
        <p:spPr/>
        <p:txBody>
          <a:bodyPr/>
          <a:lstStyle/>
          <a:p>
            <a:pPr>
              <a:defRPr/>
            </a:pPr>
            <a:r>
              <a:rPr lang="vi-VN"/>
              <a:t>Công nghệ phần mềm - CO3001</a:t>
            </a:r>
          </a:p>
        </p:txBody>
      </p:sp>
    </p:spTree>
    <p:extLst>
      <p:ext uri="{BB962C8B-B14F-4D97-AF65-F5344CB8AC3E}">
        <p14:creationId xmlns:p14="http://schemas.microsoft.com/office/powerpoint/2010/main" val="26503140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vi-VN" dirty="0"/>
              <a:t>Các yêu cầu để làm hài lòng khách hàng</a:t>
            </a:r>
          </a:p>
          <a:p>
            <a:pPr marL="628650" lvl="1" indent="-171450">
              <a:buFont typeface="Arial" panose="020B0604020202020204" pitchFamily="34" charset="0"/>
              <a:buChar char="•"/>
            </a:pPr>
            <a:r>
              <a:rPr lang="vi-VN" dirty="0"/>
              <a:t>Tham vấn</a:t>
            </a:r>
          </a:p>
          <a:p>
            <a:pPr marL="628650" lvl="1" indent="-171450">
              <a:buFont typeface="Arial" panose="020B0604020202020204" pitchFamily="34" charset="0"/>
              <a:buChar char="•"/>
            </a:pPr>
            <a:r>
              <a:rPr lang="vi-VN" dirty="0"/>
              <a:t>Không hơn – không kém</a:t>
            </a:r>
          </a:p>
          <a:p>
            <a:pPr marL="628650" lvl="1" indent="-171450">
              <a:buFont typeface="Arial" panose="020B0604020202020204" pitchFamily="34" charset="0"/>
              <a:buChar char="•"/>
            </a:pPr>
            <a:endParaRPr lang="en-US" dirty="0"/>
          </a:p>
          <a:p>
            <a:pPr marL="171450" indent="-171450">
              <a:buFont typeface="Arial" panose="020B0604020202020204" pitchFamily="34" charset="0"/>
              <a:buChar char="•"/>
            </a:pPr>
            <a:r>
              <a:rPr lang="vi-VN" dirty="0"/>
              <a:t>Thiết kế chỉ dựa trên yêu cầu</a:t>
            </a:r>
          </a:p>
          <a:p>
            <a:pPr marL="628650" lvl="1" indent="-171450">
              <a:buFont typeface="Arial" panose="020B0604020202020204" pitchFamily="34" charset="0"/>
              <a:buChar char="•"/>
            </a:pPr>
            <a:r>
              <a:rPr lang="vi-VN" dirty="0"/>
              <a:t>Không hơn – không kém (SRS như một bản hợp đồng)</a:t>
            </a:r>
          </a:p>
          <a:p>
            <a:pPr marL="628650" lvl="1" indent="-171450">
              <a:buFont typeface="Arial" panose="020B0604020202020204" pitchFamily="34" charset="0"/>
              <a:buChar char="•"/>
            </a:pPr>
            <a:endParaRPr lang="en-US" dirty="0"/>
          </a:p>
          <a:p>
            <a:pPr marL="171450" indent="-171450">
              <a:buFont typeface="Arial" panose="020B0604020202020204" pitchFamily="34" charset="0"/>
              <a:buChar char="•"/>
            </a:pPr>
            <a:r>
              <a:rPr lang="vi-VN" dirty="0"/>
              <a:t>Triển khai chỉ dựa trên thiết kế</a:t>
            </a:r>
          </a:p>
          <a:p>
            <a:pPr marL="628650" lvl="1" indent="-171450">
              <a:buFont typeface="Arial" panose="020B0604020202020204" pitchFamily="34" charset="0"/>
              <a:buChar char="•"/>
            </a:pPr>
            <a:r>
              <a:rPr lang="vi-VN" dirty="0"/>
              <a:t>Không hơn – không kém (SDD = bản thiết kế chi tiết)</a:t>
            </a:r>
          </a:p>
          <a:p>
            <a:pPr marL="628650" lvl="1" indent="-171450">
              <a:buFont typeface="Arial" panose="020B0604020202020204" pitchFamily="34" charset="0"/>
              <a:buChar char="•"/>
            </a:pPr>
            <a:endParaRPr lang="en-US" dirty="0"/>
          </a:p>
          <a:p>
            <a:pPr marL="171450" indent="-171450">
              <a:buFont typeface="Arial" panose="020B0604020202020204" pitchFamily="34" charset="0"/>
              <a:buChar char="•"/>
            </a:pPr>
            <a:r>
              <a:rPr lang="vi-VN" dirty="0"/>
              <a:t>Kiểm thử dựa trên thiết kế và yêu cầu</a:t>
            </a:r>
          </a:p>
          <a:p>
            <a:pPr marL="628650" lvl="1" indent="-171450">
              <a:buFont typeface="Arial" panose="020B0604020202020204" pitchFamily="34" charset="0"/>
              <a:buChar char="•"/>
            </a:pPr>
            <a:r>
              <a:rPr lang="vi-VN" dirty="0"/>
              <a:t>SRS = hợp đồng</a:t>
            </a:r>
          </a:p>
          <a:p>
            <a:pPr marL="628650" lvl="1" indent="-171450">
              <a:buFont typeface="Arial" panose="020B0604020202020204" pitchFamily="34" charset="0"/>
              <a:buChar char="•"/>
            </a:pPr>
            <a:r>
              <a:rPr lang="vi-VN" baseline="0" dirty="0"/>
              <a:t>SDD = bản thiết kế chi tiết (blueprint)</a:t>
            </a:r>
          </a:p>
          <a:p>
            <a:pPr marL="628650" lvl="1"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pPr>
              <a:defRPr/>
            </a:pPr>
            <a:fld id="{02407299-8F8E-470E-A2BB-1AEEAB1DD04C}" type="slidenum">
              <a:rPr lang="en-US" smtClean="0"/>
              <a:pPr>
                <a:defRPr/>
              </a:pPr>
              <a:t>4</a:t>
            </a:fld>
            <a:endParaRPr lang="en-US"/>
          </a:p>
        </p:txBody>
      </p:sp>
      <p:sp>
        <p:nvSpPr>
          <p:cNvPr id="5" name="Date Placeholder 4"/>
          <p:cNvSpPr>
            <a:spLocks noGrp="1"/>
          </p:cNvSpPr>
          <p:nvPr>
            <p:ph type="dt" idx="11"/>
          </p:nvPr>
        </p:nvSpPr>
        <p:spPr/>
        <p:txBody>
          <a:bodyPr/>
          <a:lstStyle/>
          <a:p>
            <a:pPr>
              <a:defRPr/>
            </a:pPr>
            <a:fld id="{E207A427-0212-4EAF-8A19-5AC81DC61832}" type="datetime1">
              <a:rPr lang="en-US" smtClean="0"/>
              <a:t>10/5/26</a:t>
            </a:fld>
            <a:endParaRPr lang="en-US"/>
          </a:p>
        </p:txBody>
      </p:sp>
      <p:sp>
        <p:nvSpPr>
          <p:cNvPr id="6" name="Header Placeholder 5"/>
          <p:cNvSpPr>
            <a:spLocks noGrp="1"/>
          </p:cNvSpPr>
          <p:nvPr>
            <p:ph type="hdr" sz="quarter" idx="12"/>
          </p:nvPr>
        </p:nvSpPr>
        <p:spPr/>
        <p:txBody>
          <a:bodyPr/>
          <a:lstStyle/>
          <a:p>
            <a:pPr>
              <a:defRPr/>
            </a:pPr>
            <a:r>
              <a:rPr lang="vi-VN"/>
              <a:t>Công nghệ phần mềm - CO3001</a:t>
            </a:r>
          </a:p>
        </p:txBody>
      </p:sp>
    </p:spTree>
    <p:extLst>
      <p:ext uri="{BB962C8B-B14F-4D97-AF65-F5344CB8AC3E}">
        <p14:creationId xmlns:p14="http://schemas.microsoft.com/office/powerpoint/2010/main" val="2196051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100" b="1" dirty="0"/>
              <a:t>quy trình implementation ở mức individual unit</a:t>
            </a:r>
            <a:r>
              <a:rPr lang="vi-VN" sz="1100" dirty="0"/>
              <a:t>. Điểm đáng chú ý là không xem implementation đơn giản là “viết code”, mà bao gồm cả </a:t>
            </a:r>
            <a:r>
              <a:rPr lang="vi-VN" sz="1100" b="1" dirty="0"/>
              <a:t>design → coding → inspection → compilation → testing</a:t>
            </a:r>
            <a:r>
              <a:rPr lang="vi-VN" sz="1100" dirty="0"/>
              <a:t>.</a:t>
            </a:r>
            <a:endParaRPr lang="en-US" sz="1100" dirty="0"/>
          </a:p>
        </p:txBody>
      </p:sp>
      <p:sp>
        <p:nvSpPr>
          <p:cNvPr id="4" name="Slide Number Placeholder 3"/>
          <p:cNvSpPr>
            <a:spLocks noGrp="1"/>
          </p:cNvSpPr>
          <p:nvPr>
            <p:ph type="sldNum" sz="quarter" idx="10"/>
          </p:nvPr>
        </p:nvSpPr>
        <p:spPr/>
        <p:txBody>
          <a:bodyPr/>
          <a:lstStyle/>
          <a:p>
            <a:pPr>
              <a:defRPr/>
            </a:pPr>
            <a:fld id="{02407299-8F8E-470E-A2BB-1AEEAB1DD04C}" type="slidenum">
              <a:rPr lang="en-US" smtClean="0"/>
              <a:pPr>
                <a:defRPr/>
              </a:pPr>
              <a:t>6</a:t>
            </a:fld>
            <a:endParaRPr lang="en-US"/>
          </a:p>
        </p:txBody>
      </p:sp>
      <p:sp>
        <p:nvSpPr>
          <p:cNvPr id="5" name="Date Placeholder 4"/>
          <p:cNvSpPr>
            <a:spLocks noGrp="1"/>
          </p:cNvSpPr>
          <p:nvPr>
            <p:ph type="dt" idx="11"/>
          </p:nvPr>
        </p:nvSpPr>
        <p:spPr/>
        <p:txBody>
          <a:bodyPr/>
          <a:lstStyle/>
          <a:p>
            <a:pPr>
              <a:defRPr/>
            </a:pPr>
            <a:fld id="{1E392AB6-07D5-4D1B-872C-B29F47210D99}" type="datetime1">
              <a:rPr lang="en-US" smtClean="0"/>
              <a:t>10/5/26</a:t>
            </a:fld>
            <a:endParaRPr lang="en-US"/>
          </a:p>
        </p:txBody>
      </p:sp>
      <p:sp>
        <p:nvSpPr>
          <p:cNvPr id="6" name="Header Placeholder 5"/>
          <p:cNvSpPr>
            <a:spLocks noGrp="1"/>
          </p:cNvSpPr>
          <p:nvPr>
            <p:ph type="hdr" sz="quarter" idx="12"/>
          </p:nvPr>
        </p:nvSpPr>
        <p:spPr/>
        <p:txBody>
          <a:bodyPr/>
          <a:lstStyle/>
          <a:p>
            <a:pPr>
              <a:defRPr/>
            </a:pPr>
            <a:r>
              <a:rPr lang="vi-VN"/>
              <a:t>Công nghệ phần mềm - CO3001</a:t>
            </a:r>
          </a:p>
        </p:txBody>
      </p:sp>
    </p:spTree>
    <p:extLst>
      <p:ext uri="{BB962C8B-B14F-4D97-AF65-F5344CB8AC3E}">
        <p14:creationId xmlns:p14="http://schemas.microsoft.com/office/powerpoint/2010/main" val="39291264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Trước khi tự implement một chức năng, developer nên kiểm tra xem </a:t>
            </a:r>
            <a:r>
              <a:rPr lang="vi-VN" b="1" dirty="0"/>
              <a:t>đã có code/component/library phù hợp để tái sử dụng hay chưa</a:t>
            </a:r>
            <a:r>
              <a:rPr lang="vi-VN" dirty="0"/>
              <a:t>.</a:t>
            </a:r>
          </a:p>
          <a:p>
            <a:endParaRPr lang="vi-VN" dirty="0"/>
          </a:p>
          <a:p>
            <a:r>
              <a:rPr lang="vi-VN" b="1" dirty="0"/>
              <a:t>Tại sao nên reuse?</a:t>
            </a:r>
          </a:p>
          <a:p>
            <a:r>
              <a:rPr lang="vi-VN" dirty="0"/>
              <a:t>Code đã tồn tại và đã được kiểm thử thường giúp:</a:t>
            </a:r>
          </a:p>
          <a:p>
            <a:pPr marL="171450" indent="-171450">
              <a:buFont typeface="Arial" panose="020B0604020202020204" pitchFamily="34" charset="0"/>
              <a:buChar char="•"/>
            </a:pPr>
            <a:r>
              <a:rPr lang="vi-VN" dirty="0"/>
              <a:t>giảm thời gian development;</a:t>
            </a:r>
          </a:p>
          <a:p>
            <a:pPr marL="171450" indent="-171450">
              <a:buFont typeface="Arial" panose="020B0604020202020204" pitchFamily="34" charset="0"/>
              <a:buChar char="•"/>
            </a:pPr>
            <a:r>
              <a:rPr lang="vi-VN" dirty="0"/>
              <a:t>giảm duplicated code;</a:t>
            </a:r>
          </a:p>
          <a:p>
            <a:pPr marL="171450" indent="-171450">
              <a:buFont typeface="Arial" panose="020B0604020202020204" pitchFamily="34" charset="0"/>
              <a:buChar char="•"/>
            </a:pPr>
            <a:r>
              <a:rPr lang="vi-VN" dirty="0"/>
              <a:t>giảm khả năng tạo thêm defects;</a:t>
            </a:r>
          </a:p>
          <a:p>
            <a:pPr marL="171450" indent="-171450">
              <a:buFont typeface="Arial" panose="020B0604020202020204" pitchFamily="34" charset="0"/>
              <a:buChar char="•"/>
            </a:pPr>
            <a:r>
              <a:rPr lang="vi-VN" dirty="0"/>
              <a:t>tăng consistency giữa các phần của hệ thống.</a:t>
            </a:r>
          </a:p>
          <a:p>
            <a:r>
              <a:rPr lang="vi-VN" dirty="0"/>
              <a:t>Nhưng </a:t>
            </a:r>
            <a:r>
              <a:rPr lang="vi-VN" b="1" dirty="0"/>
              <a:t>reuse first không có nghĩa là reuse bằng mọi giá</a:t>
            </a:r>
            <a:r>
              <a:rPr lang="vi-VN" dirty="0"/>
              <a:t>. Nếu component hiện tại không thực sự phù hợp hoặc việc sửa nó tạo coupling không cần thiết, viết component mới có thể hợp lý hơn.</a:t>
            </a:r>
          </a:p>
          <a:p>
            <a:endParaRPr lang="en-US" dirty="0"/>
          </a:p>
          <a:p>
            <a:r>
              <a:rPr lang="vi-VN" dirty="0"/>
              <a:t>Nếu một phần code </a:t>
            </a:r>
            <a:r>
              <a:rPr lang="vi-VN" b="1" dirty="0"/>
              <a:t>chỉ được phép sử dụng theo một cách nhất định</a:t>
            </a:r>
            <a:r>
              <a:rPr lang="vi-VN" dirty="0"/>
              <a:t>, đừng chỉ viết documentation nói rằng “hãy sử dụng như thế này”. Hãy thiết kế code để những cách sử dụng sai </a:t>
            </a:r>
            <a:r>
              <a:rPr lang="vi-VN" b="1" dirty="0"/>
              <a:t>không thể hoặc khó xảy ra</a:t>
            </a:r>
            <a:r>
              <a:rPr lang="vi-VN" dirty="0"/>
              <a:t>.</a:t>
            </a:r>
            <a:endParaRPr lang="en-US" dirty="0"/>
          </a:p>
        </p:txBody>
      </p:sp>
      <p:sp>
        <p:nvSpPr>
          <p:cNvPr id="4" name="Header Placeholder 3"/>
          <p:cNvSpPr>
            <a:spLocks noGrp="1"/>
          </p:cNvSpPr>
          <p:nvPr>
            <p:ph type="hdr" sz="quarter" idx="10"/>
          </p:nvPr>
        </p:nvSpPr>
        <p:spPr/>
        <p:txBody>
          <a:bodyPr/>
          <a:lstStyle/>
          <a:p>
            <a:pPr>
              <a:defRPr/>
            </a:pPr>
            <a:r>
              <a:rPr lang="vi-VN"/>
              <a:t>Công nghệ phần mềm - CO3001</a:t>
            </a:r>
          </a:p>
        </p:txBody>
      </p:sp>
      <p:sp>
        <p:nvSpPr>
          <p:cNvPr id="5" name="Date Placeholder 4"/>
          <p:cNvSpPr>
            <a:spLocks noGrp="1"/>
          </p:cNvSpPr>
          <p:nvPr>
            <p:ph type="dt" idx="11"/>
          </p:nvPr>
        </p:nvSpPr>
        <p:spPr/>
        <p:txBody>
          <a:bodyPr/>
          <a:lstStyle/>
          <a:p>
            <a:pPr>
              <a:defRPr/>
            </a:pPr>
            <a:fld id="{14FB911D-E0E9-4700-BBA3-73561CA332FD}" type="datetime1">
              <a:rPr lang="en-US" smtClean="0"/>
              <a:t>10/5/26</a:t>
            </a:fld>
            <a:endParaRPr lang="en-US"/>
          </a:p>
        </p:txBody>
      </p:sp>
      <p:sp>
        <p:nvSpPr>
          <p:cNvPr id="6" name="Slide Number Placeholder 5"/>
          <p:cNvSpPr>
            <a:spLocks noGrp="1"/>
          </p:cNvSpPr>
          <p:nvPr>
            <p:ph type="sldNum" sz="quarter" idx="12"/>
          </p:nvPr>
        </p:nvSpPr>
        <p:spPr/>
        <p:txBody>
          <a:bodyPr/>
          <a:lstStyle/>
          <a:p>
            <a:pPr>
              <a:defRPr/>
            </a:pPr>
            <a:fld id="{02407299-8F8E-470E-A2BB-1AEEAB1DD04C}" type="slidenum">
              <a:rPr lang="en-US" smtClean="0"/>
              <a:pPr>
                <a:defRPr/>
              </a:pPr>
              <a:t>7</a:t>
            </a:fld>
            <a:endParaRPr lang="en-US"/>
          </a:p>
        </p:txBody>
      </p:sp>
    </p:spTree>
    <p:extLst>
      <p:ext uri="{BB962C8B-B14F-4D97-AF65-F5344CB8AC3E}">
        <p14:creationId xmlns:p14="http://schemas.microsoft.com/office/powerpoint/2010/main" val="40488110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Một biến, method hay member chỉ nên được nhìn thấy ở phạm vi nhỏ nhất cần thiết.</a:t>
            </a:r>
            <a:endParaRPr lang="vi-VN" dirty="0"/>
          </a:p>
          <a:p>
            <a:r>
              <a:rPr lang="vi-VN" dirty="0"/>
              <a:t>Đừng cho một thành phần quyền truy cập rộng hơn mức nó thực sự cần. Đây là cách áp dụng trực tiếp </a:t>
            </a:r>
            <a:r>
              <a:rPr lang="vi-VN" b="1" dirty="0"/>
              <a:t>information hiding / encapsulation</a:t>
            </a:r>
            <a:r>
              <a:rPr lang="vi-VN" dirty="0"/>
              <a:t>.</a:t>
            </a:r>
          </a:p>
          <a:p>
            <a:endParaRPr lang="en-US" dirty="0"/>
          </a:p>
        </p:txBody>
      </p:sp>
      <p:sp>
        <p:nvSpPr>
          <p:cNvPr id="4" name="Header Placeholder 3"/>
          <p:cNvSpPr>
            <a:spLocks noGrp="1"/>
          </p:cNvSpPr>
          <p:nvPr>
            <p:ph type="hdr" sz="quarter" idx="10"/>
          </p:nvPr>
        </p:nvSpPr>
        <p:spPr/>
        <p:txBody>
          <a:bodyPr/>
          <a:lstStyle/>
          <a:p>
            <a:pPr>
              <a:defRPr/>
            </a:pPr>
            <a:r>
              <a:rPr lang="vi-VN"/>
              <a:t>Công nghệ phần mềm - CO3001</a:t>
            </a:r>
          </a:p>
        </p:txBody>
      </p:sp>
      <p:sp>
        <p:nvSpPr>
          <p:cNvPr id="5" name="Date Placeholder 4"/>
          <p:cNvSpPr>
            <a:spLocks noGrp="1"/>
          </p:cNvSpPr>
          <p:nvPr>
            <p:ph type="dt" idx="11"/>
          </p:nvPr>
        </p:nvSpPr>
        <p:spPr/>
        <p:txBody>
          <a:bodyPr/>
          <a:lstStyle/>
          <a:p>
            <a:pPr>
              <a:defRPr/>
            </a:pPr>
            <a:fld id="{5489A4A8-D430-4C35-BD0D-58E6B1D8E430}" type="datetime1">
              <a:rPr lang="en-US" smtClean="0"/>
              <a:t>10/5/26</a:t>
            </a:fld>
            <a:endParaRPr lang="en-US"/>
          </a:p>
        </p:txBody>
      </p:sp>
      <p:sp>
        <p:nvSpPr>
          <p:cNvPr id="6" name="Slide Number Placeholder 5"/>
          <p:cNvSpPr>
            <a:spLocks noGrp="1"/>
          </p:cNvSpPr>
          <p:nvPr>
            <p:ph type="sldNum" sz="quarter" idx="12"/>
          </p:nvPr>
        </p:nvSpPr>
        <p:spPr/>
        <p:txBody>
          <a:bodyPr/>
          <a:lstStyle/>
          <a:p>
            <a:pPr>
              <a:defRPr/>
            </a:pPr>
            <a:fld id="{02407299-8F8E-470E-A2BB-1AEEAB1DD04C}" type="slidenum">
              <a:rPr lang="en-US" smtClean="0"/>
              <a:pPr>
                <a:defRPr/>
              </a:pPr>
              <a:t>8</a:t>
            </a:fld>
            <a:endParaRPr lang="en-US"/>
          </a:p>
        </p:txBody>
      </p:sp>
    </p:spTree>
    <p:extLst>
      <p:ext uri="{BB962C8B-B14F-4D97-AF65-F5344CB8AC3E}">
        <p14:creationId xmlns:p14="http://schemas.microsoft.com/office/powerpoint/2010/main" val="30739802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vi-VN" dirty="0"/>
              <a:t>Ý chính là exception không đơn giản là “có lỗi thì </a:t>
            </a:r>
            <a:r>
              <a:rPr lang="vi-VN" sz="1200" kern="1200" dirty="0">
                <a:solidFill>
                  <a:schemeClr val="tx1"/>
                </a:solidFill>
                <a:latin typeface="+mn-lt"/>
                <a:ea typeface="+mn-ea"/>
                <a:cs typeface="+mn-cs"/>
              </a:rPr>
              <a:t>catch</a:t>
            </a:r>
            <a:r>
              <a:rPr lang="vi-VN" dirty="0"/>
              <a:t>”, mà developer phải quyết định </a:t>
            </a:r>
            <a:r>
              <a:rPr lang="vi-VN" b="1" dirty="0"/>
              <a:t>ai là người có đủ thông tin để xử lý lỗi và lỗi nào thực sự nên được biểu diễn bằng exception</a:t>
            </a:r>
            <a:r>
              <a:rPr lang="vi-VN" dirty="0"/>
              <a:t>.</a:t>
            </a:r>
          </a:p>
          <a:p>
            <a:pPr marL="0" indent="0">
              <a:buFont typeface="Arial" panose="020B0604020202020204" pitchFamily="34" charset="0"/>
              <a:buNone/>
            </a:pPr>
            <a:endParaRPr lang="vi-VN" dirty="0"/>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vi-VN" dirty="0"/>
              <a:t>một số </a:t>
            </a:r>
            <a:r>
              <a:rPr lang="vi-VN" b="1" dirty="0"/>
              <a:t>guidelines khi thiết kế exception handling:</a:t>
            </a:r>
            <a:endParaRPr lang="vi-VN" dirty="0"/>
          </a:p>
          <a:p>
            <a:pPr marL="0" indent="0">
              <a:buFont typeface="Arial" panose="020B0604020202020204" pitchFamily="34" charset="0"/>
              <a:buNone/>
            </a:pPr>
            <a:r>
              <a:rPr lang="vi-VN" dirty="0"/>
              <a:t>1. </a:t>
            </a:r>
            <a:r>
              <a:rPr lang="en-US" dirty="0" err="1"/>
              <a:t>Chỉ</a:t>
            </a:r>
            <a:r>
              <a:rPr lang="en-US" dirty="0"/>
              <a:t> </a:t>
            </a:r>
            <a:r>
              <a:rPr lang="en-US" sz="1200" kern="1200" dirty="0">
                <a:solidFill>
                  <a:schemeClr val="tx1"/>
                </a:solidFill>
                <a:latin typeface="+mn-lt"/>
                <a:ea typeface="+mn-ea"/>
                <a:cs typeface="+mn-cs"/>
              </a:rPr>
              <a:t>catch</a:t>
            </a:r>
            <a:r>
              <a:rPr lang="en-US" dirty="0"/>
              <a:t> </a:t>
            </a:r>
            <a:r>
              <a:rPr lang="en-US" dirty="0" err="1"/>
              <a:t>một</a:t>
            </a:r>
            <a:r>
              <a:rPr lang="en-US" dirty="0"/>
              <a:t> exception </a:t>
            </a:r>
            <a:r>
              <a:rPr lang="en-US" dirty="0" err="1"/>
              <a:t>nếu</a:t>
            </a:r>
            <a:r>
              <a:rPr lang="en-US" dirty="0"/>
              <a:t> </a:t>
            </a:r>
            <a:r>
              <a:rPr lang="en-US" dirty="0" err="1"/>
              <a:t>tại</a:t>
            </a:r>
            <a:r>
              <a:rPr lang="en-US" dirty="0"/>
              <a:t> </a:t>
            </a:r>
            <a:r>
              <a:rPr lang="en-US" dirty="0" err="1"/>
              <a:t>vị</a:t>
            </a:r>
            <a:r>
              <a:rPr lang="en-US" dirty="0"/>
              <a:t> </a:t>
            </a:r>
            <a:r>
              <a:rPr lang="en-US" dirty="0" err="1"/>
              <a:t>trí</a:t>
            </a:r>
            <a:r>
              <a:rPr lang="en-US" dirty="0"/>
              <a:t> </a:t>
            </a:r>
            <a:r>
              <a:rPr lang="en-US" dirty="0" err="1"/>
              <a:t>đó</a:t>
            </a:r>
            <a:r>
              <a:rPr lang="en-US" dirty="0"/>
              <a:t> </a:t>
            </a:r>
            <a:r>
              <a:rPr lang="en-US" dirty="0" err="1"/>
              <a:t>chúng</a:t>
            </a:r>
            <a:r>
              <a:rPr lang="en-US" dirty="0"/>
              <a:t> ta </a:t>
            </a:r>
            <a:r>
              <a:rPr lang="en-US" b="1" dirty="0" err="1"/>
              <a:t>biết</a:t>
            </a:r>
            <a:r>
              <a:rPr lang="en-US" b="1" dirty="0"/>
              <a:t> </a:t>
            </a:r>
            <a:r>
              <a:rPr lang="en-US" b="1" dirty="0" err="1"/>
              <a:t>phải</a:t>
            </a:r>
            <a:r>
              <a:rPr lang="en-US" b="1" dirty="0"/>
              <a:t> </a:t>
            </a:r>
            <a:r>
              <a:rPr lang="en-US" b="1" dirty="0" err="1"/>
              <a:t>làm</a:t>
            </a:r>
            <a:r>
              <a:rPr lang="en-US" b="1" dirty="0"/>
              <a:t> </a:t>
            </a:r>
            <a:r>
              <a:rPr lang="en-US" b="1" dirty="0" err="1"/>
              <a:t>gì</a:t>
            </a:r>
            <a:r>
              <a:rPr lang="en-US" b="1" dirty="0"/>
              <a:t> </a:t>
            </a:r>
            <a:r>
              <a:rPr lang="en-US" b="1" dirty="0" err="1"/>
              <a:t>để</a:t>
            </a:r>
            <a:r>
              <a:rPr lang="en-US" b="1" dirty="0"/>
              <a:t> </a:t>
            </a:r>
            <a:r>
              <a:rPr lang="en-US" b="1" dirty="0" err="1"/>
              <a:t>xử</a:t>
            </a:r>
            <a:r>
              <a:rPr lang="en-US" b="1" dirty="0"/>
              <a:t> </a:t>
            </a:r>
            <a:r>
              <a:rPr lang="en-US" b="1" dirty="0" err="1"/>
              <a:t>lý</a:t>
            </a:r>
            <a:r>
              <a:rPr lang="en-US" b="1" dirty="0"/>
              <a:t> </a:t>
            </a:r>
            <a:r>
              <a:rPr lang="en-US" b="1" dirty="0" err="1"/>
              <a:t>nó</a:t>
            </a:r>
            <a:r>
              <a:rPr lang="en-US" dirty="0"/>
              <a:t>.</a:t>
            </a:r>
            <a:br>
              <a:rPr lang="en-US" dirty="0"/>
            </a:br>
            <a:r>
              <a:rPr lang="en-US" dirty="0"/>
              <a:t>2. </a:t>
            </a:r>
            <a:r>
              <a:rPr lang="en-US" dirty="0" err="1"/>
              <a:t>Không</a:t>
            </a:r>
            <a:r>
              <a:rPr lang="en-US" dirty="0"/>
              <a:t> </a:t>
            </a:r>
            <a:r>
              <a:rPr lang="en-US" dirty="0" err="1"/>
              <a:t>nên</a:t>
            </a:r>
            <a:r>
              <a:rPr lang="en-US" dirty="0"/>
              <a:t> </a:t>
            </a:r>
            <a:r>
              <a:rPr lang="en-US" dirty="0" err="1"/>
              <a:t>thiết</a:t>
            </a:r>
            <a:r>
              <a:rPr lang="en-US" dirty="0"/>
              <a:t> </a:t>
            </a:r>
            <a:r>
              <a:rPr lang="en-US" dirty="0" err="1"/>
              <a:t>kế</a:t>
            </a:r>
            <a:r>
              <a:rPr lang="en-US" dirty="0"/>
              <a:t> </a:t>
            </a:r>
            <a:r>
              <a:rPr lang="en-US" dirty="0" err="1"/>
              <a:t>một</a:t>
            </a:r>
            <a:r>
              <a:rPr lang="en-US" dirty="0"/>
              <a:t> function </a:t>
            </a:r>
            <a:r>
              <a:rPr lang="en-US" dirty="0" err="1"/>
              <a:t>khiến</a:t>
            </a:r>
            <a:r>
              <a:rPr lang="en-US" dirty="0"/>
              <a:t> caller </a:t>
            </a:r>
            <a:r>
              <a:rPr lang="en-US" dirty="0" err="1"/>
              <a:t>phải</a:t>
            </a:r>
            <a:r>
              <a:rPr lang="en-US" dirty="0"/>
              <a:t> </a:t>
            </a:r>
            <a:r>
              <a:rPr lang="en-US" dirty="0" err="1"/>
              <a:t>xử</a:t>
            </a:r>
            <a:r>
              <a:rPr lang="en-US" dirty="0"/>
              <a:t> </a:t>
            </a:r>
            <a:r>
              <a:rPr lang="en-US" dirty="0" err="1"/>
              <a:t>lý</a:t>
            </a:r>
            <a:r>
              <a:rPr lang="en-US" dirty="0"/>
              <a:t> </a:t>
            </a:r>
            <a:r>
              <a:rPr lang="en-US" dirty="0" err="1"/>
              <a:t>quá</a:t>
            </a:r>
            <a:r>
              <a:rPr lang="en-US" dirty="0"/>
              <a:t> </a:t>
            </a:r>
            <a:r>
              <a:rPr lang="en-US" dirty="0" err="1"/>
              <a:t>nhiều</a:t>
            </a:r>
            <a:r>
              <a:rPr lang="en-US" dirty="0"/>
              <a:t> exceptions </a:t>
            </a:r>
            <a:r>
              <a:rPr lang="en-US" dirty="0" err="1"/>
              <a:t>không</a:t>
            </a:r>
            <a:r>
              <a:rPr lang="en-US" dirty="0"/>
              <a:t> </a:t>
            </a:r>
            <a:r>
              <a:rPr lang="en-US" dirty="0" err="1"/>
              <a:t>cần</a:t>
            </a:r>
            <a:r>
              <a:rPr lang="en-US" dirty="0"/>
              <a:t> </a:t>
            </a:r>
            <a:r>
              <a:rPr lang="en-US" dirty="0" err="1"/>
              <a:t>thiết</a:t>
            </a:r>
            <a:r>
              <a:rPr lang="en-US" dirty="0"/>
              <a:t>.</a:t>
            </a:r>
            <a:br>
              <a:rPr lang="en-US" dirty="0"/>
            </a:br>
            <a:r>
              <a:rPr lang="en-US" dirty="0"/>
              <a:t>3. </a:t>
            </a:r>
            <a:r>
              <a:rPr lang="vi-VN" dirty="0"/>
              <a:t>Không nên dùng exception để thay thế cho những điều kiện có thể kiểm tra bình thường.</a:t>
            </a:r>
            <a:endParaRPr lang="en-US" dirty="0"/>
          </a:p>
        </p:txBody>
      </p:sp>
      <p:sp>
        <p:nvSpPr>
          <p:cNvPr id="4" name="Slide Number Placeholder 3"/>
          <p:cNvSpPr>
            <a:spLocks noGrp="1"/>
          </p:cNvSpPr>
          <p:nvPr>
            <p:ph type="sldNum" sz="quarter" idx="10"/>
          </p:nvPr>
        </p:nvSpPr>
        <p:spPr/>
        <p:txBody>
          <a:bodyPr/>
          <a:lstStyle/>
          <a:p>
            <a:pPr>
              <a:defRPr/>
            </a:pPr>
            <a:fld id="{02407299-8F8E-470E-A2BB-1AEEAB1DD04C}" type="slidenum">
              <a:rPr lang="en-US" smtClean="0"/>
              <a:pPr>
                <a:defRPr/>
              </a:pPr>
              <a:t>9</a:t>
            </a:fld>
            <a:endParaRPr lang="en-US"/>
          </a:p>
        </p:txBody>
      </p:sp>
      <p:sp>
        <p:nvSpPr>
          <p:cNvPr id="5" name="Date Placeholder 4"/>
          <p:cNvSpPr>
            <a:spLocks noGrp="1"/>
          </p:cNvSpPr>
          <p:nvPr>
            <p:ph type="dt" idx="11"/>
          </p:nvPr>
        </p:nvSpPr>
        <p:spPr/>
        <p:txBody>
          <a:bodyPr/>
          <a:lstStyle/>
          <a:p>
            <a:pPr>
              <a:defRPr/>
            </a:pPr>
            <a:fld id="{8A108F12-B0CB-432B-B500-75757C692331}" type="datetime1">
              <a:rPr lang="en-US" smtClean="0"/>
              <a:t>10/5/26</a:t>
            </a:fld>
            <a:endParaRPr lang="en-US"/>
          </a:p>
        </p:txBody>
      </p:sp>
      <p:sp>
        <p:nvSpPr>
          <p:cNvPr id="6" name="Header Placeholder 5"/>
          <p:cNvSpPr>
            <a:spLocks noGrp="1"/>
          </p:cNvSpPr>
          <p:nvPr>
            <p:ph type="hdr" sz="quarter" idx="12"/>
          </p:nvPr>
        </p:nvSpPr>
        <p:spPr/>
        <p:txBody>
          <a:bodyPr/>
          <a:lstStyle/>
          <a:p>
            <a:pPr>
              <a:defRPr/>
            </a:pPr>
            <a:r>
              <a:rPr lang="vi-VN"/>
              <a:t>Công nghệ phần mềm - CO3001</a:t>
            </a:r>
          </a:p>
        </p:txBody>
      </p:sp>
    </p:spTree>
    <p:extLst>
      <p:ext uri="{BB962C8B-B14F-4D97-AF65-F5344CB8AC3E}">
        <p14:creationId xmlns:p14="http://schemas.microsoft.com/office/powerpoint/2010/main" val="23282067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100" dirty="0"/>
          </a:p>
        </p:txBody>
      </p:sp>
      <p:sp>
        <p:nvSpPr>
          <p:cNvPr id="4" name="Slide Number Placeholder 3"/>
          <p:cNvSpPr>
            <a:spLocks noGrp="1"/>
          </p:cNvSpPr>
          <p:nvPr>
            <p:ph type="sldNum" sz="quarter" idx="10"/>
          </p:nvPr>
        </p:nvSpPr>
        <p:spPr/>
        <p:txBody>
          <a:bodyPr/>
          <a:lstStyle/>
          <a:p>
            <a:pPr>
              <a:defRPr/>
            </a:pPr>
            <a:fld id="{02407299-8F8E-470E-A2BB-1AEEAB1DD04C}" type="slidenum">
              <a:rPr lang="en-US" smtClean="0"/>
              <a:pPr>
                <a:defRPr/>
              </a:pPr>
              <a:t>10</a:t>
            </a:fld>
            <a:endParaRPr lang="en-US"/>
          </a:p>
        </p:txBody>
      </p:sp>
      <p:sp>
        <p:nvSpPr>
          <p:cNvPr id="5" name="Date Placeholder 4"/>
          <p:cNvSpPr>
            <a:spLocks noGrp="1"/>
          </p:cNvSpPr>
          <p:nvPr>
            <p:ph type="dt" idx="11"/>
          </p:nvPr>
        </p:nvSpPr>
        <p:spPr/>
        <p:txBody>
          <a:bodyPr/>
          <a:lstStyle/>
          <a:p>
            <a:pPr>
              <a:defRPr/>
            </a:pPr>
            <a:fld id="{4A1E5D1B-DA0D-47FC-8EC9-BB4DBED4BDA4}" type="datetime1">
              <a:rPr lang="en-US" smtClean="0"/>
              <a:t>10/5/26</a:t>
            </a:fld>
            <a:endParaRPr lang="en-US"/>
          </a:p>
        </p:txBody>
      </p:sp>
      <p:sp>
        <p:nvSpPr>
          <p:cNvPr id="6" name="Header Placeholder 5"/>
          <p:cNvSpPr>
            <a:spLocks noGrp="1"/>
          </p:cNvSpPr>
          <p:nvPr>
            <p:ph type="hdr" sz="quarter" idx="12"/>
          </p:nvPr>
        </p:nvSpPr>
        <p:spPr/>
        <p:txBody>
          <a:bodyPr/>
          <a:lstStyle/>
          <a:p>
            <a:pPr>
              <a:defRPr/>
            </a:pPr>
            <a:r>
              <a:rPr lang="vi-VN"/>
              <a:t>Công nghệ phần mềm - CO3001</a:t>
            </a:r>
          </a:p>
        </p:txBody>
      </p:sp>
    </p:spTree>
    <p:extLst>
      <p:ext uri="{BB962C8B-B14F-4D97-AF65-F5344CB8AC3E}">
        <p14:creationId xmlns:p14="http://schemas.microsoft.com/office/powerpoint/2010/main" val="33005218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100" dirty="0"/>
          </a:p>
        </p:txBody>
      </p:sp>
      <p:sp>
        <p:nvSpPr>
          <p:cNvPr id="4" name="Slide Number Placeholder 3"/>
          <p:cNvSpPr>
            <a:spLocks noGrp="1"/>
          </p:cNvSpPr>
          <p:nvPr>
            <p:ph type="sldNum" sz="quarter" idx="10"/>
          </p:nvPr>
        </p:nvSpPr>
        <p:spPr/>
        <p:txBody>
          <a:bodyPr/>
          <a:lstStyle/>
          <a:p>
            <a:pPr>
              <a:defRPr/>
            </a:pPr>
            <a:fld id="{02407299-8F8E-470E-A2BB-1AEEAB1DD04C}" type="slidenum">
              <a:rPr lang="en-US" smtClean="0"/>
              <a:pPr>
                <a:defRPr/>
              </a:pPr>
              <a:t>11</a:t>
            </a:fld>
            <a:endParaRPr lang="en-US"/>
          </a:p>
        </p:txBody>
      </p:sp>
      <p:sp>
        <p:nvSpPr>
          <p:cNvPr id="5" name="Date Placeholder 4"/>
          <p:cNvSpPr>
            <a:spLocks noGrp="1"/>
          </p:cNvSpPr>
          <p:nvPr>
            <p:ph type="dt" idx="11"/>
          </p:nvPr>
        </p:nvSpPr>
        <p:spPr/>
        <p:txBody>
          <a:bodyPr/>
          <a:lstStyle/>
          <a:p>
            <a:pPr>
              <a:defRPr/>
            </a:pPr>
            <a:fld id="{72D60366-24C1-4C94-86FE-B31A5A667C4E}" type="datetime1">
              <a:rPr lang="en-US" smtClean="0"/>
              <a:t>10/5/26</a:t>
            </a:fld>
            <a:endParaRPr lang="en-US"/>
          </a:p>
        </p:txBody>
      </p:sp>
      <p:sp>
        <p:nvSpPr>
          <p:cNvPr id="6" name="Header Placeholder 5"/>
          <p:cNvSpPr>
            <a:spLocks noGrp="1"/>
          </p:cNvSpPr>
          <p:nvPr>
            <p:ph type="hdr" sz="quarter" idx="12"/>
          </p:nvPr>
        </p:nvSpPr>
        <p:spPr/>
        <p:txBody>
          <a:bodyPr/>
          <a:lstStyle/>
          <a:p>
            <a:pPr>
              <a:defRPr/>
            </a:pPr>
            <a:r>
              <a:rPr lang="vi-VN"/>
              <a:t>Công nghệ phần mềm - CO3001</a:t>
            </a:r>
          </a:p>
        </p:txBody>
      </p:sp>
    </p:spTree>
    <p:extLst>
      <p:ext uri="{BB962C8B-B14F-4D97-AF65-F5344CB8AC3E}">
        <p14:creationId xmlns:p14="http://schemas.microsoft.com/office/powerpoint/2010/main" val="19514307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100" dirty="0"/>
          </a:p>
        </p:txBody>
      </p:sp>
      <p:sp>
        <p:nvSpPr>
          <p:cNvPr id="4" name="Header Placeholder 3"/>
          <p:cNvSpPr>
            <a:spLocks noGrp="1"/>
          </p:cNvSpPr>
          <p:nvPr>
            <p:ph type="hdr" sz="quarter" idx="10"/>
          </p:nvPr>
        </p:nvSpPr>
        <p:spPr/>
        <p:txBody>
          <a:bodyPr/>
          <a:lstStyle/>
          <a:p>
            <a:pPr>
              <a:defRPr/>
            </a:pPr>
            <a:r>
              <a:rPr lang="vi-VN"/>
              <a:t>Công nghệ phần mềm - CO3001</a:t>
            </a:r>
          </a:p>
        </p:txBody>
      </p:sp>
      <p:sp>
        <p:nvSpPr>
          <p:cNvPr id="5" name="Date Placeholder 4"/>
          <p:cNvSpPr>
            <a:spLocks noGrp="1"/>
          </p:cNvSpPr>
          <p:nvPr>
            <p:ph type="dt" idx="11"/>
          </p:nvPr>
        </p:nvSpPr>
        <p:spPr/>
        <p:txBody>
          <a:bodyPr/>
          <a:lstStyle/>
          <a:p>
            <a:pPr>
              <a:defRPr/>
            </a:pPr>
            <a:fld id="{1203158D-EEA8-4684-942B-9AC9BBE10EAB}" type="datetime1">
              <a:rPr lang="en-US" smtClean="0"/>
              <a:t>10/5/26</a:t>
            </a:fld>
            <a:endParaRPr lang="en-US"/>
          </a:p>
        </p:txBody>
      </p:sp>
      <p:sp>
        <p:nvSpPr>
          <p:cNvPr id="6" name="Slide Number Placeholder 5"/>
          <p:cNvSpPr>
            <a:spLocks noGrp="1"/>
          </p:cNvSpPr>
          <p:nvPr>
            <p:ph type="sldNum" sz="quarter" idx="12"/>
          </p:nvPr>
        </p:nvSpPr>
        <p:spPr/>
        <p:txBody>
          <a:bodyPr/>
          <a:lstStyle/>
          <a:p>
            <a:pPr>
              <a:defRPr/>
            </a:pPr>
            <a:fld id="{02407299-8F8E-470E-A2BB-1AEEAB1DD04C}" type="slidenum">
              <a:rPr lang="en-US" smtClean="0"/>
              <a:pPr>
                <a:defRPr/>
              </a:pPr>
              <a:t>12</a:t>
            </a:fld>
            <a:endParaRPr lang="en-US"/>
          </a:p>
        </p:txBody>
      </p:sp>
    </p:spTree>
    <p:extLst>
      <p:ext uri="{BB962C8B-B14F-4D97-AF65-F5344CB8AC3E}">
        <p14:creationId xmlns:p14="http://schemas.microsoft.com/office/powerpoint/2010/main" val="38046577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100" dirty="0"/>
          </a:p>
        </p:txBody>
      </p:sp>
      <p:sp>
        <p:nvSpPr>
          <p:cNvPr id="4" name="Header Placeholder 3"/>
          <p:cNvSpPr>
            <a:spLocks noGrp="1"/>
          </p:cNvSpPr>
          <p:nvPr>
            <p:ph type="hdr" sz="quarter" idx="10"/>
          </p:nvPr>
        </p:nvSpPr>
        <p:spPr/>
        <p:txBody>
          <a:bodyPr/>
          <a:lstStyle/>
          <a:p>
            <a:pPr>
              <a:defRPr/>
            </a:pPr>
            <a:r>
              <a:rPr lang="vi-VN"/>
              <a:t>Công nghệ phần mềm - CO3001</a:t>
            </a:r>
          </a:p>
        </p:txBody>
      </p:sp>
      <p:sp>
        <p:nvSpPr>
          <p:cNvPr id="5" name="Date Placeholder 4"/>
          <p:cNvSpPr>
            <a:spLocks noGrp="1"/>
          </p:cNvSpPr>
          <p:nvPr>
            <p:ph type="dt" idx="11"/>
          </p:nvPr>
        </p:nvSpPr>
        <p:spPr/>
        <p:txBody>
          <a:bodyPr/>
          <a:lstStyle/>
          <a:p>
            <a:pPr>
              <a:defRPr/>
            </a:pPr>
            <a:fld id="{822EBE0A-AA88-484F-8FAB-F8FB1BA13FE0}" type="datetime1">
              <a:rPr lang="en-US" smtClean="0"/>
              <a:t>10/5/26</a:t>
            </a:fld>
            <a:endParaRPr lang="en-US"/>
          </a:p>
        </p:txBody>
      </p:sp>
      <p:sp>
        <p:nvSpPr>
          <p:cNvPr id="6" name="Slide Number Placeholder 5"/>
          <p:cNvSpPr>
            <a:spLocks noGrp="1"/>
          </p:cNvSpPr>
          <p:nvPr>
            <p:ph type="sldNum" sz="quarter" idx="12"/>
          </p:nvPr>
        </p:nvSpPr>
        <p:spPr/>
        <p:txBody>
          <a:bodyPr/>
          <a:lstStyle/>
          <a:p>
            <a:pPr>
              <a:defRPr/>
            </a:pPr>
            <a:fld id="{02407299-8F8E-470E-A2BB-1AEEAB1DD04C}" type="slidenum">
              <a:rPr lang="en-US" smtClean="0"/>
              <a:pPr>
                <a:defRPr/>
              </a:pPr>
              <a:t>13</a:t>
            </a:fld>
            <a:endParaRPr lang="en-US"/>
          </a:p>
        </p:txBody>
      </p:sp>
    </p:spTree>
    <p:extLst>
      <p:ext uri="{BB962C8B-B14F-4D97-AF65-F5344CB8AC3E}">
        <p14:creationId xmlns:p14="http://schemas.microsoft.com/office/powerpoint/2010/main" val="2935362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r>
              <a:rPr lang="vi-VN"/>
              <a:t>Công nghệ phần mềm - CO3001</a:t>
            </a:r>
          </a:p>
        </p:txBody>
      </p:sp>
      <p:sp>
        <p:nvSpPr>
          <p:cNvPr id="5" name="Date Placeholder 4"/>
          <p:cNvSpPr>
            <a:spLocks noGrp="1"/>
          </p:cNvSpPr>
          <p:nvPr>
            <p:ph type="dt" idx="11"/>
          </p:nvPr>
        </p:nvSpPr>
        <p:spPr/>
        <p:txBody>
          <a:bodyPr/>
          <a:lstStyle/>
          <a:p>
            <a:pPr>
              <a:defRPr/>
            </a:pPr>
            <a:fld id="{498CC09A-6200-43F4-AC2F-5B7AF8346D9B}" type="datetime1">
              <a:rPr lang="en-US" smtClean="0"/>
              <a:t>10/5/26</a:t>
            </a:fld>
            <a:endParaRPr lang="en-US"/>
          </a:p>
        </p:txBody>
      </p:sp>
      <p:sp>
        <p:nvSpPr>
          <p:cNvPr id="6" name="Slide Number Placeholder 5"/>
          <p:cNvSpPr>
            <a:spLocks noGrp="1"/>
          </p:cNvSpPr>
          <p:nvPr>
            <p:ph type="sldNum" sz="quarter" idx="12"/>
          </p:nvPr>
        </p:nvSpPr>
        <p:spPr/>
        <p:txBody>
          <a:bodyPr/>
          <a:lstStyle/>
          <a:p>
            <a:pPr>
              <a:defRPr/>
            </a:pPr>
            <a:fld id="{02407299-8F8E-470E-A2BB-1AEEAB1DD04C}" type="slidenum">
              <a:rPr lang="en-US" smtClean="0"/>
              <a:pPr>
                <a:defRPr/>
              </a:pPr>
              <a:t>14</a:t>
            </a:fld>
            <a:endParaRPr lang="en-US"/>
          </a:p>
        </p:txBody>
      </p:sp>
    </p:spTree>
    <p:extLst>
      <p:ext uri="{BB962C8B-B14F-4D97-AF65-F5344CB8AC3E}">
        <p14:creationId xmlns:p14="http://schemas.microsoft.com/office/powerpoint/2010/main" val="16634250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vi-VN" dirty="0"/>
              <a:t>Các </a:t>
            </a:r>
            <a:r>
              <a:rPr lang="vi-VN" b="1" dirty="0"/>
              <a:t>thuộc tính (attributes) nên luôn được khởi tạo</a:t>
            </a:r>
            <a:r>
              <a:rPr lang="vi-VN" dirty="0"/>
              <a:t> để tránh đối tượng rơi vào trạng thái không xác định.</a:t>
            </a:r>
          </a:p>
          <a:p>
            <a:endParaRPr lang="en-US" dirty="0"/>
          </a:p>
          <a:p>
            <a:r>
              <a:rPr lang="en-US" dirty="0"/>
              <a:t>Tuy </a:t>
            </a:r>
            <a:r>
              <a:rPr lang="en-US" dirty="0" err="1"/>
              <a:t>nhiên</a:t>
            </a:r>
            <a:r>
              <a:rPr lang="en-US" dirty="0"/>
              <a:t>, </a:t>
            </a:r>
            <a:r>
              <a:rPr lang="en-US" dirty="0" err="1"/>
              <a:t>cách</a:t>
            </a:r>
            <a:r>
              <a:rPr lang="en-US" dirty="0"/>
              <a:t> </a:t>
            </a:r>
            <a:r>
              <a:rPr lang="en-US" dirty="0" err="1"/>
              <a:t>này</a:t>
            </a:r>
            <a:r>
              <a:rPr lang="en-US" dirty="0"/>
              <a:t> </a:t>
            </a:r>
            <a:r>
              <a:rPr lang="en-US" dirty="0" err="1"/>
              <a:t>có</a:t>
            </a:r>
            <a:r>
              <a:rPr lang="en-US" dirty="0"/>
              <a:t> </a:t>
            </a:r>
            <a:r>
              <a:rPr lang="en-US" dirty="0" err="1"/>
              <a:t>thể</a:t>
            </a:r>
            <a:r>
              <a:rPr lang="en-US" dirty="0"/>
              <a:t> </a:t>
            </a:r>
            <a:r>
              <a:rPr lang="en-US" dirty="0" err="1"/>
              <a:t>gây</a:t>
            </a:r>
            <a:r>
              <a:rPr lang="en-US" dirty="0"/>
              <a:t> </a:t>
            </a:r>
            <a:r>
              <a:rPr lang="en-US" dirty="0" err="1"/>
              <a:t>vấn</a:t>
            </a:r>
            <a:r>
              <a:rPr lang="en-US" dirty="0"/>
              <a:t> </a:t>
            </a:r>
            <a:r>
              <a:rPr lang="en-US" dirty="0" err="1"/>
              <a:t>đề</a:t>
            </a:r>
            <a:r>
              <a:rPr lang="en-US" dirty="0"/>
              <a:t> </a:t>
            </a:r>
            <a:r>
              <a:rPr lang="en-US" dirty="0" err="1"/>
              <a:t>về</a:t>
            </a:r>
            <a:r>
              <a:rPr lang="en-US" dirty="0"/>
              <a:t> </a:t>
            </a:r>
            <a:r>
              <a:rPr lang="en-US" b="1" dirty="0"/>
              <a:t>maintainability</a:t>
            </a:r>
            <a:r>
              <a:rPr lang="en-US" dirty="0"/>
              <a:t>.</a:t>
            </a:r>
          </a:p>
          <a:p>
            <a:endParaRPr lang="en-US" dirty="0"/>
          </a:p>
          <a:p>
            <a:r>
              <a:rPr lang="vi-VN" dirty="0"/>
              <a:t>Ngoài ra, việc khởi tạo một object ngay lập tức đôi khi có thể dẫn đến việc </a:t>
            </a:r>
            <a:r>
              <a:rPr lang="vi-VN" b="1" dirty="0"/>
              <a:t>truy cập persistent storage không cần thiết</a:t>
            </a:r>
            <a:r>
              <a:rPr lang="vi-VN" dirty="0"/>
              <a:t>. Ví dụ, nếu việc tạo hoặc lấy </a:t>
            </a:r>
            <a:r>
              <a:rPr lang="vi-VN" sz="1200" kern="1200" dirty="0">
                <a:solidFill>
                  <a:schemeClr val="tx1"/>
                </a:solidFill>
                <a:latin typeface="+mn-lt"/>
                <a:ea typeface="+mn-ea"/>
                <a:cs typeface="+mn-cs"/>
              </a:rPr>
              <a:t>Customer</a:t>
            </a:r>
            <a:r>
              <a:rPr lang="vi-VN" dirty="0"/>
              <a:t> cần đọc database:</a:t>
            </a:r>
          </a:p>
          <a:p>
            <a:pPr rtl="0"/>
            <a:r>
              <a:rPr lang="vi-VN" sz="1200" kern="1200" dirty="0">
                <a:solidFill>
                  <a:schemeClr val="tx1"/>
                </a:solidFill>
                <a:latin typeface="+mn-lt"/>
                <a:ea typeface="+mn-ea"/>
                <a:cs typeface="+mn-cs"/>
              </a:rPr>
              <a:t>private Customer _customer = loadCustomer();</a:t>
            </a:r>
          </a:p>
          <a:p>
            <a:r>
              <a:rPr lang="vi-VN" dirty="0"/>
              <a:t>thì database sẽ bị truy cập ngay khi object chứa </a:t>
            </a:r>
            <a:r>
              <a:rPr lang="vi-VN" sz="1200" kern="1200" dirty="0">
                <a:solidFill>
                  <a:schemeClr val="tx1"/>
                </a:solidFill>
                <a:latin typeface="+mn-lt"/>
                <a:ea typeface="+mn-ea"/>
                <a:cs typeface="+mn-cs"/>
              </a:rPr>
              <a:t>_customer</a:t>
            </a:r>
            <a:r>
              <a:rPr lang="vi-VN" dirty="0"/>
              <a:t> được tạo, </a:t>
            </a:r>
            <a:r>
              <a:rPr lang="vi-VN" b="1" dirty="0"/>
              <a:t>ngay cả khi </a:t>
            </a:r>
            <a:r>
              <a:rPr lang="vi-VN" sz="1200" b="1" kern="1200" dirty="0">
                <a:solidFill>
                  <a:schemeClr val="tx1"/>
                </a:solidFill>
                <a:latin typeface="+mn-lt"/>
                <a:ea typeface="+mn-ea"/>
                <a:cs typeface="+mn-cs"/>
              </a:rPr>
              <a:t>_customer</a:t>
            </a:r>
            <a:r>
              <a:rPr lang="vi-VN" b="1" dirty="0"/>
              <a:t> chưa bao giờ được sử dụng</a:t>
            </a:r>
            <a:r>
              <a:rPr lang="vi-VN" dirty="0"/>
              <a:t>.</a:t>
            </a:r>
          </a:p>
          <a:p>
            <a:endParaRPr lang="en-US" dirty="0"/>
          </a:p>
          <a:p>
            <a:r>
              <a:rPr lang="vi-VN" dirty="0"/>
              <a:t>Attributes nên có trạng thái khởi tạo rõ ràng, nhưng cần cân nhắc </a:t>
            </a:r>
            <a:r>
              <a:rPr lang="vi-VN" b="1" dirty="0"/>
              <a:t>cách và thời điểm khởi tạo object phức tạp</a:t>
            </a:r>
            <a:r>
              <a:rPr lang="vi-VN" dirty="0"/>
              <a:t>.</a:t>
            </a:r>
          </a:p>
          <a:p>
            <a:r>
              <a:rPr lang="vi-VN" dirty="0"/>
              <a:t>Có thể sử dụng các kỹ thuật như </a:t>
            </a:r>
            <a:r>
              <a:rPr lang="vi-VN" b="1" dirty="0"/>
              <a:t>lazy initialization</a:t>
            </a:r>
            <a:r>
              <a:rPr lang="vi-VN" dirty="0"/>
              <a:t>, factory, hoặc dependency injection tùy thiết kế để giảm coupling và tránh tạo/load object không cần thiết.</a:t>
            </a:r>
          </a:p>
          <a:p>
            <a:endParaRPr lang="en-US" dirty="0"/>
          </a:p>
        </p:txBody>
      </p:sp>
      <p:sp>
        <p:nvSpPr>
          <p:cNvPr id="4" name="Header Placeholder 3"/>
          <p:cNvSpPr>
            <a:spLocks noGrp="1"/>
          </p:cNvSpPr>
          <p:nvPr>
            <p:ph type="hdr" sz="quarter" idx="10"/>
          </p:nvPr>
        </p:nvSpPr>
        <p:spPr/>
        <p:txBody>
          <a:bodyPr/>
          <a:lstStyle/>
          <a:p>
            <a:pPr>
              <a:defRPr/>
            </a:pPr>
            <a:r>
              <a:rPr lang="vi-VN"/>
              <a:t>Công nghệ phần mềm - CO3001</a:t>
            </a:r>
          </a:p>
        </p:txBody>
      </p:sp>
      <p:sp>
        <p:nvSpPr>
          <p:cNvPr id="5" name="Date Placeholder 4"/>
          <p:cNvSpPr>
            <a:spLocks noGrp="1"/>
          </p:cNvSpPr>
          <p:nvPr>
            <p:ph type="dt" idx="11"/>
          </p:nvPr>
        </p:nvSpPr>
        <p:spPr/>
        <p:txBody>
          <a:bodyPr/>
          <a:lstStyle/>
          <a:p>
            <a:pPr>
              <a:defRPr/>
            </a:pPr>
            <a:fld id="{CA17F077-F780-4438-BB25-A28C30FB80EA}" type="datetime1">
              <a:rPr lang="en-US" smtClean="0"/>
              <a:t>10/5/26</a:t>
            </a:fld>
            <a:endParaRPr lang="en-US"/>
          </a:p>
        </p:txBody>
      </p:sp>
      <p:sp>
        <p:nvSpPr>
          <p:cNvPr id="6" name="Slide Number Placeholder 5"/>
          <p:cNvSpPr>
            <a:spLocks noGrp="1"/>
          </p:cNvSpPr>
          <p:nvPr>
            <p:ph type="sldNum" sz="quarter" idx="12"/>
          </p:nvPr>
        </p:nvSpPr>
        <p:spPr/>
        <p:txBody>
          <a:bodyPr/>
          <a:lstStyle/>
          <a:p>
            <a:pPr>
              <a:defRPr/>
            </a:pPr>
            <a:fld id="{02407299-8F8E-470E-A2BB-1AEEAB1DD04C}" type="slidenum">
              <a:rPr lang="en-US" smtClean="0"/>
              <a:pPr>
                <a:defRPr/>
              </a:pPr>
              <a:t>15</a:t>
            </a:fld>
            <a:endParaRPr lang="en-US"/>
          </a:p>
        </p:txBody>
      </p:sp>
    </p:spTree>
    <p:extLst>
      <p:ext uri="{BB962C8B-B14F-4D97-AF65-F5344CB8AC3E}">
        <p14:creationId xmlns:p14="http://schemas.microsoft.com/office/powerpoint/2010/main" val="5323432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dirty="0"/>
              <a:t>Bloater: </a:t>
            </a:r>
            <a:r>
              <a:rPr lang="vi-VN" dirty="0"/>
              <a:t>chỉ những đoạn code, phương thức hoặc lớp phình to quá mức (quá nhiều dòng lệnh) khiến việc đọc và bảo trì trở nên khó khăn</a:t>
            </a:r>
            <a:endParaRPr lang="en-VN" dirty="0"/>
          </a:p>
        </p:txBody>
      </p:sp>
      <p:sp>
        <p:nvSpPr>
          <p:cNvPr id="4" name="Header Placeholder 3"/>
          <p:cNvSpPr>
            <a:spLocks noGrp="1"/>
          </p:cNvSpPr>
          <p:nvPr>
            <p:ph type="hdr" sz="quarter"/>
          </p:nvPr>
        </p:nvSpPr>
        <p:spPr/>
        <p:txBody>
          <a:bodyPr/>
          <a:lstStyle/>
          <a:p>
            <a:r>
              <a:rPr lang="vi-VN"/>
              <a:t>Công nghệ phần mềm - CO3001</a:t>
            </a:r>
          </a:p>
        </p:txBody>
      </p:sp>
      <p:sp>
        <p:nvSpPr>
          <p:cNvPr id="5" name="Date Placeholder 4"/>
          <p:cNvSpPr>
            <a:spLocks noGrp="1"/>
          </p:cNvSpPr>
          <p:nvPr>
            <p:ph type="dt" idx="1"/>
          </p:nvPr>
        </p:nvSpPr>
        <p:spPr/>
        <p:txBody>
          <a:bodyPr/>
          <a:lstStyle/>
          <a:p>
            <a:fld id="{650CCADC-90EC-4BB0-AB19-83E9CFC49441}" type="datetime1">
              <a:rPr lang="en-US" smtClean="0"/>
              <a:t>10/5/26</a:t>
            </a:fld>
            <a:endParaRPr lang="en-US"/>
          </a:p>
        </p:txBody>
      </p:sp>
      <p:sp>
        <p:nvSpPr>
          <p:cNvPr id="6" name="Slide Number Placeholder 5"/>
          <p:cNvSpPr>
            <a:spLocks noGrp="1"/>
          </p:cNvSpPr>
          <p:nvPr>
            <p:ph type="sldNum" sz="quarter" idx="5"/>
          </p:nvPr>
        </p:nvSpPr>
        <p:spPr/>
        <p:txBody>
          <a:bodyPr/>
          <a:lstStyle/>
          <a:p>
            <a:fld id="{4158DA69-A571-1F49-91C0-61EBFAAB21F4}" type="slidenum">
              <a:rPr lang="en-US" smtClean="0"/>
              <a:pPr/>
              <a:t>19</a:t>
            </a:fld>
            <a:endParaRPr lang="en-US"/>
          </a:p>
        </p:txBody>
      </p:sp>
    </p:spTree>
    <p:extLst>
      <p:ext uri="{BB962C8B-B14F-4D97-AF65-F5344CB8AC3E}">
        <p14:creationId xmlns:p14="http://schemas.microsoft.com/office/powerpoint/2010/main" val="6583444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dirty="0"/>
              <a:t>OOA: </a:t>
            </a:r>
            <a:r>
              <a:rPr lang="vi-VN" dirty="0"/>
              <a:t>chỉ các mã nguồn lạm dụng hoặc áp dụng sai lệch các nguyên lý lập trình hướng đối tượng (OOP), dẫn đến những đoạn code kém chất lượng, khó bảo trì và dễ phát sinh lỗi</a:t>
            </a:r>
            <a:endParaRPr lang="en-VN" dirty="0"/>
          </a:p>
        </p:txBody>
      </p:sp>
      <p:sp>
        <p:nvSpPr>
          <p:cNvPr id="4" name="Header Placeholder 3"/>
          <p:cNvSpPr>
            <a:spLocks noGrp="1"/>
          </p:cNvSpPr>
          <p:nvPr>
            <p:ph type="hdr" sz="quarter"/>
          </p:nvPr>
        </p:nvSpPr>
        <p:spPr/>
        <p:txBody>
          <a:bodyPr/>
          <a:lstStyle/>
          <a:p>
            <a:r>
              <a:rPr lang="vi-VN"/>
              <a:t>Công nghệ phần mềm - CO3001</a:t>
            </a:r>
          </a:p>
        </p:txBody>
      </p:sp>
      <p:sp>
        <p:nvSpPr>
          <p:cNvPr id="5" name="Date Placeholder 4"/>
          <p:cNvSpPr>
            <a:spLocks noGrp="1"/>
          </p:cNvSpPr>
          <p:nvPr>
            <p:ph type="dt" idx="1"/>
          </p:nvPr>
        </p:nvSpPr>
        <p:spPr/>
        <p:txBody>
          <a:bodyPr/>
          <a:lstStyle/>
          <a:p>
            <a:fld id="{650CCADC-90EC-4BB0-AB19-83E9CFC49441}" type="datetime1">
              <a:rPr lang="en-US" smtClean="0"/>
              <a:t>10/5/26</a:t>
            </a:fld>
            <a:endParaRPr lang="en-US"/>
          </a:p>
        </p:txBody>
      </p:sp>
      <p:sp>
        <p:nvSpPr>
          <p:cNvPr id="6" name="Slide Number Placeholder 5"/>
          <p:cNvSpPr>
            <a:spLocks noGrp="1"/>
          </p:cNvSpPr>
          <p:nvPr>
            <p:ph type="sldNum" sz="quarter" idx="5"/>
          </p:nvPr>
        </p:nvSpPr>
        <p:spPr/>
        <p:txBody>
          <a:bodyPr/>
          <a:lstStyle/>
          <a:p>
            <a:fld id="{4158DA69-A571-1F49-91C0-61EBFAAB21F4}" type="slidenum">
              <a:rPr lang="en-US" smtClean="0"/>
              <a:pPr/>
              <a:t>20</a:t>
            </a:fld>
            <a:endParaRPr lang="en-US"/>
          </a:p>
        </p:txBody>
      </p:sp>
    </p:spTree>
    <p:extLst>
      <p:ext uri="{BB962C8B-B14F-4D97-AF65-F5344CB8AC3E}">
        <p14:creationId xmlns:p14="http://schemas.microsoft.com/office/powerpoint/2010/main" val="31659593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1" u="none" strike="noStrike" kern="1200" dirty="0">
                <a:solidFill>
                  <a:schemeClr val="tx1"/>
                </a:solidFill>
                <a:effectLst/>
                <a:latin typeface="+mn-lt"/>
                <a:ea typeface="+mn-ea"/>
                <a:cs typeface="+mn-cs"/>
              </a:rPr>
              <a:t>Change preventer</a:t>
            </a:r>
            <a:r>
              <a:rPr lang="vi-VN" dirty="0"/>
              <a:t> trong lập trình và phát triển phần mềm có nghĩa là một dấu hiệu mã nguồn xấu (</a:t>
            </a:r>
            <a:r>
              <a:rPr lang="vi-VN" sz="1200" b="0" u="none" strike="noStrike" kern="1200" dirty="0">
                <a:solidFill>
                  <a:schemeClr val="tx1"/>
                </a:solidFill>
                <a:effectLst/>
                <a:latin typeface="+mn-lt"/>
                <a:ea typeface="+mn-ea"/>
                <a:cs typeface="+mn-cs"/>
              </a:rPr>
              <a:t>code smell</a:t>
            </a:r>
            <a:r>
              <a:rPr lang="vi-VN" dirty="0"/>
              <a:t>), xuất hiện khi bạn phải thực hiện thay đổi ở nhiều nơi khác nhau mỗi khi cần sửa hoặc thêm một tính năng nhỏ</a:t>
            </a:r>
            <a:endParaRPr lang="en-VN" dirty="0"/>
          </a:p>
        </p:txBody>
      </p:sp>
      <p:sp>
        <p:nvSpPr>
          <p:cNvPr id="4" name="Header Placeholder 3"/>
          <p:cNvSpPr>
            <a:spLocks noGrp="1"/>
          </p:cNvSpPr>
          <p:nvPr>
            <p:ph type="hdr" sz="quarter"/>
          </p:nvPr>
        </p:nvSpPr>
        <p:spPr/>
        <p:txBody>
          <a:bodyPr/>
          <a:lstStyle/>
          <a:p>
            <a:r>
              <a:rPr lang="vi-VN"/>
              <a:t>Công nghệ phần mềm - CO3001</a:t>
            </a:r>
          </a:p>
        </p:txBody>
      </p:sp>
      <p:sp>
        <p:nvSpPr>
          <p:cNvPr id="5" name="Date Placeholder 4"/>
          <p:cNvSpPr>
            <a:spLocks noGrp="1"/>
          </p:cNvSpPr>
          <p:nvPr>
            <p:ph type="dt" idx="1"/>
          </p:nvPr>
        </p:nvSpPr>
        <p:spPr/>
        <p:txBody>
          <a:bodyPr/>
          <a:lstStyle/>
          <a:p>
            <a:fld id="{650CCADC-90EC-4BB0-AB19-83E9CFC49441}" type="datetime1">
              <a:rPr lang="en-US" smtClean="0"/>
              <a:t>10/5/26</a:t>
            </a:fld>
            <a:endParaRPr lang="en-US"/>
          </a:p>
        </p:txBody>
      </p:sp>
      <p:sp>
        <p:nvSpPr>
          <p:cNvPr id="6" name="Slide Number Placeholder 5"/>
          <p:cNvSpPr>
            <a:spLocks noGrp="1"/>
          </p:cNvSpPr>
          <p:nvPr>
            <p:ph type="sldNum" sz="quarter" idx="5"/>
          </p:nvPr>
        </p:nvSpPr>
        <p:spPr/>
        <p:txBody>
          <a:bodyPr/>
          <a:lstStyle/>
          <a:p>
            <a:fld id="{4158DA69-A571-1F49-91C0-61EBFAAB21F4}" type="slidenum">
              <a:rPr lang="en-US" smtClean="0"/>
              <a:pPr/>
              <a:t>21</a:t>
            </a:fld>
            <a:endParaRPr lang="en-US"/>
          </a:p>
        </p:txBody>
      </p:sp>
    </p:spTree>
    <p:extLst>
      <p:ext uri="{BB962C8B-B14F-4D97-AF65-F5344CB8AC3E}">
        <p14:creationId xmlns:p14="http://schemas.microsoft.com/office/powerpoint/2010/main" val="25910663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1" u="none" strike="noStrike" kern="1200" dirty="0">
                <a:solidFill>
                  <a:schemeClr val="tx1"/>
                </a:solidFill>
                <a:effectLst/>
                <a:latin typeface="+mn-lt"/>
                <a:ea typeface="+mn-ea"/>
                <a:cs typeface="+mn-cs"/>
              </a:rPr>
              <a:t>Dispensable</a:t>
            </a:r>
            <a:r>
              <a:rPr lang="vi-VN" dirty="0"/>
              <a:t> trong code smell chỉ những thành phần thừa thãi, không cần thiết trong mã nguồn mà nếu loại bỏ đi, code sẽ sạch hơn, gọn gàng hơn và dễ hiểu hơn.</a:t>
            </a:r>
            <a:endParaRPr lang="en-VN" dirty="0"/>
          </a:p>
        </p:txBody>
      </p:sp>
      <p:sp>
        <p:nvSpPr>
          <p:cNvPr id="4" name="Header Placeholder 3"/>
          <p:cNvSpPr>
            <a:spLocks noGrp="1"/>
          </p:cNvSpPr>
          <p:nvPr>
            <p:ph type="hdr" sz="quarter"/>
          </p:nvPr>
        </p:nvSpPr>
        <p:spPr/>
        <p:txBody>
          <a:bodyPr/>
          <a:lstStyle/>
          <a:p>
            <a:r>
              <a:rPr lang="vi-VN"/>
              <a:t>Công nghệ phần mềm - CO3001</a:t>
            </a:r>
          </a:p>
        </p:txBody>
      </p:sp>
      <p:sp>
        <p:nvSpPr>
          <p:cNvPr id="5" name="Date Placeholder 4"/>
          <p:cNvSpPr>
            <a:spLocks noGrp="1"/>
          </p:cNvSpPr>
          <p:nvPr>
            <p:ph type="dt" idx="1"/>
          </p:nvPr>
        </p:nvSpPr>
        <p:spPr/>
        <p:txBody>
          <a:bodyPr/>
          <a:lstStyle/>
          <a:p>
            <a:fld id="{650CCADC-90EC-4BB0-AB19-83E9CFC49441}" type="datetime1">
              <a:rPr lang="en-US" smtClean="0"/>
              <a:t>10/5/26</a:t>
            </a:fld>
            <a:endParaRPr lang="en-US"/>
          </a:p>
        </p:txBody>
      </p:sp>
      <p:sp>
        <p:nvSpPr>
          <p:cNvPr id="6" name="Slide Number Placeholder 5"/>
          <p:cNvSpPr>
            <a:spLocks noGrp="1"/>
          </p:cNvSpPr>
          <p:nvPr>
            <p:ph type="sldNum" sz="quarter" idx="5"/>
          </p:nvPr>
        </p:nvSpPr>
        <p:spPr/>
        <p:txBody>
          <a:bodyPr/>
          <a:lstStyle/>
          <a:p>
            <a:fld id="{4158DA69-A571-1F49-91C0-61EBFAAB21F4}" type="slidenum">
              <a:rPr lang="en-US" smtClean="0"/>
              <a:pPr/>
              <a:t>22</a:t>
            </a:fld>
            <a:endParaRPr lang="en-US"/>
          </a:p>
        </p:txBody>
      </p:sp>
    </p:spTree>
    <p:extLst>
      <p:ext uri="{BB962C8B-B14F-4D97-AF65-F5344CB8AC3E}">
        <p14:creationId xmlns:p14="http://schemas.microsoft.com/office/powerpoint/2010/main" val="14012489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u="none" strike="noStrike" kern="1200" dirty="0">
                <a:solidFill>
                  <a:schemeClr val="tx1"/>
                </a:solidFill>
                <a:effectLst/>
                <a:latin typeface="+mn-lt"/>
                <a:ea typeface="+mn-ea"/>
                <a:cs typeface="+mn-cs"/>
              </a:rPr>
              <a:t>Couplers</a:t>
            </a:r>
            <a:r>
              <a:rPr lang="en-US" dirty="0"/>
              <a:t> </a:t>
            </a:r>
            <a:r>
              <a:rPr lang="en-US" dirty="0" err="1"/>
              <a:t>là</a:t>
            </a:r>
            <a:r>
              <a:rPr lang="en-US" dirty="0"/>
              <a:t> </a:t>
            </a:r>
            <a:r>
              <a:rPr lang="en-US" dirty="0" err="1"/>
              <a:t>những</a:t>
            </a:r>
            <a:r>
              <a:rPr lang="en-US" dirty="0"/>
              <a:t> </a:t>
            </a:r>
            <a:r>
              <a:rPr lang="en-US" dirty="0" err="1"/>
              <a:t>dấu</a:t>
            </a:r>
            <a:r>
              <a:rPr lang="en-US" dirty="0"/>
              <a:t> </a:t>
            </a:r>
            <a:r>
              <a:rPr lang="en-US" dirty="0" err="1"/>
              <a:t>hiệu</a:t>
            </a:r>
            <a:r>
              <a:rPr lang="en-US" dirty="0"/>
              <a:t> </a:t>
            </a:r>
            <a:r>
              <a:rPr lang="en-US" dirty="0" err="1"/>
              <a:t>cho</a:t>
            </a:r>
            <a:r>
              <a:rPr lang="en-US" dirty="0"/>
              <a:t> </a:t>
            </a:r>
            <a:r>
              <a:rPr lang="en-US" dirty="0" err="1"/>
              <a:t>thấy</a:t>
            </a:r>
            <a:r>
              <a:rPr lang="en-US" dirty="0"/>
              <a:t> </a:t>
            </a:r>
            <a:r>
              <a:rPr lang="en-US" dirty="0" err="1"/>
              <a:t>các</a:t>
            </a:r>
            <a:r>
              <a:rPr lang="en-US" dirty="0"/>
              <a:t> </a:t>
            </a:r>
            <a:r>
              <a:rPr lang="en-US" dirty="0" err="1"/>
              <a:t>lớp</a:t>
            </a:r>
            <a:r>
              <a:rPr lang="en-US" dirty="0"/>
              <a:t> (classes) </a:t>
            </a:r>
            <a:r>
              <a:rPr lang="en-US" dirty="0" err="1"/>
              <a:t>hoặc</a:t>
            </a:r>
            <a:r>
              <a:rPr lang="en-US" dirty="0"/>
              <a:t> </a:t>
            </a:r>
            <a:r>
              <a:rPr lang="en-US" dirty="0" err="1"/>
              <a:t>thành</a:t>
            </a:r>
            <a:r>
              <a:rPr lang="en-US" dirty="0"/>
              <a:t> </a:t>
            </a:r>
            <a:r>
              <a:rPr lang="en-US" dirty="0" err="1"/>
              <a:t>phần</a:t>
            </a:r>
            <a:r>
              <a:rPr lang="en-US" dirty="0"/>
              <a:t> </a:t>
            </a:r>
            <a:r>
              <a:rPr lang="en-US" dirty="0" err="1"/>
              <a:t>trong</a:t>
            </a:r>
            <a:r>
              <a:rPr lang="en-US" dirty="0"/>
              <a:t> </a:t>
            </a:r>
            <a:r>
              <a:rPr lang="en-US" dirty="0" err="1"/>
              <a:t>mã</a:t>
            </a:r>
            <a:r>
              <a:rPr lang="en-US" dirty="0"/>
              <a:t> </a:t>
            </a:r>
            <a:r>
              <a:rPr lang="en-US" dirty="0" err="1"/>
              <a:t>nguồn</a:t>
            </a:r>
            <a:r>
              <a:rPr lang="en-US" dirty="0"/>
              <a:t> </a:t>
            </a:r>
            <a:r>
              <a:rPr lang="en-US" dirty="0" err="1"/>
              <a:t>phụ</a:t>
            </a:r>
            <a:r>
              <a:rPr lang="en-US" dirty="0"/>
              <a:t> </a:t>
            </a:r>
            <a:r>
              <a:rPr lang="en-US" dirty="0" err="1"/>
              <a:t>thuộc</a:t>
            </a:r>
            <a:r>
              <a:rPr lang="en-US" dirty="0"/>
              <a:t> </a:t>
            </a:r>
            <a:r>
              <a:rPr lang="en-US" dirty="0" err="1"/>
              <a:t>lẫn</a:t>
            </a:r>
            <a:r>
              <a:rPr lang="en-US" dirty="0"/>
              <a:t> </a:t>
            </a:r>
            <a:r>
              <a:rPr lang="en-US" dirty="0" err="1"/>
              <a:t>nhau</a:t>
            </a:r>
            <a:r>
              <a:rPr lang="en-US" dirty="0"/>
              <a:t> </a:t>
            </a:r>
            <a:r>
              <a:rPr lang="en-US" dirty="0" err="1"/>
              <a:t>quá</a:t>
            </a:r>
            <a:r>
              <a:rPr lang="en-US" dirty="0"/>
              <a:t> </a:t>
            </a:r>
            <a:r>
              <a:rPr lang="en-US" dirty="0" err="1"/>
              <a:t>chặt</a:t>
            </a:r>
            <a:r>
              <a:rPr lang="en-US" dirty="0"/>
              <a:t> </a:t>
            </a:r>
            <a:r>
              <a:rPr lang="en-US" dirty="0" err="1"/>
              <a:t>chẽ</a:t>
            </a:r>
            <a:r>
              <a:rPr lang="en-US" dirty="0"/>
              <a:t> (tight coupling), </a:t>
            </a:r>
            <a:r>
              <a:rPr lang="en-US" dirty="0" err="1"/>
              <a:t>hoặc</a:t>
            </a:r>
            <a:r>
              <a:rPr lang="en-US" dirty="0"/>
              <a:t> </a:t>
            </a:r>
            <a:r>
              <a:rPr lang="en-US" dirty="0" err="1"/>
              <a:t>khi</a:t>
            </a:r>
            <a:r>
              <a:rPr lang="en-US" dirty="0"/>
              <a:t> </a:t>
            </a:r>
            <a:r>
              <a:rPr lang="en-US" dirty="0" err="1"/>
              <a:t>việc</a:t>
            </a:r>
            <a:r>
              <a:rPr lang="en-US" dirty="0"/>
              <a:t> </a:t>
            </a:r>
            <a:r>
              <a:rPr lang="en-US" dirty="0" err="1"/>
              <a:t>kết</a:t>
            </a:r>
            <a:r>
              <a:rPr lang="en-US" dirty="0"/>
              <a:t> </a:t>
            </a:r>
            <a:r>
              <a:rPr lang="en-US" dirty="0" err="1"/>
              <a:t>nối</a:t>
            </a:r>
            <a:r>
              <a:rPr lang="en-US" dirty="0"/>
              <a:t> </a:t>
            </a:r>
            <a:r>
              <a:rPr lang="en-US" dirty="0" err="1"/>
              <a:t>đó</a:t>
            </a:r>
            <a:r>
              <a:rPr lang="en-US" dirty="0"/>
              <a:t> </a:t>
            </a:r>
            <a:r>
              <a:rPr lang="en-US" dirty="0" err="1"/>
              <a:t>bị</a:t>
            </a:r>
            <a:r>
              <a:rPr lang="en-US" dirty="0"/>
              <a:t> </a:t>
            </a:r>
            <a:r>
              <a:rPr lang="en-US" dirty="0" err="1"/>
              <a:t>thay</a:t>
            </a:r>
            <a:r>
              <a:rPr lang="en-US" dirty="0"/>
              <a:t> </a:t>
            </a:r>
            <a:r>
              <a:rPr lang="en-US" dirty="0" err="1"/>
              <a:t>thế</a:t>
            </a:r>
            <a:r>
              <a:rPr lang="en-US" dirty="0"/>
              <a:t> </a:t>
            </a:r>
            <a:r>
              <a:rPr lang="en-US" dirty="0" err="1"/>
              <a:t>bằng</a:t>
            </a:r>
            <a:r>
              <a:rPr lang="en-US" dirty="0"/>
              <a:t> </a:t>
            </a:r>
            <a:r>
              <a:rPr lang="en-US" dirty="0" err="1"/>
              <a:t>sự</a:t>
            </a:r>
            <a:r>
              <a:rPr lang="en-US" dirty="0"/>
              <a:t> </a:t>
            </a:r>
            <a:r>
              <a:rPr lang="en-US" dirty="0" err="1"/>
              <a:t>ủy</a:t>
            </a:r>
            <a:r>
              <a:rPr lang="en-US" dirty="0"/>
              <a:t> </a:t>
            </a:r>
            <a:r>
              <a:rPr lang="en-US" dirty="0" err="1"/>
              <a:t>quyền</a:t>
            </a:r>
            <a:r>
              <a:rPr lang="en-US" dirty="0"/>
              <a:t> </a:t>
            </a:r>
            <a:r>
              <a:rPr lang="en-US" dirty="0" err="1"/>
              <a:t>quá</a:t>
            </a:r>
            <a:r>
              <a:rPr lang="en-US" dirty="0"/>
              <a:t> </a:t>
            </a:r>
            <a:r>
              <a:rPr lang="en-US" dirty="0" err="1"/>
              <a:t>mức</a:t>
            </a:r>
            <a:r>
              <a:rPr lang="en-US" dirty="0"/>
              <a:t> (excessive delegation).</a:t>
            </a:r>
            <a:endParaRPr lang="en-VN" dirty="0"/>
          </a:p>
        </p:txBody>
      </p:sp>
      <p:sp>
        <p:nvSpPr>
          <p:cNvPr id="4" name="Header Placeholder 3"/>
          <p:cNvSpPr>
            <a:spLocks noGrp="1"/>
          </p:cNvSpPr>
          <p:nvPr>
            <p:ph type="hdr" sz="quarter"/>
          </p:nvPr>
        </p:nvSpPr>
        <p:spPr/>
        <p:txBody>
          <a:bodyPr/>
          <a:lstStyle/>
          <a:p>
            <a:r>
              <a:rPr lang="vi-VN"/>
              <a:t>Công nghệ phần mềm - CO3001</a:t>
            </a:r>
          </a:p>
        </p:txBody>
      </p:sp>
      <p:sp>
        <p:nvSpPr>
          <p:cNvPr id="5" name="Date Placeholder 4"/>
          <p:cNvSpPr>
            <a:spLocks noGrp="1"/>
          </p:cNvSpPr>
          <p:nvPr>
            <p:ph type="dt" idx="1"/>
          </p:nvPr>
        </p:nvSpPr>
        <p:spPr/>
        <p:txBody>
          <a:bodyPr/>
          <a:lstStyle/>
          <a:p>
            <a:fld id="{650CCADC-90EC-4BB0-AB19-83E9CFC49441}" type="datetime1">
              <a:rPr lang="en-US" smtClean="0"/>
              <a:t>10/5/26</a:t>
            </a:fld>
            <a:endParaRPr lang="en-US"/>
          </a:p>
        </p:txBody>
      </p:sp>
      <p:sp>
        <p:nvSpPr>
          <p:cNvPr id="6" name="Slide Number Placeholder 5"/>
          <p:cNvSpPr>
            <a:spLocks noGrp="1"/>
          </p:cNvSpPr>
          <p:nvPr>
            <p:ph type="sldNum" sz="quarter" idx="5"/>
          </p:nvPr>
        </p:nvSpPr>
        <p:spPr/>
        <p:txBody>
          <a:bodyPr/>
          <a:lstStyle/>
          <a:p>
            <a:fld id="{4158DA69-A571-1F49-91C0-61EBFAAB21F4}" type="slidenum">
              <a:rPr lang="en-US" smtClean="0"/>
              <a:pPr/>
              <a:t>23</a:t>
            </a:fld>
            <a:endParaRPr lang="en-US"/>
          </a:p>
        </p:txBody>
      </p:sp>
    </p:spTree>
    <p:extLst>
      <p:ext uri="{BB962C8B-B14F-4D97-AF65-F5344CB8AC3E}">
        <p14:creationId xmlns:p14="http://schemas.microsoft.com/office/powerpoint/2010/main" val="22810662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Mục tiêu và đặc tính của tái cấu trúc mã nguồn (Code Refactoring)</a:t>
            </a:r>
          </a:p>
          <a:p>
            <a:r>
              <a:rPr lang="vi-VN" b="1" dirty="0"/>
              <a:t>Mục tiêu</a:t>
            </a:r>
            <a:endParaRPr lang="vi-VN" dirty="0"/>
          </a:p>
          <a:p>
            <a:r>
              <a:rPr lang="vi-VN" dirty="0"/>
              <a:t>Thay đổi </a:t>
            </a:r>
            <a:r>
              <a:rPr lang="vi-VN" b="1" dirty="0"/>
              <a:t>cấu trúc bên trong</a:t>
            </a:r>
            <a:r>
              <a:rPr lang="vi-VN" dirty="0"/>
              <a:t> của mã nguồn mà </a:t>
            </a:r>
            <a:r>
              <a:rPr lang="vi-VN" b="1" dirty="0"/>
              <a:t>không làm thay đổi hành vi bên ngoài</a:t>
            </a:r>
            <a:r>
              <a:rPr lang="vi-VN" dirty="0"/>
              <a:t>.</a:t>
            </a:r>
          </a:p>
          <a:p>
            <a:r>
              <a:rPr lang="vi-VN" dirty="0"/>
              <a:t>Loại bỏ các </a:t>
            </a:r>
            <a:r>
              <a:rPr lang="vi-VN" b="1" dirty="0"/>
              <a:t>code smell</a:t>
            </a:r>
            <a:r>
              <a:rPr lang="vi-VN" dirty="0"/>
              <a:t> nhằm cải thiện:</a:t>
            </a:r>
          </a:p>
          <a:p>
            <a:pPr marL="171450" indent="-171450">
              <a:buFont typeface="Arial" panose="020B0604020202020204" pitchFamily="34" charset="0"/>
              <a:buChar char="•"/>
            </a:pPr>
            <a:r>
              <a:rPr lang="vi-VN" b="0" dirty="0"/>
              <a:t>Khả năng đọc hiểu (Readability)</a:t>
            </a:r>
          </a:p>
          <a:p>
            <a:pPr marL="171450" indent="-171450">
              <a:buFont typeface="Arial" panose="020B0604020202020204" pitchFamily="34" charset="0"/>
              <a:buChar char="•"/>
            </a:pPr>
            <a:r>
              <a:rPr lang="vi-VN" b="0" dirty="0"/>
              <a:t>Tính nhất quán (Consistency)</a:t>
            </a:r>
          </a:p>
          <a:p>
            <a:pPr marL="171450" indent="-171450">
              <a:buFont typeface="Arial" panose="020B0604020202020204" pitchFamily="34" charset="0"/>
              <a:buChar char="•"/>
            </a:pPr>
            <a:r>
              <a:rPr lang="vi-VN" b="0" dirty="0"/>
              <a:t>Khả năng bảo trì (Maintainability)</a:t>
            </a:r>
          </a:p>
          <a:p>
            <a:r>
              <a:rPr lang="vi-VN" b="1" dirty="0"/>
              <a:t>Đặc tính</a:t>
            </a:r>
            <a:endParaRPr lang="vi-VN" dirty="0"/>
          </a:p>
          <a:p>
            <a:pPr marL="171450" indent="-171450">
              <a:buFont typeface="Arial" panose="020B0604020202020204" pitchFamily="34" charset="0"/>
              <a:buChar char="•"/>
            </a:pPr>
            <a:r>
              <a:rPr lang="vi-VN" b="1" dirty="0"/>
              <a:t>Bảo toàn tính đúng đắn (Preserve correctness):</a:t>
            </a:r>
            <a:r>
              <a:rPr lang="vi-VN" dirty="0"/>
              <a:t> Việc refactoring không được làm thay đổi hành vi đúng của chương trình.</a:t>
            </a:r>
          </a:p>
          <a:p>
            <a:pPr marL="171450" indent="-171450">
              <a:buFont typeface="Arial" panose="020B0604020202020204" pitchFamily="34" charset="0"/>
              <a:buChar char="•"/>
            </a:pPr>
            <a:r>
              <a:rPr lang="vi-VN" b="1" dirty="0"/>
              <a:t>Thực hiện từng bước nhỏ (One step at a time):</a:t>
            </a:r>
            <a:r>
              <a:rPr lang="vi-VN" dirty="0"/>
              <a:t> Mỗi lần chỉ thực hiện một thay đổi nhỏ để dễ kiểm soát và phát hiện lỗi.</a:t>
            </a:r>
          </a:p>
          <a:p>
            <a:pPr marL="171450" indent="-171450">
              <a:buFont typeface="Arial" panose="020B0604020202020204" pitchFamily="34" charset="0"/>
              <a:buChar char="•"/>
            </a:pPr>
            <a:r>
              <a:rPr lang="vi-VN" b="1" dirty="0"/>
              <a:t>Kiểm thử thường xuyên (Frequent testing):</a:t>
            </a:r>
            <a:r>
              <a:rPr lang="vi-VN" dirty="0"/>
              <a:t> Chạy test sau mỗi bước refactoring để đảm bảo chương trình vẫn hoạt động đúng.</a:t>
            </a:r>
          </a:p>
          <a:p>
            <a:endParaRPr lang="en-VN" dirty="0"/>
          </a:p>
        </p:txBody>
      </p:sp>
      <p:sp>
        <p:nvSpPr>
          <p:cNvPr id="4" name="Header Placeholder 3"/>
          <p:cNvSpPr>
            <a:spLocks noGrp="1"/>
          </p:cNvSpPr>
          <p:nvPr>
            <p:ph type="hdr" sz="quarter"/>
          </p:nvPr>
        </p:nvSpPr>
        <p:spPr/>
        <p:txBody>
          <a:bodyPr/>
          <a:lstStyle/>
          <a:p>
            <a:r>
              <a:rPr lang="vi-VN"/>
              <a:t>Công nghệ phần mềm - CO3001</a:t>
            </a:r>
          </a:p>
        </p:txBody>
      </p:sp>
      <p:sp>
        <p:nvSpPr>
          <p:cNvPr id="5" name="Date Placeholder 4"/>
          <p:cNvSpPr>
            <a:spLocks noGrp="1"/>
          </p:cNvSpPr>
          <p:nvPr>
            <p:ph type="dt" idx="1"/>
          </p:nvPr>
        </p:nvSpPr>
        <p:spPr/>
        <p:txBody>
          <a:bodyPr/>
          <a:lstStyle/>
          <a:p>
            <a:fld id="{650CCADC-90EC-4BB0-AB19-83E9CFC49441}" type="datetime1">
              <a:rPr lang="en-US" smtClean="0"/>
              <a:t>10/5/26</a:t>
            </a:fld>
            <a:endParaRPr lang="en-US"/>
          </a:p>
        </p:txBody>
      </p:sp>
      <p:sp>
        <p:nvSpPr>
          <p:cNvPr id="6" name="Slide Number Placeholder 5"/>
          <p:cNvSpPr>
            <a:spLocks noGrp="1"/>
          </p:cNvSpPr>
          <p:nvPr>
            <p:ph type="sldNum" sz="quarter" idx="5"/>
          </p:nvPr>
        </p:nvSpPr>
        <p:spPr/>
        <p:txBody>
          <a:bodyPr/>
          <a:lstStyle/>
          <a:p>
            <a:fld id="{4158DA69-A571-1F49-91C0-61EBFAAB21F4}" type="slidenum">
              <a:rPr lang="en-US" smtClean="0"/>
              <a:pPr/>
              <a:t>24</a:t>
            </a:fld>
            <a:endParaRPr lang="en-US"/>
          </a:p>
        </p:txBody>
      </p:sp>
    </p:spTree>
    <p:extLst>
      <p:ext uri="{BB962C8B-B14F-4D97-AF65-F5344CB8AC3E}">
        <p14:creationId xmlns:p14="http://schemas.microsoft.com/office/powerpoint/2010/main" val="35058199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vi-VN" altLang="en-US" sz="1200" dirty="0"/>
              <a:t>Bạn có một nhóm tham số vốn đi cùng với nhau. Hãy thay chúng bằng một đối tượng.</a:t>
            </a:r>
          </a:p>
          <a:p>
            <a:endParaRPr lang="en-US" dirty="0"/>
          </a:p>
        </p:txBody>
      </p:sp>
      <p:sp>
        <p:nvSpPr>
          <p:cNvPr id="4" name="Slide Number Placeholder 3"/>
          <p:cNvSpPr>
            <a:spLocks noGrp="1"/>
          </p:cNvSpPr>
          <p:nvPr>
            <p:ph type="sldNum" sz="quarter" idx="5"/>
          </p:nvPr>
        </p:nvSpPr>
        <p:spPr/>
        <p:txBody>
          <a:bodyPr/>
          <a:lstStyle/>
          <a:p>
            <a:pPr>
              <a:defRPr/>
            </a:pPr>
            <a:fld id="{A75B62F5-D9E3-4744-A9E9-E2D4783528B6}" type="slidenum">
              <a:rPr lang="nb-NO" altLang="nb-NO" smtClean="0"/>
              <a:pPr>
                <a:defRPr/>
              </a:pPr>
              <a:t>27</a:t>
            </a:fld>
            <a:endParaRPr lang="nb-NO" altLang="nb-NO"/>
          </a:p>
        </p:txBody>
      </p:sp>
    </p:spTree>
    <p:extLst>
      <p:ext uri="{BB962C8B-B14F-4D97-AF65-F5344CB8AC3E}">
        <p14:creationId xmlns:p14="http://schemas.microsoft.com/office/powerpoint/2010/main" val="33378287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ltLang="en-US" sz="1200" dirty="0"/>
              <a:t>có thể dẫn đến large class, hãy xử lý large class sau</a:t>
            </a:r>
            <a:endParaRPr lang="en-US" dirty="0"/>
          </a:p>
        </p:txBody>
      </p:sp>
      <p:sp>
        <p:nvSpPr>
          <p:cNvPr id="4" name="Slide Number Placeholder 3"/>
          <p:cNvSpPr>
            <a:spLocks noGrp="1"/>
          </p:cNvSpPr>
          <p:nvPr>
            <p:ph type="sldNum" sz="quarter" idx="5"/>
          </p:nvPr>
        </p:nvSpPr>
        <p:spPr/>
        <p:txBody>
          <a:bodyPr/>
          <a:lstStyle/>
          <a:p>
            <a:pPr>
              <a:defRPr/>
            </a:pPr>
            <a:fld id="{A75B62F5-D9E3-4744-A9E9-E2D4783528B6}" type="slidenum">
              <a:rPr lang="nb-NO" altLang="nb-NO" smtClean="0"/>
              <a:pPr>
                <a:defRPr/>
              </a:pPr>
              <a:t>30</a:t>
            </a:fld>
            <a:endParaRPr lang="nb-NO" altLang="nb-NO"/>
          </a:p>
        </p:txBody>
      </p:sp>
    </p:spTree>
    <p:extLst>
      <p:ext uri="{BB962C8B-B14F-4D97-AF65-F5344CB8AC3E}">
        <p14:creationId xmlns:p14="http://schemas.microsoft.com/office/powerpoint/2010/main" val="25534072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vi-VN" sz="1200" u="none" strike="noStrike" kern="1200" dirty="0">
                <a:solidFill>
                  <a:schemeClr val="tx1"/>
                </a:solidFill>
                <a:effectLst/>
                <a:latin typeface="+mn-lt"/>
                <a:ea typeface="+mn-ea"/>
                <a:cs typeface="+mn-cs"/>
              </a:rPr>
              <a:t>Feature Envy là một Code Smell xuất hiện ở các phương thức. Một phương thức bị Feature Envy đối với một lớp khác nếu nó dùng nhiều đặc trưng (tức là trường và phương thức) của lớp khác hơn là của chính lớp mình. Với phương thức đang xét, có một mũi tên chỉ đến mỗi đặc trưng được tham chiếu. Mũi tên dày nghĩa là dùng đặc trưng đó nhiều, mũi tên mỏng nghĩa là dùng ít hơn. Mũi tên chỉ về lớp nguồn có màu xanh lá, còn mũi tên chỉ đến các lớp khác có mỗi lớp một màu (màu đỏ trong ví dụ). Nếu tổng độ dày của các mũi tên cùng một màu vượt quá tổng độ dày của các mũi tên xanh lá thì ta có feature envy.</a:t>
            </a:r>
          </a:p>
          <a:p>
            <a:pPr fontAlgn="base"/>
            <a:r>
              <a:rPr lang="vi-VN" sz="1200" b="1" u="none" strike="noStrike" kern="1200" dirty="0">
                <a:solidFill>
                  <a:schemeClr val="tx1"/>
                </a:solidFill>
                <a:effectLst/>
                <a:latin typeface="+mn-lt"/>
                <a:ea typeface="+mn-ea"/>
                <a:cs typeface="+mn-cs"/>
              </a:rPr>
              <a:t>Xử lý thế nào?</a:t>
            </a:r>
          </a:p>
          <a:p>
            <a:pPr fontAlgn="base"/>
            <a:r>
              <a:rPr lang="vi-VN" sz="1200" u="none" strike="noStrike" kern="1200" dirty="0">
                <a:solidFill>
                  <a:schemeClr val="tx1"/>
                </a:solidFill>
                <a:effectLst/>
                <a:latin typeface="+mn-lt"/>
                <a:ea typeface="+mn-ea"/>
                <a:cs typeface="+mn-cs"/>
              </a:rPr>
              <a:t>Hãy cho phương thức thứ nó muốn – chính là lớp kia! Tương tự refactoring cho Data Class, bạn phải chuyển phương thức sang lớp mà nó ưa thích. Với ví dụ trên, bạn phải chuyển envyMethod() sang ClassB. Kết quả trông như sau:</a:t>
            </a:r>
          </a:p>
          <a:p>
            <a:endParaRPr lang="en-US" dirty="0"/>
          </a:p>
        </p:txBody>
      </p:sp>
      <p:sp>
        <p:nvSpPr>
          <p:cNvPr id="4" name="Slide Number Placeholder 3"/>
          <p:cNvSpPr>
            <a:spLocks noGrp="1"/>
          </p:cNvSpPr>
          <p:nvPr>
            <p:ph type="sldNum" sz="quarter" idx="5"/>
          </p:nvPr>
        </p:nvSpPr>
        <p:spPr/>
        <p:txBody>
          <a:bodyPr/>
          <a:lstStyle/>
          <a:p>
            <a:pPr>
              <a:defRPr/>
            </a:pPr>
            <a:fld id="{A75B62F5-D9E3-4744-A9E9-E2D4783528B6}" type="slidenum">
              <a:rPr lang="nb-NO" altLang="nb-NO" smtClean="0"/>
              <a:pPr>
                <a:defRPr/>
              </a:pPr>
              <a:t>31</a:t>
            </a:fld>
            <a:endParaRPr lang="nb-NO" altLang="nb-NO"/>
          </a:p>
        </p:txBody>
      </p:sp>
    </p:spTree>
    <p:extLst>
      <p:ext uri="{BB962C8B-B14F-4D97-AF65-F5344CB8AC3E}">
        <p14:creationId xmlns:p14="http://schemas.microsoft.com/office/powerpoint/2010/main" val="42744298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75B62F5-D9E3-4744-A9E9-E2D4783528B6}" type="slidenum">
              <a:rPr lang="nb-NO" altLang="nb-NO" smtClean="0"/>
              <a:pPr>
                <a:defRPr/>
              </a:pPr>
              <a:t>32</a:t>
            </a:fld>
            <a:endParaRPr lang="nb-NO" altLang="nb-NO"/>
          </a:p>
        </p:txBody>
      </p:sp>
    </p:spTree>
    <p:extLst>
      <p:ext uri="{BB962C8B-B14F-4D97-AF65-F5344CB8AC3E}">
        <p14:creationId xmlns:p14="http://schemas.microsoft.com/office/powerpoint/2010/main" val="28991979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1" u="none" strike="noStrike" kern="1200" dirty="0">
                <a:solidFill>
                  <a:schemeClr val="tx1"/>
                </a:solidFill>
                <a:effectLst/>
                <a:latin typeface="+mn-lt"/>
                <a:ea typeface="+mn-ea"/>
                <a:cs typeface="+mn-cs"/>
              </a:rPr>
              <a:t>Code inspection</a:t>
            </a:r>
            <a:r>
              <a:rPr lang="vi-VN" dirty="0"/>
              <a:t> (kiểm tra mã nguồn) là một phương pháp đánh giá mã nguồn phần mềm một cách bài bản và chi tiết nhằm phát hiện lỗi, lỗ hổng bảo mật và các điểm vi phạm tiêu chuẩn lập trình trước khi đưa vào chạy thực tế.</a:t>
            </a:r>
          </a:p>
          <a:p>
            <a:endParaRPr lang="vi-VN" dirty="0"/>
          </a:p>
          <a:p>
            <a:r>
              <a:rPr lang="vi-VN" sz="1200" b="1" u="none" strike="noStrike" kern="1200" dirty="0">
                <a:solidFill>
                  <a:schemeClr val="tx1"/>
                </a:solidFill>
                <a:effectLst/>
                <a:latin typeface="+mn-lt"/>
                <a:ea typeface="+mn-ea"/>
                <a:cs typeface="+mn-cs"/>
              </a:rPr>
              <a:t>Hình thức thực hiện</a:t>
            </a:r>
            <a:r>
              <a:rPr lang="vi-VN" sz="1200" b="0" u="none" strike="noStrike" kern="1200" dirty="0">
                <a:solidFill>
                  <a:schemeClr val="tx1"/>
                </a:solidFill>
                <a:effectLst/>
                <a:latin typeface="+mn-lt"/>
                <a:ea typeface="+mn-ea"/>
                <a:cs typeface="+mn-cs"/>
              </a:rPr>
              <a:t>: Có thể làm thủ công qua các buổi họp đánh giá ngang hàng (peer review) giữa các lập trình viên hoặc tự động hóa thông qua các công cụ phân tích mã tĩnh.</a:t>
            </a:r>
          </a:p>
          <a:p>
            <a:r>
              <a:rPr lang="vi-VN" sz="1200" b="1" u="none" strike="noStrike" kern="1200" dirty="0">
                <a:solidFill>
                  <a:schemeClr val="tx1"/>
                </a:solidFill>
                <a:effectLst/>
                <a:latin typeface="+mn-lt"/>
                <a:ea typeface="+mn-ea"/>
                <a:cs typeface="+mn-cs"/>
              </a:rPr>
              <a:t>Mục tiêu</a:t>
            </a:r>
            <a:r>
              <a:rPr lang="vi-VN" sz="1200" b="0" u="none" strike="noStrike" kern="1200" dirty="0">
                <a:solidFill>
                  <a:schemeClr val="tx1"/>
                </a:solidFill>
                <a:effectLst/>
                <a:latin typeface="+mn-lt"/>
                <a:ea typeface="+mn-ea"/>
                <a:cs typeface="+mn-cs"/>
              </a:rPr>
              <a:t>: Tìm lỗi logic, biến chưa khởi tạo, lỗi cấp phát bộ nhớ, và đảm bảo code tuân thủ quy chuẩn chung của dự án.</a:t>
            </a:r>
          </a:p>
          <a:p>
            <a:r>
              <a:rPr lang="vi-VN" sz="1200" b="1" u="none" strike="noStrike" kern="1200" dirty="0">
                <a:solidFill>
                  <a:schemeClr val="tx1"/>
                </a:solidFill>
                <a:effectLst/>
                <a:latin typeface="+mn-lt"/>
                <a:ea typeface="+mn-ea"/>
                <a:cs typeface="+mn-cs"/>
              </a:rPr>
              <a:t>Lợi ích</a:t>
            </a:r>
            <a:r>
              <a:rPr lang="vi-VN" sz="1200" b="0" u="none" strike="noStrike" kern="1200" dirty="0">
                <a:solidFill>
                  <a:schemeClr val="tx1"/>
                </a:solidFill>
                <a:effectLst/>
                <a:latin typeface="+mn-lt"/>
                <a:ea typeface="+mn-ea"/>
                <a:cs typeface="+mn-cs"/>
              </a:rPr>
              <a:t>: Nâng cao chất lượng phần mềm, tiết kiệm chi phí sửa lỗi muộn ở giai đoạn vận hành</a:t>
            </a:r>
          </a:p>
          <a:p>
            <a:endParaRPr lang="en-VN" dirty="0"/>
          </a:p>
        </p:txBody>
      </p:sp>
      <p:sp>
        <p:nvSpPr>
          <p:cNvPr id="4" name="Header Placeholder 3"/>
          <p:cNvSpPr>
            <a:spLocks noGrp="1"/>
          </p:cNvSpPr>
          <p:nvPr>
            <p:ph type="hdr" sz="quarter"/>
          </p:nvPr>
        </p:nvSpPr>
        <p:spPr/>
        <p:txBody>
          <a:bodyPr/>
          <a:lstStyle/>
          <a:p>
            <a:r>
              <a:rPr lang="vi-VN"/>
              <a:t>Công nghệ phần mềm - CO3001</a:t>
            </a:r>
          </a:p>
        </p:txBody>
      </p:sp>
      <p:sp>
        <p:nvSpPr>
          <p:cNvPr id="5" name="Date Placeholder 4"/>
          <p:cNvSpPr>
            <a:spLocks noGrp="1"/>
          </p:cNvSpPr>
          <p:nvPr>
            <p:ph type="dt" idx="1"/>
          </p:nvPr>
        </p:nvSpPr>
        <p:spPr/>
        <p:txBody>
          <a:bodyPr/>
          <a:lstStyle/>
          <a:p>
            <a:fld id="{650CCADC-90EC-4BB0-AB19-83E9CFC49441}" type="datetime1">
              <a:rPr lang="en-US" smtClean="0"/>
              <a:t>10/5/26</a:t>
            </a:fld>
            <a:endParaRPr lang="en-US"/>
          </a:p>
        </p:txBody>
      </p:sp>
      <p:sp>
        <p:nvSpPr>
          <p:cNvPr id="6" name="Slide Number Placeholder 5"/>
          <p:cNvSpPr>
            <a:spLocks noGrp="1"/>
          </p:cNvSpPr>
          <p:nvPr>
            <p:ph type="sldNum" sz="quarter" idx="5"/>
          </p:nvPr>
        </p:nvSpPr>
        <p:spPr/>
        <p:txBody>
          <a:bodyPr/>
          <a:lstStyle/>
          <a:p>
            <a:fld id="{4158DA69-A571-1F49-91C0-61EBFAAB21F4}" type="slidenum">
              <a:rPr lang="en-US" smtClean="0"/>
              <a:pPr/>
              <a:t>36</a:t>
            </a:fld>
            <a:endParaRPr lang="en-US"/>
          </a:p>
        </p:txBody>
      </p:sp>
    </p:spTree>
    <p:extLst>
      <p:ext uri="{BB962C8B-B14F-4D97-AF65-F5344CB8AC3E}">
        <p14:creationId xmlns:p14="http://schemas.microsoft.com/office/powerpoint/2010/main" val="18281502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vi-VN" b="1" dirty="0"/>
              <a:t>Tại sao cần Inspection?</a:t>
            </a:r>
          </a:p>
          <a:p>
            <a:r>
              <a:rPr lang="vi-VN" b="1" dirty="0"/>
              <a:t>Inspection (kiểm tra/đánh giá thủ công)</a:t>
            </a:r>
            <a:r>
              <a:rPr lang="vi-VN" dirty="0"/>
              <a:t> cần thiết vì </a:t>
            </a:r>
            <a:r>
              <a:rPr lang="vi-VN" b="1" dirty="0"/>
              <a:t>testing không thể phát hiện tất cả các loại vấn đề</a:t>
            </a:r>
            <a:r>
              <a:rPr lang="vi-VN" dirty="0"/>
              <a:t> trong phần mềm.</a:t>
            </a:r>
          </a:p>
          <a:p>
            <a:r>
              <a:rPr lang="vi-VN" b="1" dirty="0"/>
              <a:t>1. Nhiều software artifacts không thể kiểm tra bằng cách chạy test</a:t>
            </a:r>
            <a:endParaRPr lang="vi-VN" dirty="0"/>
          </a:p>
          <a:p>
            <a:r>
              <a:rPr lang="vi-VN" dirty="0"/>
              <a:t>Testing yêu cầu một thứ gì đó có thể thực thi. Nhưng trong quá trình phát triển phần mềm, nhiều sản phẩm không phải executable code, chẳng hạn:</a:t>
            </a:r>
          </a:p>
          <a:p>
            <a:r>
              <a:rPr lang="vi-VN" dirty="0"/>
              <a:t>Đặc tả yêu cầu</a:t>
            </a:r>
          </a:p>
          <a:p>
            <a:r>
              <a:rPr lang="vi-VN" dirty="0"/>
              <a:t>Thiết kế</a:t>
            </a:r>
          </a:p>
          <a:p>
            <a:r>
              <a:rPr lang="vi-VN" dirty="0"/>
              <a:t>Mã giả (pseudocode)</a:t>
            </a:r>
          </a:p>
          <a:p>
            <a:r>
              <a:rPr lang="vi-VN" dirty="0"/>
              <a:t>Tài liệu hướng dẫn sử dụng</a:t>
            </a:r>
          </a:p>
          <a:p>
            <a:endParaRPr lang="en-VN" dirty="0"/>
          </a:p>
          <a:p>
            <a:r>
              <a:rPr lang="vi-VN" b="1" dirty="0"/>
              <a:t>2. Inspection giúp giảm defect rate</a:t>
            </a:r>
            <a:endParaRPr lang="vi-VN" dirty="0"/>
          </a:p>
          <a:p>
            <a:r>
              <a:rPr lang="vi-VN" dirty="0"/>
              <a:t>Inspection có thể tìm lỗi </a:t>
            </a:r>
            <a:r>
              <a:rPr lang="vi-VN" b="1" dirty="0"/>
              <a:t>sớm hơn</a:t>
            </a:r>
            <a:r>
              <a:rPr lang="vi-VN" dirty="0"/>
              <a:t>, trước khi lỗi lan sang các giai đoạn sau.</a:t>
            </a:r>
          </a:p>
          <a:p>
            <a:r>
              <a:rPr lang="vi-VN" dirty="0"/>
              <a:t>Ví dụ:</a:t>
            </a:r>
          </a:p>
          <a:p>
            <a:r>
              <a:rPr lang="vi-VN" b="1" dirty="0"/>
              <a:t>Requirement sai/thiếu</a:t>
            </a:r>
            <a:br>
              <a:rPr lang="vi-VN" dirty="0"/>
            </a:br>
            <a:r>
              <a:rPr lang="vi-VN" dirty="0"/>
              <a:t>→ Design dựa trên requirement đó</a:t>
            </a:r>
            <a:br>
              <a:rPr lang="vi-VN" dirty="0"/>
            </a:br>
            <a:r>
              <a:rPr lang="vi-VN" dirty="0"/>
              <a:t>→ Code theo design</a:t>
            </a:r>
            <a:br>
              <a:rPr lang="vi-VN" dirty="0"/>
            </a:br>
            <a:r>
              <a:rPr lang="vi-VN" dirty="0"/>
              <a:t>→ Test case cũng có thể được viết dựa trên requirement đó.</a:t>
            </a:r>
          </a:p>
          <a:p>
            <a:r>
              <a:rPr lang="vi-VN" dirty="0"/>
              <a:t>Nếu phát hiện vấn đề ngay khi inspect requirement, chi phí sửa thường thấp hơn nhiều so với phát hiện sau khi implementation đã hoàn thành.</a:t>
            </a:r>
          </a:p>
          <a:p>
            <a:endParaRPr lang="en-VN" dirty="0"/>
          </a:p>
          <a:p>
            <a:r>
              <a:rPr lang="en-US" b="1" dirty="0"/>
              <a:t>3. Inspection </a:t>
            </a:r>
            <a:r>
              <a:rPr lang="en-US" b="1" dirty="0" err="1"/>
              <a:t>bổ</a:t>
            </a:r>
            <a:r>
              <a:rPr lang="en-US" b="1" dirty="0"/>
              <a:t> sung </a:t>
            </a:r>
            <a:r>
              <a:rPr lang="en-US" b="1" dirty="0" err="1"/>
              <a:t>cho</a:t>
            </a:r>
            <a:r>
              <a:rPr lang="en-US" b="1" dirty="0"/>
              <a:t> Testing</a:t>
            </a:r>
            <a:endParaRPr lang="en-US" dirty="0"/>
          </a:p>
          <a:p>
            <a:r>
              <a:rPr lang="en-US" dirty="0"/>
              <a:t>Inspection </a:t>
            </a:r>
            <a:r>
              <a:rPr lang="en-US" dirty="0" err="1"/>
              <a:t>và</a:t>
            </a:r>
            <a:r>
              <a:rPr lang="en-US" dirty="0"/>
              <a:t> testing </a:t>
            </a:r>
            <a:r>
              <a:rPr lang="en-US" b="1" dirty="0" err="1"/>
              <a:t>không</a:t>
            </a:r>
            <a:r>
              <a:rPr lang="en-US" b="1" dirty="0"/>
              <a:t> </a:t>
            </a:r>
            <a:r>
              <a:rPr lang="en-US" b="1" dirty="0" err="1"/>
              <a:t>thay</a:t>
            </a:r>
            <a:r>
              <a:rPr lang="en-US" b="1" dirty="0"/>
              <a:t> </a:t>
            </a:r>
            <a:r>
              <a:rPr lang="en-US" b="1" dirty="0" err="1"/>
              <a:t>thế</a:t>
            </a:r>
            <a:r>
              <a:rPr lang="en-US" b="1" dirty="0"/>
              <a:t> </a:t>
            </a:r>
            <a:r>
              <a:rPr lang="en-US" b="1" dirty="0" err="1"/>
              <a:t>nhau</a:t>
            </a:r>
            <a:r>
              <a:rPr lang="en-US" dirty="0"/>
              <a:t>.</a:t>
            </a:r>
          </a:p>
          <a:p>
            <a:r>
              <a:rPr lang="vi-VN" b="1" dirty="0"/>
              <a:t>Testing: “Khi tôi chạy phần mềm, nó có hoạt động đúng không?”</a:t>
            </a:r>
          </a:p>
          <a:p>
            <a:r>
              <a:rPr lang="vi-VN" b="1" dirty="0"/>
              <a:t>Inspection: “Artifact này có điểm nào sai không, ngay cả khi không thực thi nó?”</a:t>
            </a:r>
          </a:p>
          <a:p>
            <a:endParaRPr lang="en-VN" dirty="0"/>
          </a:p>
          <a:p>
            <a:r>
              <a:rPr lang="en-US" b="1" dirty="0"/>
              <a:t>4. Inspection </a:t>
            </a:r>
            <a:r>
              <a:rPr lang="en-US" b="1" dirty="0" err="1"/>
              <a:t>có</a:t>
            </a:r>
            <a:r>
              <a:rPr lang="en-US" b="1" dirty="0"/>
              <a:t> </a:t>
            </a:r>
            <a:r>
              <a:rPr lang="en-US" b="1" dirty="0" err="1"/>
              <a:t>thể</a:t>
            </a:r>
            <a:r>
              <a:rPr lang="en-US" b="1" dirty="0"/>
              <a:t> </a:t>
            </a:r>
            <a:r>
              <a:rPr lang="en-US" b="1" dirty="0" err="1"/>
              <a:t>phát</a:t>
            </a:r>
            <a:r>
              <a:rPr lang="en-US" b="1" dirty="0"/>
              <a:t> </a:t>
            </a:r>
            <a:r>
              <a:rPr lang="en-US" b="1" dirty="0" err="1"/>
              <a:t>hiện</a:t>
            </a:r>
            <a:r>
              <a:rPr lang="en-US" b="1" dirty="0"/>
              <a:t> Code Smells</a:t>
            </a:r>
          </a:p>
          <a:p>
            <a:endParaRPr lang="en-US" dirty="0"/>
          </a:p>
          <a:p>
            <a:r>
              <a:rPr lang="vi-VN" b="1" dirty="0"/>
              <a:t>5. Inspection còn mang lại các lợi ích khác</a:t>
            </a:r>
            <a:endParaRPr lang="vi-VN" dirty="0"/>
          </a:p>
          <a:p>
            <a:r>
              <a:rPr lang="vi-VN" dirty="0"/>
              <a:t>Ngoài việc tìm lỗi, inspection còn giúp:</a:t>
            </a:r>
          </a:p>
          <a:p>
            <a:r>
              <a:rPr lang="vi-VN" dirty="0"/>
              <a:t>chia sẻ kiến thức giữa các thành viên;</a:t>
            </a:r>
          </a:p>
          <a:p>
            <a:r>
              <a:rPr lang="vi-VN" dirty="0"/>
              <a:t>giúp developers hiểu code của nhau;</a:t>
            </a:r>
          </a:p>
          <a:p>
            <a:r>
              <a:rPr lang="vi-VN" dirty="0"/>
              <a:t>đảm bảo coding/design standards;</a:t>
            </a:r>
          </a:p>
          <a:p>
            <a:r>
              <a:rPr lang="vi-VN" dirty="0"/>
              <a:t>cải thiện tính nhất quán;</a:t>
            </a:r>
          </a:p>
          <a:p>
            <a:r>
              <a:rPr lang="vi-VN" dirty="0"/>
              <a:t>hỗ trợ developers ít kinh nghiệm học từ người có kinh nghiệm;</a:t>
            </a:r>
          </a:p>
          <a:p>
            <a:r>
              <a:rPr lang="vi-VN" dirty="0"/>
              <a:t>phát hiện các cơ hội refactoring.</a:t>
            </a:r>
          </a:p>
          <a:p>
            <a:endParaRPr lang="en-VN" dirty="0"/>
          </a:p>
        </p:txBody>
      </p:sp>
      <p:sp>
        <p:nvSpPr>
          <p:cNvPr id="4" name="Header Placeholder 3"/>
          <p:cNvSpPr>
            <a:spLocks noGrp="1"/>
          </p:cNvSpPr>
          <p:nvPr>
            <p:ph type="hdr" sz="quarter"/>
          </p:nvPr>
        </p:nvSpPr>
        <p:spPr/>
        <p:txBody>
          <a:bodyPr/>
          <a:lstStyle/>
          <a:p>
            <a:r>
              <a:rPr lang="vi-VN"/>
              <a:t>Công nghệ phần mềm - CO3001</a:t>
            </a:r>
          </a:p>
        </p:txBody>
      </p:sp>
      <p:sp>
        <p:nvSpPr>
          <p:cNvPr id="5" name="Date Placeholder 4"/>
          <p:cNvSpPr>
            <a:spLocks noGrp="1"/>
          </p:cNvSpPr>
          <p:nvPr>
            <p:ph type="dt" idx="1"/>
          </p:nvPr>
        </p:nvSpPr>
        <p:spPr/>
        <p:txBody>
          <a:bodyPr/>
          <a:lstStyle/>
          <a:p>
            <a:fld id="{650CCADC-90EC-4BB0-AB19-83E9CFC49441}" type="datetime1">
              <a:rPr lang="en-US" smtClean="0"/>
              <a:t>10/5/26</a:t>
            </a:fld>
            <a:endParaRPr lang="en-US"/>
          </a:p>
        </p:txBody>
      </p:sp>
      <p:sp>
        <p:nvSpPr>
          <p:cNvPr id="6" name="Slide Number Placeholder 5"/>
          <p:cNvSpPr>
            <a:spLocks noGrp="1"/>
          </p:cNvSpPr>
          <p:nvPr>
            <p:ph type="sldNum" sz="quarter" idx="5"/>
          </p:nvPr>
        </p:nvSpPr>
        <p:spPr/>
        <p:txBody>
          <a:bodyPr/>
          <a:lstStyle/>
          <a:p>
            <a:fld id="{4158DA69-A571-1F49-91C0-61EBFAAB21F4}" type="slidenum">
              <a:rPr lang="en-US" smtClean="0"/>
              <a:pPr/>
              <a:t>37</a:t>
            </a:fld>
            <a:endParaRPr lang="en-US"/>
          </a:p>
        </p:txBody>
      </p:sp>
    </p:spTree>
    <p:extLst>
      <p:ext uri="{BB962C8B-B14F-4D97-AF65-F5344CB8AC3E}">
        <p14:creationId xmlns:p14="http://schemas.microsoft.com/office/powerpoint/2010/main" val="32323510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Header Placeholder 3"/>
          <p:cNvSpPr>
            <a:spLocks noGrp="1"/>
          </p:cNvSpPr>
          <p:nvPr>
            <p:ph type="hdr" sz="quarter" idx="10"/>
          </p:nvPr>
        </p:nvSpPr>
        <p:spPr/>
        <p:txBody>
          <a:bodyPr/>
          <a:lstStyle/>
          <a:p>
            <a:pPr>
              <a:defRPr/>
            </a:pPr>
            <a:r>
              <a:rPr lang="vi-VN"/>
              <a:t>Công nghệ phần mềm - CO3001</a:t>
            </a:r>
          </a:p>
        </p:txBody>
      </p:sp>
      <p:sp>
        <p:nvSpPr>
          <p:cNvPr id="5" name="Date Placeholder 4"/>
          <p:cNvSpPr>
            <a:spLocks noGrp="1"/>
          </p:cNvSpPr>
          <p:nvPr>
            <p:ph type="dt" idx="11"/>
          </p:nvPr>
        </p:nvSpPr>
        <p:spPr/>
        <p:txBody>
          <a:bodyPr/>
          <a:lstStyle/>
          <a:p>
            <a:pPr>
              <a:defRPr/>
            </a:pPr>
            <a:fld id="{3CFFEA5B-438E-4F4F-9BD7-52B3FEEEE0BF}" type="datetime1">
              <a:rPr lang="en-US" smtClean="0"/>
              <a:t>10/5/26</a:t>
            </a:fld>
            <a:endParaRPr lang="en-US"/>
          </a:p>
        </p:txBody>
      </p:sp>
      <p:sp>
        <p:nvSpPr>
          <p:cNvPr id="6" name="Slide Number Placeholder 5"/>
          <p:cNvSpPr>
            <a:spLocks noGrp="1"/>
          </p:cNvSpPr>
          <p:nvPr>
            <p:ph type="sldNum" sz="quarter" idx="12"/>
          </p:nvPr>
        </p:nvSpPr>
        <p:spPr/>
        <p:txBody>
          <a:bodyPr/>
          <a:lstStyle/>
          <a:p>
            <a:pPr>
              <a:defRPr/>
            </a:pPr>
            <a:fld id="{02407299-8F8E-470E-A2BB-1AEEAB1DD04C}" type="slidenum">
              <a:rPr lang="en-US" smtClean="0"/>
              <a:pPr>
                <a:defRPr/>
              </a:pPr>
              <a:t>42</a:t>
            </a:fld>
            <a:endParaRPr lang="en-US"/>
          </a:p>
        </p:txBody>
      </p:sp>
    </p:spTree>
    <p:extLst>
      <p:ext uri="{BB962C8B-B14F-4D97-AF65-F5344CB8AC3E}">
        <p14:creationId xmlns:p14="http://schemas.microsoft.com/office/powerpoint/2010/main" val="32472907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Header Placeholder 3"/>
          <p:cNvSpPr>
            <a:spLocks noGrp="1"/>
          </p:cNvSpPr>
          <p:nvPr>
            <p:ph type="hdr" sz="quarter" idx="10"/>
          </p:nvPr>
        </p:nvSpPr>
        <p:spPr/>
        <p:txBody>
          <a:bodyPr/>
          <a:lstStyle/>
          <a:p>
            <a:pPr>
              <a:defRPr/>
            </a:pPr>
            <a:r>
              <a:rPr lang="vi-VN"/>
              <a:t>Công nghệ phần mềm - CO3001</a:t>
            </a:r>
          </a:p>
        </p:txBody>
      </p:sp>
      <p:sp>
        <p:nvSpPr>
          <p:cNvPr id="5" name="Date Placeholder 4"/>
          <p:cNvSpPr>
            <a:spLocks noGrp="1"/>
          </p:cNvSpPr>
          <p:nvPr>
            <p:ph type="dt" idx="11"/>
          </p:nvPr>
        </p:nvSpPr>
        <p:spPr/>
        <p:txBody>
          <a:bodyPr/>
          <a:lstStyle/>
          <a:p>
            <a:pPr>
              <a:defRPr/>
            </a:pPr>
            <a:fld id="{02B03A4B-D0BA-4A67-A963-8862FA133C97}" type="datetime1">
              <a:rPr lang="en-US" smtClean="0"/>
              <a:t>10/5/26</a:t>
            </a:fld>
            <a:endParaRPr lang="en-US"/>
          </a:p>
        </p:txBody>
      </p:sp>
      <p:sp>
        <p:nvSpPr>
          <p:cNvPr id="6" name="Slide Number Placeholder 5"/>
          <p:cNvSpPr>
            <a:spLocks noGrp="1"/>
          </p:cNvSpPr>
          <p:nvPr>
            <p:ph type="sldNum" sz="quarter" idx="12"/>
          </p:nvPr>
        </p:nvSpPr>
        <p:spPr/>
        <p:txBody>
          <a:bodyPr/>
          <a:lstStyle/>
          <a:p>
            <a:pPr>
              <a:defRPr/>
            </a:pPr>
            <a:fld id="{02407299-8F8E-470E-A2BB-1AEEAB1DD04C}" type="slidenum">
              <a:rPr lang="en-US" smtClean="0"/>
              <a:pPr>
                <a:defRPr/>
              </a:pPr>
              <a:t>43</a:t>
            </a:fld>
            <a:endParaRPr lang="en-US"/>
          </a:p>
        </p:txBody>
      </p:sp>
    </p:spTree>
    <p:extLst>
      <p:ext uri="{BB962C8B-B14F-4D97-AF65-F5344CB8AC3E}">
        <p14:creationId xmlns:p14="http://schemas.microsoft.com/office/powerpoint/2010/main" val="33543529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Header Placeholder 3"/>
          <p:cNvSpPr>
            <a:spLocks noGrp="1"/>
          </p:cNvSpPr>
          <p:nvPr>
            <p:ph type="hdr" sz="quarter" idx="10"/>
          </p:nvPr>
        </p:nvSpPr>
        <p:spPr/>
        <p:txBody>
          <a:bodyPr/>
          <a:lstStyle/>
          <a:p>
            <a:pPr>
              <a:defRPr/>
            </a:pPr>
            <a:r>
              <a:rPr lang="vi-VN"/>
              <a:t>Công nghệ phần mềm - CO3001</a:t>
            </a:r>
          </a:p>
        </p:txBody>
      </p:sp>
      <p:sp>
        <p:nvSpPr>
          <p:cNvPr id="5" name="Date Placeholder 4"/>
          <p:cNvSpPr>
            <a:spLocks noGrp="1"/>
          </p:cNvSpPr>
          <p:nvPr>
            <p:ph type="dt" idx="11"/>
          </p:nvPr>
        </p:nvSpPr>
        <p:spPr/>
        <p:txBody>
          <a:bodyPr/>
          <a:lstStyle/>
          <a:p>
            <a:pPr>
              <a:defRPr/>
            </a:pPr>
            <a:fld id="{64E21BE9-E252-4A1F-A061-4A8992526E3D}" type="datetime1">
              <a:rPr lang="en-US" smtClean="0"/>
              <a:t>10/5/26</a:t>
            </a:fld>
            <a:endParaRPr lang="en-US"/>
          </a:p>
        </p:txBody>
      </p:sp>
      <p:sp>
        <p:nvSpPr>
          <p:cNvPr id="6" name="Slide Number Placeholder 5"/>
          <p:cNvSpPr>
            <a:spLocks noGrp="1"/>
          </p:cNvSpPr>
          <p:nvPr>
            <p:ph type="sldNum" sz="quarter" idx="12"/>
          </p:nvPr>
        </p:nvSpPr>
        <p:spPr/>
        <p:txBody>
          <a:bodyPr/>
          <a:lstStyle/>
          <a:p>
            <a:pPr>
              <a:defRPr/>
            </a:pPr>
            <a:fld id="{02407299-8F8E-470E-A2BB-1AEEAB1DD04C}" type="slidenum">
              <a:rPr lang="en-US" smtClean="0"/>
              <a:pPr>
                <a:defRPr/>
              </a:pPr>
              <a:t>44</a:t>
            </a:fld>
            <a:endParaRPr lang="en-US"/>
          </a:p>
        </p:txBody>
      </p:sp>
    </p:spTree>
    <p:extLst>
      <p:ext uri="{BB962C8B-B14F-4D97-AF65-F5344CB8AC3E}">
        <p14:creationId xmlns:p14="http://schemas.microsoft.com/office/powerpoint/2010/main" val="21500982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Header Placeholder 3"/>
          <p:cNvSpPr>
            <a:spLocks noGrp="1"/>
          </p:cNvSpPr>
          <p:nvPr>
            <p:ph type="hdr" sz="quarter" idx="10"/>
          </p:nvPr>
        </p:nvSpPr>
        <p:spPr/>
        <p:txBody>
          <a:bodyPr/>
          <a:lstStyle/>
          <a:p>
            <a:pPr>
              <a:defRPr/>
            </a:pPr>
            <a:r>
              <a:rPr lang="vi-VN"/>
              <a:t>Công nghệ phần mềm - CO3001</a:t>
            </a:r>
          </a:p>
        </p:txBody>
      </p:sp>
      <p:sp>
        <p:nvSpPr>
          <p:cNvPr id="5" name="Date Placeholder 4"/>
          <p:cNvSpPr>
            <a:spLocks noGrp="1"/>
          </p:cNvSpPr>
          <p:nvPr>
            <p:ph type="dt" idx="11"/>
          </p:nvPr>
        </p:nvSpPr>
        <p:spPr/>
        <p:txBody>
          <a:bodyPr/>
          <a:lstStyle/>
          <a:p>
            <a:pPr>
              <a:defRPr/>
            </a:pPr>
            <a:fld id="{AAFB75FE-2D41-4CFD-A36A-65ED4ECA618B}" type="datetime1">
              <a:rPr lang="en-US" smtClean="0"/>
              <a:t>10/5/26</a:t>
            </a:fld>
            <a:endParaRPr lang="en-US"/>
          </a:p>
        </p:txBody>
      </p:sp>
      <p:sp>
        <p:nvSpPr>
          <p:cNvPr id="6" name="Slide Number Placeholder 5"/>
          <p:cNvSpPr>
            <a:spLocks noGrp="1"/>
          </p:cNvSpPr>
          <p:nvPr>
            <p:ph type="sldNum" sz="quarter" idx="12"/>
          </p:nvPr>
        </p:nvSpPr>
        <p:spPr/>
        <p:txBody>
          <a:bodyPr/>
          <a:lstStyle/>
          <a:p>
            <a:pPr>
              <a:defRPr/>
            </a:pPr>
            <a:fld id="{02407299-8F8E-470E-A2BB-1AEEAB1DD04C}" type="slidenum">
              <a:rPr lang="en-US" smtClean="0"/>
              <a:pPr>
                <a:defRPr/>
              </a:pPr>
              <a:t>45</a:t>
            </a:fld>
            <a:endParaRPr lang="en-US"/>
          </a:p>
        </p:txBody>
      </p:sp>
    </p:spTree>
    <p:extLst>
      <p:ext uri="{BB962C8B-B14F-4D97-AF65-F5344CB8AC3E}">
        <p14:creationId xmlns:p14="http://schemas.microsoft.com/office/powerpoint/2010/main" val="40350952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Header Placeholder 3"/>
          <p:cNvSpPr>
            <a:spLocks noGrp="1"/>
          </p:cNvSpPr>
          <p:nvPr>
            <p:ph type="hdr" sz="quarter" idx="10"/>
          </p:nvPr>
        </p:nvSpPr>
        <p:spPr/>
        <p:txBody>
          <a:bodyPr/>
          <a:lstStyle/>
          <a:p>
            <a:pPr>
              <a:defRPr/>
            </a:pPr>
            <a:r>
              <a:rPr lang="vi-VN"/>
              <a:t>Công nghệ phần mềm - CO3001</a:t>
            </a:r>
          </a:p>
        </p:txBody>
      </p:sp>
      <p:sp>
        <p:nvSpPr>
          <p:cNvPr id="5" name="Date Placeholder 4"/>
          <p:cNvSpPr>
            <a:spLocks noGrp="1"/>
          </p:cNvSpPr>
          <p:nvPr>
            <p:ph type="dt" idx="11"/>
          </p:nvPr>
        </p:nvSpPr>
        <p:spPr/>
        <p:txBody>
          <a:bodyPr/>
          <a:lstStyle/>
          <a:p>
            <a:pPr>
              <a:defRPr/>
            </a:pPr>
            <a:fld id="{D8DE262F-1AA5-4E15-B47F-AB6D8B2A3739}" type="datetime1">
              <a:rPr lang="en-US" smtClean="0"/>
              <a:t>10/5/26</a:t>
            </a:fld>
            <a:endParaRPr lang="en-US"/>
          </a:p>
        </p:txBody>
      </p:sp>
      <p:sp>
        <p:nvSpPr>
          <p:cNvPr id="6" name="Slide Number Placeholder 5"/>
          <p:cNvSpPr>
            <a:spLocks noGrp="1"/>
          </p:cNvSpPr>
          <p:nvPr>
            <p:ph type="sldNum" sz="quarter" idx="12"/>
          </p:nvPr>
        </p:nvSpPr>
        <p:spPr/>
        <p:txBody>
          <a:bodyPr/>
          <a:lstStyle/>
          <a:p>
            <a:pPr>
              <a:defRPr/>
            </a:pPr>
            <a:fld id="{02407299-8F8E-470E-A2BB-1AEEAB1DD04C}" type="slidenum">
              <a:rPr lang="en-US" smtClean="0"/>
              <a:pPr>
                <a:defRPr/>
              </a:pPr>
              <a:t>46</a:t>
            </a:fld>
            <a:endParaRPr lang="en-US"/>
          </a:p>
        </p:txBody>
      </p:sp>
    </p:spTree>
    <p:extLst>
      <p:ext uri="{BB962C8B-B14F-4D97-AF65-F5344CB8AC3E}">
        <p14:creationId xmlns:p14="http://schemas.microsoft.com/office/powerpoint/2010/main" val="34380443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a:xfrm>
            <a:off x="6349" y="1"/>
            <a:ext cx="12192000" cy="52938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VN"/>
          </a:p>
        </p:txBody>
      </p:sp>
      <p:sp>
        <p:nvSpPr>
          <p:cNvPr id="10" name="Freeform 9"/>
          <p:cNvSpPr/>
          <p:nvPr/>
        </p:nvSpPr>
        <p:spPr>
          <a:xfrm>
            <a:off x="6350" y="-24063"/>
            <a:ext cx="12185652"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VN"/>
          </a:p>
        </p:txBody>
      </p:sp>
      <p:sp>
        <p:nvSpPr>
          <p:cNvPr id="2" name="Title 1"/>
          <p:cNvSpPr>
            <a:spLocks noGrp="1"/>
          </p:cNvSpPr>
          <p:nvPr>
            <p:ph type="ctrTitle"/>
          </p:nvPr>
        </p:nvSpPr>
        <p:spPr>
          <a:xfrm>
            <a:off x="457200" y="3897256"/>
            <a:ext cx="7772400" cy="1463040"/>
          </a:xfrm>
        </p:spPr>
        <p:txBody>
          <a:bodyPr anchor="ctr">
            <a:normAutofit/>
          </a:bodyPr>
          <a:lstStyle>
            <a:lvl1pPr algn="r">
              <a:defRPr sz="3600" spc="200" baseline="0"/>
            </a:lvl1pPr>
          </a:lstStyle>
          <a:p>
            <a:r>
              <a:rPr lang="en-US"/>
              <a:t>Click to edit Master title style</a:t>
            </a:r>
            <a:endParaRPr lang="en-US" dirty="0"/>
          </a:p>
        </p:txBody>
      </p:sp>
      <p:sp>
        <p:nvSpPr>
          <p:cNvPr id="3" name="Subtitle 2"/>
          <p:cNvSpPr>
            <a:spLocks noGrp="1"/>
          </p:cNvSpPr>
          <p:nvPr>
            <p:ph type="subTitle" idx="1" hasCustomPrompt="1"/>
          </p:nvPr>
        </p:nvSpPr>
        <p:spPr>
          <a:xfrm>
            <a:off x="8610600" y="3897256"/>
            <a:ext cx="3200400" cy="1463040"/>
          </a:xfrm>
        </p:spPr>
        <p:txBody>
          <a:bodyPr lIns="91440" rIns="91440" anchor="ctr">
            <a:normAutofit/>
          </a:bodyPr>
          <a:lstStyle>
            <a:lvl1pPr marL="0" indent="0" algn="l">
              <a:lnSpc>
                <a:spcPct val="100000"/>
              </a:lnSpc>
              <a:spcBef>
                <a:spcPts val="0"/>
              </a:spcBef>
              <a:buNone/>
              <a:defRPr sz="160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Thang</a:t>
            </a:r>
            <a:r>
              <a:rPr lang="en-US" dirty="0"/>
              <a:t> Bui</a:t>
            </a:r>
          </a:p>
        </p:txBody>
      </p:sp>
      <p:cxnSp>
        <p:nvCxnSpPr>
          <p:cNvPr id="8" name="Straight Connector 7"/>
          <p:cNvCxnSpPr/>
          <p:nvPr/>
        </p:nvCxnSpPr>
        <p:spPr>
          <a:xfrm flipV="1">
            <a:off x="8386843" y="4201225"/>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034709"/>
            <a:ext cx="1278800" cy="871990"/>
          </a:xfrm>
          <a:prstGeom prst="rect">
            <a:avLst/>
          </a:prstGeom>
        </p:spPr>
      </p:pic>
      <p:sp>
        <p:nvSpPr>
          <p:cNvPr id="11" name="Title 1"/>
          <p:cNvSpPr txBox="1">
            <a:spLocks/>
          </p:cNvSpPr>
          <p:nvPr/>
        </p:nvSpPr>
        <p:spPr>
          <a:xfrm>
            <a:off x="3322651" y="529389"/>
            <a:ext cx="7772400" cy="2317424"/>
          </a:xfrm>
          <a:prstGeom prst="rect">
            <a:avLst/>
          </a:prstGeom>
        </p:spPr>
        <p:txBody>
          <a:bodyPr vert="horz" lIns="91440" tIns="45720" rIns="91440" bIns="45720" rtlCol="0" anchor="ctr">
            <a:noAutofit/>
          </a:bodyPr>
          <a:lstStyle>
            <a:lvl1pPr algn="r" defTabSz="914400" rtl="0" eaLnBrk="1" latinLnBrk="0" hangingPunct="1">
              <a:lnSpc>
                <a:spcPct val="80000"/>
              </a:lnSpc>
              <a:spcBef>
                <a:spcPct val="0"/>
              </a:spcBef>
              <a:buNone/>
              <a:defRPr sz="4400" kern="1200" cap="all" spc="200" baseline="0">
                <a:solidFill>
                  <a:schemeClr val="tx1">
                    <a:lumMod val="95000"/>
                    <a:lumOff val="5000"/>
                  </a:schemeClr>
                </a:solidFill>
                <a:latin typeface="+mj-lt"/>
                <a:ea typeface="+mj-ea"/>
                <a:cs typeface="+mj-cs"/>
              </a:defRPr>
            </a:lvl1pPr>
          </a:lstStyle>
          <a:p>
            <a:pPr fontAlgn="auto">
              <a:spcAft>
                <a:spcPts val="0"/>
              </a:spcAft>
            </a:pPr>
            <a:r>
              <a:rPr lang="en-US" sz="8000" dirty="0"/>
              <a:t>Software engineering</a:t>
            </a:r>
          </a:p>
        </p:txBody>
      </p:sp>
      <p:sp>
        <p:nvSpPr>
          <p:cNvPr id="12" name="Rectangle 11"/>
          <p:cNvSpPr/>
          <p:nvPr/>
        </p:nvSpPr>
        <p:spPr>
          <a:xfrm>
            <a:off x="1191768" y="6525692"/>
            <a:ext cx="7418832" cy="276999"/>
          </a:xfrm>
          <a:prstGeom prst="rect">
            <a:avLst/>
          </a:prstGeom>
        </p:spPr>
        <p:txBody>
          <a:bodyPr wrap="square">
            <a:spAutoFit/>
          </a:bodyPr>
          <a:lstStyle/>
          <a:p>
            <a:r>
              <a:rPr lang="en-US" sz="1200" dirty="0"/>
              <a:t>Adapted from https://iansommerville.com/software-engineering-book/slides/</a:t>
            </a:r>
          </a:p>
        </p:txBody>
      </p:sp>
      <p:sp>
        <p:nvSpPr>
          <p:cNvPr id="13" name="TextBox 12"/>
          <p:cNvSpPr txBox="1"/>
          <p:nvPr/>
        </p:nvSpPr>
        <p:spPr>
          <a:xfrm>
            <a:off x="9284299" y="2410485"/>
            <a:ext cx="1358064" cy="707886"/>
          </a:xfrm>
          <a:prstGeom prst="rect">
            <a:avLst/>
          </a:prstGeom>
          <a:noFill/>
        </p:spPr>
        <p:txBody>
          <a:bodyPr wrap="none" rtlCol="0">
            <a:spAutoFit/>
          </a:bodyPr>
          <a:lstStyle/>
          <a:p>
            <a:r>
              <a:rPr lang="en-US" sz="4000" dirty="0">
                <a:latin typeface="+mj-lt"/>
              </a:rPr>
              <a:t>CO3001</a:t>
            </a:r>
          </a:p>
        </p:txBody>
      </p:sp>
    </p:spTree>
    <p:extLst>
      <p:ext uri="{BB962C8B-B14F-4D97-AF65-F5344CB8AC3E}">
        <p14:creationId xmlns:p14="http://schemas.microsoft.com/office/powerpoint/2010/main" val="3763574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24130" y="6470704"/>
            <a:ext cx="2154143" cy="274320"/>
          </a:xfrm>
          <a:prstGeom prst="rect">
            <a:avLst/>
          </a:prstGeom>
        </p:spPr>
        <p:txBody>
          <a:bodyPr/>
          <a:lstStyle/>
          <a:p>
            <a:fld id="{35731269-D84E-417B-920D-B33105E8501B}" type="datetime1">
              <a:rPr lang="nb-NO" smtClean="0"/>
              <a:t>05.10.2026</a:t>
            </a:fld>
            <a:endParaRPr lang="en-US" dirty="0"/>
          </a:p>
        </p:txBody>
      </p:sp>
      <p:sp>
        <p:nvSpPr>
          <p:cNvPr id="5" name="Footer Placeholder 4"/>
          <p:cNvSpPr>
            <a:spLocks noGrp="1"/>
          </p:cNvSpPr>
          <p:nvPr>
            <p:ph type="ftr" sz="quarter" idx="11"/>
          </p:nvPr>
        </p:nvSpPr>
        <p:spPr/>
        <p:txBody>
          <a:bodyPr/>
          <a:lstStyle/>
          <a:p>
            <a:r>
              <a:rPr lang="en-US"/>
              <a:t>Chapter 7.3. More on Implementation</a:t>
            </a:r>
          </a:p>
        </p:txBody>
      </p:sp>
      <p:sp>
        <p:nvSpPr>
          <p:cNvPr id="6" name="Slide Number Placeholder 5"/>
          <p:cNvSpPr>
            <a:spLocks noGrp="1"/>
          </p:cNvSpPr>
          <p:nvPr>
            <p:ph type="sldNum" sz="quarter" idx="12"/>
          </p:nvPr>
        </p:nvSpPr>
        <p:spPr/>
        <p:txBody>
          <a:bodyPr/>
          <a:lstStyle/>
          <a:p>
            <a:fld id="{EC33B370-F672-B743-B3AF-248A63C17270}" type="slidenum">
              <a:rPr lang="en-US" smtClean="0"/>
              <a:pPr/>
              <a:t>‹#›</a:t>
            </a:fld>
            <a:endParaRPr lang="en-US"/>
          </a:p>
        </p:txBody>
      </p:sp>
    </p:spTree>
    <p:extLst>
      <p:ext uri="{BB962C8B-B14F-4D97-AF65-F5344CB8AC3E}">
        <p14:creationId xmlns:p14="http://schemas.microsoft.com/office/powerpoint/2010/main" val="2778304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1"/>
            <a:ext cx="12192000" cy="577516"/>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Freeform 10"/>
          <p:cNvSpPr/>
          <p:nvPr/>
        </p:nvSpPr>
        <p:spPr>
          <a:xfrm>
            <a:off x="6350" y="1"/>
            <a:ext cx="12185652"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3885224"/>
            <a:ext cx="7772400" cy="1463040"/>
          </a:xfrm>
        </p:spPr>
        <p:txBody>
          <a:bodyPr anchor="ctr">
            <a:normAutofit/>
          </a:bodyPr>
          <a:lstStyle>
            <a:lvl1pPr algn="r">
              <a:defRPr sz="44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3885224"/>
            <a:ext cx="32004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1024130" y="6470704"/>
            <a:ext cx="2154143" cy="274320"/>
          </a:xfrm>
          <a:prstGeom prst="rect">
            <a:avLst/>
          </a:prstGeom>
        </p:spPr>
        <p:txBody>
          <a:bodyPr/>
          <a:lstStyle/>
          <a:p>
            <a:fld id="{FA94AACC-DA84-4F70-9296-06C1D6DDBA57}" type="datetime1">
              <a:rPr lang="nb-NO" smtClean="0"/>
              <a:t>05.10.2026</a:t>
            </a:fld>
            <a:endParaRPr lang="en-US" dirty="0"/>
          </a:p>
        </p:txBody>
      </p:sp>
      <p:sp>
        <p:nvSpPr>
          <p:cNvPr id="5" name="Footer Placeholder 4"/>
          <p:cNvSpPr>
            <a:spLocks noGrp="1"/>
          </p:cNvSpPr>
          <p:nvPr>
            <p:ph type="ftr" sz="quarter" idx="11"/>
          </p:nvPr>
        </p:nvSpPr>
        <p:spPr/>
        <p:txBody>
          <a:bodyPr/>
          <a:lstStyle/>
          <a:p>
            <a:r>
              <a:rPr lang="en-US"/>
              <a:t>Chapter 7.3. More on Implementation</a:t>
            </a:r>
          </a:p>
        </p:txBody>
      </p:sp>
      <p:sp>
        <p:nvSpPr>
          <p:cNvPr id="6" name="Slide Number Placeholder 5"/>
          <p:cNvSpPr>
            <a:spLocks noGrp="1"/>
          </p:cNvSpPr>
          <p:nvPr>
            <p:ph type="sldNum" sz="quarter" idx="12"/>
          </p:nvPr>
        </p:nvSpPr>
        <p:spPr/>
        <p:txBody>
          <a:bodyPr/>
          <a:lstStyle/>
          <a:p>
            <a:fld id="{EC33B370-F672-B743-B3AF-248A63C17270}" type="slidenum">
              <a:rPr lang="en-US" smtClean="0"/>
              <a:pPr/>
              <a:t>‹#›</a:t>
            </a:fld>
            <a:endParaRPr lang="en-US"/>
          </a:p>
        </p:txBody>
      </p:sp>
      <p:cxnSp>
        <p:nvCxnSpPr>
          <p:cNvPr id="8" name="Straight Connector 7"/>
          <p:cNvCxnSpPr/>
          <p:nvPr/>
        </p:nvCxnSpPr>
        <p:spPr>
          <a:xfrm flipV="1">
            <a:off x="8386843" y="4189193"/>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4800"/>
            <a:ext cx="869947" cy="593200"/>
          </a:xfrm>
          <a:prstGeom prst="rect">
            <a:avLst/>
          </a:prstGeom>
        </p:spPr>
      </p:pic>
    </p:spTree>
    <p:extLst>
      <p:ext uri="{BB962C8B-B14F-4D97-AF65-F5344CB8AC3E}">
        <p14:creationId xmlns:p14="http://schemas.microsoft.com/office/powerpoint/2010/main" val="18774413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96254"/>
            <a:ext cx="10786873" cy="12272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8" y="1524002"/>
            <a:ext cx="4965192" cy="47853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81011" y="1524002"/>
            <a:ext cx="5329988" cy="47853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1024130" y="6470704"/>
            <a:ext cx="2154143" cy="274320"/>
          </a:xfrm>
          <a:prstGeom prst="rect">
            <a:avLst/>
          </a:prstGeom>
        </p:spPr>
        <p:txBody>
          <a:bodyPr/>
          <a:lstStyle/>
          <a:p>
            <a:fld id="{9AF012D5-FCD3-4AC0-B590-3BB7CDCBD55A}" type="datetime1">
              <a:rPr lang="nb-NO" smtClean="0"/>
              <a:t>05.10.2026</a:t>
            </a:fld>
            <a:endParaRPr lang="en-US" dirty="0"/>
          </a:p>
        </p:txBody>
      </p:sp>
      <p:sp>
        <p:nvSpPr>
          <p:cNvPr id="6" name="Footer Placeholder 5"/>
          <p:cNvSpPr>
            <a:spLocks noGrp="1"/>
          </p:cNvSpPr>
          <p:nvPr>
            <p:ph type="ftr" sz="quarter" idx="11"/>
          </p:nvPr>
        </p:nvSpPr>
        <p:spPr/>
        <p:txBody>
          <a:bodyPr/>
          <a:lstStyle/>
          <a:p>
            <a:r>
              <a:rPr lang="en-US"/>
              <a:t>Chapter 7.3. More on Implementation</a:t>
            </a:r>
          </a:p>
        </p:txBody>
      </p:sp>
      <p:sp>
        <p:nvSpPr>
          <p:cNvPr id="7" name="Slide Number Placeholder 6"/>
          <p:cNvSpPr>
            <a:spLocks noGrp="1"/>
          </p:cNvSpPr>
          <p:nvPr>
            <p:ph type="sldNum" sz="quarter" idx="12"/>
          </p:nvPr>
        </p:nvSpPr>
        <p:spPr/>
        <p:txBody>
          <a:bodyPr/>
          <a:lstStyle/>
          <a:p>
            <a:fld id="{EC33B370-F672-B743-B3AF-248A63C17270}" type="slidenum">
              <a:rPr lang="en-US" smtClean="0"/>
              <a:pPr/>
              <a:t>‹#›</a:t>
            </a:fld>
            <a:endParaRPr lang="en-US"/>
          </a:p>
        </p:txBody>
      </p:sp>
    </p:spTree>
    <p:extLst>
      <p:ext uri="{BB962C8B-B14F-4D97-AF65-F5344CB8AC3E}">
        <p14:creationId xmlns:p14="http://schemas.microsoft.com/office/powerpoint/2010/main" val="1441754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24128" y="84222"/>
            <a:ext cx="10786873" cy="123925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1524002"/>
            <a:ext cx="513604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346962"/>
            <a:ext cx="5136040" cy="3962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843" y="1524002"/>
            <a:ext cx="5394157"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6416843" y="2346962"/>
            <a:ext cx="5394157" cy="3962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1024130" y="6470704"/>
            <a:ext cx="2154143" cy="274320"/>
          </a:xfrm>
          <a:prstGeom prst="rect">
            <a:avLst/>
          </a:prstGeom>
        </p:spPr>
        <p:txBody>
          <a:bodyPr/>
          <a:lstStyle/>
          <a:p>
            <a:fld id="{31F2BBAE-6064-484C-BDBB-D9B9C726B049}" type="datetime1">
              <a:rPr lang="nb-NO" smtClean="0"/>
              <a:t>05.10.2026</a:t>
            </a:fld>
            <a:endParaRPr lang="en-US" dirty="0"/>
          </a:p>
        </p:txBody>
      </p:sp>
      <p:sp>
        <p:nvSpPr>
          <p:cNvPr id="8" name="Footer Placeholder 7"/>
          <p:cNvSpPr>
            <a:spLocks noGrp="1"/>
          </p:cNvSpPr>
          <p:nvPr>
            <p:ph type="ftr" sz="quarter" idx="11"/>
          </p:nvPr>
        </p:nvSpPr>
        <p:spPr/>
        <p:txBody>
          <a:bodyPr/>
          <a:lstStyle/>
          <a:p>
            <a:r>
              <a:rPr lang="en-US"/>
              <a:t>Chapter 7.3. More on Implementation</a:t>
            </a:r>
          </a:p>
        </p:txBody>
      </p:sp>
      <p:sp>
        <p:nvSpPr>
          <p:cNvPr id="9" name="Slide Number Placeholder 8"/>
          <p:cNvSpPr>
            <a:spLocks noGrp="1"/>
          </p:cNvSpPr>
          <p:nvPr>
            <p:ph type="sldNum" sz="quarter" idx="12"/>
          </p:nvPr>
        </p:nvSpPr>
        <p:spPr/>
        <p:txBody>
          <a:bodyPr/>
          <a:lstStyle/>
          <a:p>
            <a:fld id="{EC33B370-F672-B743-B3AF-248A63C17270}" type="slidenum">
              <a:rPr lang="en-US" smtClean="0"/>
              <a:pPr/>
              <a:t>‹#›</a:t>
            </a:fld>
            <a:endParaRPr lang="en-US"/>
          </a:p>
        </p:txBody>
      </p:sp>
    </p:spTree>
    <p:extLst>
      <p:ext uri="{BB962C8B-B14F-4D97-AF65-F5344CB8AC3E}">
        <p14:creationId xmlns:p14="http://schemas.microsoft.com/office/powerpoint/2010/main" val="1211138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1024130" y="6470704"/>
            <a:ext cx="2154143" cy="274320"/>
          </a:xfrm>
          <a:prstGeom prst="rect">
            <a:avLst/>
          </a:prstGeom>
        </p:spPr>
        <p:txBody>
          <a:bodyPr/>
          <a:lstStyle/>
          <a:p>
            <a:fld id="{F95C0B5C-2EB8-477C-8C1B-023679863D86}" type="datetime1">
              <a:rPr lang="nb-NO" smtClean="0"/>
              <a:t>05.10.2026</a:t>
            </a:fld>
            <a:endParaRPr lang="en-US" dirty="0"/>
          </a:p>
        </p:txBody>
      </p:sp>
      <p:sp>
        <p:nvSpPr>
          <p:cNvPr id="4" name="Footer Placeholder 3"/>
          <p:cNvSpPr>
            <a:spLocks noGrp="1"/>
          </p:cNvSpPr>
          <p:nvPr>
            <p:ph type="ftr" sz="quarter" idx="11"/>
          </p:nvPr>
        </p:nvSpPr>
        <p:spPr/>
        <p:txBody>
          <a:bodyPr/>
          <a:lstStyle/>
          <a:p>
            <a:r>
              <a:rPr lang="en-US"/>
              <a:t>Chapter 7.3. More on Implementation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a:t>
            </a:fld>
            <a:endParaRPr lang="en-US"/>
          </a:p>
        </p:txBody>
      </p:sp>
    </p:spTree>
    <p:extLst>
      <p:ext uri="{BB962C8B-B14F-4D97-AF65-F5344CB8AC3E}">
        <p14:creationId xmlns:p14="http://schemas.microsoft.com/office/powerpoint/2010/main" val="3471852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024130" y="6470704"/>
            <a:ext cx="2154143" cy="274320"/>
          </a:xfrm>
          <a:prstGeom prst="rect">
            <a:avLst/>
          </a:prstGeom>
        </p:spPr>
        <p:txBody>
          <a:bodyPr/>
          <a:lstStyle/>
          <a:p>
            <a:fld id="{47096BB5-34B9-4F3F-8D60-04A62AF84EA0}" type="datetime1">
              <a:rPr lang="nb-NO" smtClean="0"/>
              <a:t>05.10.2026</a:t>
            </a:fld>
            <a:endParaRPr lang="en-US" dirty="0"/>
          </a:p>
        </p:txBody>
      </p:sp>
      <p:sp>
        <p:nvSpPr>
          <p:cNvPr id="3" name="Footer Placeholder 2"/>
          <p:cNvSpPr>
            <a:spLocks noGrp="1"/>
          </p:cNvSpPr>
          <p:nvPr>
            <p:ph type="ftr" sz="quarter" idx="11"/>
          </p:nvPr>
        </p:nvSpPr>
        <p:spPr/>
        <p:txBody>
          <a:bodyPr/>
          <a:lstStyle/>
          <a:p>
            <a:r>
              <a:rPr lang="en-US"/>
              <a:t>Chapter 7.3. More on Implementation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4800"/>
            <a:ext cx="869947" cy="593200"/>
          </a:xfrm>
          <a:prstGeom prst="rect">
            <a:avLst/>
          </a:prstGeom>
        </p:spPr>
      </p:pic>
    </p:spTree>
    <p:extLst>
      <p:ext uri="{BB962C8B-B14F-4D97-AF65-F5344CB8AC3E}">
        <p14:creationId xmlns:p14="http://schemas.microsoft.com/office/powerpoint/2010/main" val="3132084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36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1024130" y="6470704"/>
            <a:ext cx="2154143" cy="274320"/>
          </a:xfrm>
          <a:prstGeom prst="rect">
            <a:avLst/>
          </a:prstGeom>
        </p:spPr>
        <p:txBody>
          <a:bodyPr/>
          <a:lstStyle/>
          <a:p>
            <a:fld id="{ADCFF27E-7040-4319-9526-0A4C46945924}" type="datetime1">
              <a:rPr lang="nb-NO" smtClean="0"/>
              <a:t>05.10.2026</a:t>
            </a:fld>
            <a:endParaRPr lang="en-US" dirty="0"/>
          </a:p>
        </p:txBody>
      </p:sp>
      <p:sp>
        <p:nvSpPr>
          <p:cNvPr id="6" name="Footer Placeholder 5"/>
          <p:cNvSpPr>
            <a:spLocks noGrp="1"/>
          </p:cNvSpPr>
          <p:nvPr>
            <p:ph type="ftr" sz="quarter" idx="11"/>
          </p:nvPr>
        </p:nvSpPr>
        <p:spPr/>
        <p:txBody>
          <a:bodyPr/>
          <a:lstStyle/>
          <a:p>
            <a:r>
              <a:rPr lang="en-US"/>
              <a:t>Chapter 7.3. More on Implementation</a:t>
            </a:r>
          </a:p>
        </p:txBody>
      </p:sp>
      <p:sp>
        <p:nvSpPr>
          <p:cNvPr id="7" name="Slide Number Placeholder 6"/>
          <p:cNvSpPr>
            <a:spLocks noGrp="1"/>
          </p:cNvSpPr>
          <p:nvPr>
            <p:ph type="sldNum" sz="quarter" idx="12"/>
          </p:nvPr>
        </p:nvSpPr>
        <p:spPr/>
        <p:txBody>
          <a:bodyPr/>
          <a:lstStyle/>
          <a:p>
            <a:fld id="{EC33B370-F672-B743-B3AF-248A63C17270}" type="slidenum">
              <a:rPr lang="en-US" smtClean="0"/>
              <a:pPr/>
              <a:t>‹#›</a:t>
            </a:fld>
            <a:endParaRPr lang="en-US"/>
          </a:p>
        </p:txBody>
      </p:sp>
    </p:spTree>
    <p:extLst>
      <p:ext uri="{BB962C8B-B14F-4D97-AF65-F5344CB8AC3E}">
        <p14:creationId xmlns:p14="http://schemas.microsoft.com/office/powerpoint/2010/main" val="1775014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44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024130" y="6470704"/>
            <a:ext cx="2154143" cy="274320"/>
          </a:xfrm>
          <a:prstGeom prst="rect">
            <a:avLst/>
          </a:prstGeom>
        </p:spPr>
        <p:txBody>
          <a:bodyPr/>
          <a:lstStyle/>
          <a:p>
            <a:fld id="{2D48A13C-99D7-4EFE-947B-068856DD8C1E}" type="datetime1">
              <a:rPr lang="nb-NO" smtClean="0"/>
              <a:t>05.10.2026</a:t>
            </a:fld>
            <a:endParaRPr lang="en-US"/>
          </a:p>
        </p:txBody>
      </p:sp>
      <p:sp>
        <p:nvSpPr>
          <p:cNvPr id="6" name="Footer Placeholder 5"/>
          <p:cNvSpPr>
            <a:spLocks noGrp="1"/>
          </p:cNvSpPr>
          <p:nvPr>
            <p:ph type="ftr" sz="quarter" idx="11"/>
          </p:nvPr>
        </p:nvSpPr>
        <p:spPr/>
        <p:txBody>
          <a:bodyPr/>
          <a:lstStyle/>
          <a:p>
            <a:r>
              <a:rPr lang="en-US"/>
              <a:t>Chapter 7.3. More on Implementation</a:t>
            </a:r>
          </a:p>
        </p:txBody>
      </p:sp>
      <p:sp>
        <p:nvSpPr>
          <p:cNvPr id="7" name="Slide Number Placeholder 6"/>
          <p:cNvSpPr>
            <a:spLocks noGrp="1"/>
          </p:cNvSpPr>
          <p:nvPr>
            <p:ph type="sldNum" sz="quarter" idx="12"/>
          </p:nvPr>
        </p:nvSpPr>
        <p:spPr/>
        <p:txBody>
          <a:bodyPr/>
          <a:lstStyle/>
          <a:p>
            <a:fld id="{EC33B370-F672-B743-B3AF-248A63C17270}" type="slidenum">
              <a:rPr lang="en-US" smtClean="0"/>
              <a:pPr/>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4800"/>
            <a:ext cx="869947" cy="593200"/>
          </a:xfrm>
          <a:prstGeom prst="rect">
            <a:avLst/>
          </a:prstGeom>
        </p:spPr>
      </p:pic>
    </p:spTree>
    <p:extLst>
      <p:ext uri="{BB962C8B-B14F-4D97-AF65-F5344CB8AC3E}">
        <p14:creationId xmlns:p14="http://schemas.microsoft.com/office/powerpoint/2010/main" val="3720526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24130" y="6470704"/>
            <a:ext cx="2154143" cy="274320"/>
          </a:xfrm>
          <a:prstGeom prst="rect">
            <a:avLst/>
          </a:prstGeom>
        </p:spPr>
        <p:txBody>
          <a:bodyPr/>
          <a:lstStyle/>
          <a:p>
            <a:fld id="{EA267463-1597-43CB-81F7-3E2CC6B2BD59}" type="datetime1">
              <a:rPr lang="nb-NO" smtClean="0"/>
              <a:t>05.10.2026</a:t>
            </a:fld>
            <a:endParaRPr lang="en-US"/>
          </a:p>
        </p:txBody>
      </p:sp>
      <p:sp>
        <p:nvSpPr>
          <p:cNvPr id="5" name="Footer Placeholder 4"/>
          <p:cNvSpPr>
            <a:spLocks noGrp="1"/>
          </p:cNvSpPr>
          <p:nvPr>
            <p:ph type="ftr" sz="quarter" idx="11"/>
          </p:nvPr>
        </p:nvSpPr>
        <p:spPr/>
        <p:txBody>
          <a:bodyPr/>
          <a:lstStyle/>
          <a:p>
            <a:r>
              <a:rPr lang="en-US"/>
              <a:t>Chapter 7.3. More on Implementation</a:t>
            </a:r>
          </a:p>
        </p:txBody>
      </p:sp>
      <p:sp>
        <p:nvSpPr>
          <p:cNvPr id="6" name="Slide Number Placeholder 5"/>
          <p:cNvSpPr>
            <a:spLocks noGrp="1"/>
          </p:cNvSpPr>
          <p:nvPr>
            <p:ph type="sldNum" sz="quarter" idx="12"/>
          </p:nvPr>
        </p:nvSpPr>
        <p:spPr/>
        <p:txBody>
          <a:bodyPr/>
          <a:lstStyle/>
          <a:p>
            <a:fld id="{EC33B370-F672-B743-B3AF-248A63C17270}" type="slidenum">
              <a:rPr lang="en-US" smtClean="0"/>
              <a:pPr/>
              <a:t>‹#›</a:t>
            </a:fld>
            <a:endParaRPr lang="en-US"/>
          </a:p>
        </p:txBody>
      </p:sp>
    </p:spTree>
    <p:extLst>
      <p:ext uri="{BB962C8B-B14F-4D97-AF65-F5344CB8AC3E}">
        <p14:creationId xmlns:p14="http://schemas.microsoft.com/office/powerpoint/2010/main" val="2954862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2"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24130" y="6470704"/>
            <a:ext cx="2154143" cy="274320"/>
          </a:xfrm>
          <a:prstGeom prst="rect">
            <a:avLst/>
          </a:prstGeom>
        </p:spPr>
        <p:txBody>
          <a:bodyPr/>
          <a:lstStyle/>
          <a:p>
            <a:fld id="{3CD53F29-7FAE-4ED3-A22A-A0AC411E841E}" type="datetime1">
              <a:rPr lang="nb-NO" smtClean="0"/>
              <a:t>05.10.2026</a:t>
            </a:fld>
            <a:endParaRPr lang="en-US"/>
          </a:p>
        </p:txBody>
      </p:sp>
      <p:sp>
        <p:nvSpPr>
          <p:cNvPr id="5" name="Footer Placeholder 4"/>
          <p:cNvSpPr>
            <a:spLocks noGrp="1"/>
          </p:cNvSpPr>
          <p:nvPr>
            <p:ph type="ftr" sz="quarter" idx="11"/>
          </p:nvPr>
        </p:nvSpPr>
        <p:spPr/>
        <p:txBody>
          <a:bodyPr/>
          <a:lstStyle/>
          <a:p>
            <a:r>
              <a:rPr lang="en-US"/>
              <a:t>Chapter 7.3. More on Implementation</a:t>
            </a:r>
          </a:p>
        </p:txBody>
      </p:sp>
      <p:sp>
        <p:nvSpPr>
          <p:cNvPr id="6" name="Slide Number Placeholder 5"/>
          <p:cNvSpPr>
            <a:spLocks noGrp="1"/>
          </p:cNvSpPr>
          <p:nvPr>
            <p:ph type="sldNum" sz="quarter" idx="12"/>
          </p:nvPr>
        </p:nvSpPr>
        <p:spPr/>
        <p:txBody>
          <a:bodyPr/>
          <a:lstStyle/>
          <a:p>
            <a:fld id="{EC33B370-F672-B743-B3AF-248A63C17270}" type="slidenum">
              <a:rPr lang="en-US" smtClean="0"/>
              <a:pPr/>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4800"/>
            <a:ext cx="869947" cy="593200"/>
          </a:xfrm>
          <a:prstGeom prst="rect">
            <a:avLst/>
          </a:prstGeom>
        </p:spPr>
      </p:pic>
    </p:spTree>
    <p:extLst>
      <p:ext uri="{BB962C8B-B14F-4D97-AF65-F5344CB8AC3E}">
        <p14:creationId xmlns:p14="http://schemas.microsoft.com/office/powerpoint/2010/main" val="42924444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ext Only">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024130" y="6470704"/>
            <a:ext cx="2154143" cy="274320"/>
          </a:xfrm>
          <a:prstGeom prst="rect">
            <a:avLst/>
          </a:prstGeom>
        </p:spPr>
        <p:txBody>
          <a:bodyPr rtlCol="0"/>
          <a:lstStyle>
            <a:lvl1pPr>
              <a:defRPr smtClean="0">
                <a:latin typeface="Arial" pitchFamily="34" charset="0"/>
                <a:cs typeface="Arial" pitchFamily="34" charset="0"/>
              </a:defRPr>
            </a:lvl1pPr>
          </a:lstStyle>
          <a:p>
            <a:fld id="{4567E816-16E4-423A-9B29-3F8133B30BE1}" type="datetime1">
              <a:rPr lang="nb-NO" smtClean="0"/>
              <a:t>05.10.2026</a:t>
            </a:fld>
            <a:endParaRPr lang="en-US" dirty="0"/>
          </a:p>
        </p:txBody>
      </p:sp>
      <p:sp>
        <p:nvSpPr>
          <p:cNvPr id="3" name="Footer Placeholder 2"/>
          <p:cNvSpPr>
            <a:spLocks noGrp="1"/>
          </p:cNvSpPr>
          <p:nvPr>
            <p:ph type="ftr" sz="quarter" idx="11"/>
          </p:nvPr>
        </p:nvSpPr>
        <p:spPr/>
        <p:txBody>
          <a:bodyPr/>
          <a:lstStyle>
            <a:lvl1pPr>
              <a:defRPr/>
            </a:lvl1pPr>
          </a:lstStyle>
          <a:p>
            <a:r>
              <a:rPr lang="en-US"/>
              <a:t>Chapter 7.3. More on Implementation</a:t>
            </a:r>
          </a:p>
        </p:txBody>
      </p:sp>
      <p:sp>
        <p:nvSpPr>
          <p:cNvPr id="4" name="Slide Number Placeholder 3"/>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
        <p:nvSpPr>
          <p:cNvPr id="7" name="Content Placeholder 2"/>
          <p:cNvSpPr>
            <a:spLocks noGrp="1"/>
          </p:cNvSpPr>
          <p:nvPr>
            <p:ph idx="1"/>
          </p:nvPr>
        </p:nvSpPr>
        <p:spPr>
          <a:xfrm>
            <a:off x="609600" y="673100"/>
            <a:ext cx="10972800" cy="580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06346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7" y="96254"/>
            <a:ext cx="10786871" cy="121518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1528012"/>
            <a:ext cx="10786872" cy="4781349"/>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842933"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r>
              <a:rPr lang="en-US"/>
              <a:t>Chapter 7.3. More on Implementation</a:t>
            </a:r>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C33B370-F672-B743-B3AF-248A63C17270}" type="slidenum">
              <a:rPr lang="en-US" smtClean="0"/>
              <a:pPr/>
              <a:t>‹#›</a:t>
            </a:fld>
            <a:endParaRPr lang="en-US"/>
          </a:p>
        </p:txBody>
      </p:sp>
      <p:cxnSp>
        <p:nvCxnSpPr>
          <p:cNvPr id="7" name="Straight Connector 6"/>
          <p:cNvCxnSpPr/>
          <p:nvPr/>
        </p:nvCxnSpPr>
        <p:spPr>
          <a:xfrm flipV="1">
            <a:off x="762000" y="224745"/>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6264800"/>
            <a:ext cx="869947" cy="593200"/>
          </a:xfrm>
          <a:prstGeom prst="rect">
            <a:avLst/>
          </a:prstGeom>
        </p:spPr>
      </p:pic>
    </p:spTree>
    <p:extLst>
      <p:ext uri="{BB962C8B-B14F-4D97-AF65-F5344CB8AC3E}">
        <p14:creationId xmlns:p14="http://schemas.microsoft.com/office/powerpoint/2010/main" val="1771131391"/>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Lst>
  <p:hf hdr="0"/>
  <p:txStyles>
    <p:titleStyle>
      <a:lvl1pPr algn="l" defTabSz="914400" rtl="0" eaLnBrk="1" latinLnBrk="0" hangingPunct="1">
        <a:lnSpc>
          <a:spcPct val="80000"/>
        </a:lnSpc>
        <a:spcBef>
          <a:spcPct val="0"/>
        </a:spcBef>
        <a:buNone/>
        <a:defRPr sz="3600" kern="1200" cap="all" spc="100" baseline="0">
          <a:solidFill>
            <a:schemeClr val="tx1">
              <a:lumMod val="95000"/>
              <a:lumOff val="5000"/>
            </a:schemeClr>
          </a:solidFill>
          <a:latin typeface="+mj-lt"/>
          <a:ea typeface="+mj-ea"/>
          <a:cs typeface="+mj-cs"/>
        </a:defRPr>
      </a:lvl1pPr>
    </p:titleStyle>
    <p:bodyStyle>
      <a:lvl1pPr marL="400050" indent="-400050" algn="l" defTabSz="914400" rtl="0" eaLnBrk="1" latinLnBrk="0" hangingPunct="1">
        <a:lnSpc>
          <a:spcPct val="90000"/>
        </a:lnSpc>
        <a:spcBef>
          <a:spcPts val="1200"/>
        </a:spcBef>
        <a:spcAft>
          <a:spcPts val="200"/>
        </a:spcAft>
        <a:buClr>
          <a:schemeClr val="accent1"/>
        </a:buClr>
        <a:buSzPct val="100000"/>
        <a:buFont typeface="Wingdings" panose="05000000000000000000" pitchFamily="2" charset="2"/>
        <a:buChar char=""/>
        <a:defRPr sz="3200" kern="1200">
          <a:solidFill>
            <a:schemeClr val="tx1"/>
          </a:solidFill>
          <a:latin typeface="+mn-lt"/>
          <a:ea typeface="+mn-ea"/>
          <a:cs typeface="+mn-cs"/>
        </a:defRPr>
      </a:lvl1pPr>
      <a:lvl2pPr marL="627063" indent="-227013" algn="l" defTabSz="914400" rtl="0" eaLnBrk="1" latinLnBrk="0" hangingPunct="1">
        <a:lnSpc>
          <a:spcPct val="90000"/>
        </a:lnSpc>
        <a:spcBef>
          <a:spcPts val="200"/>
        </a:spcBef>
        <a:spcAft>
          <a:spcPts val="400"/>
        </a:spcAft>
        <a:buClr>
          <a:schemeClr val="accent1"/>
        </a:buClr>
        <a:buFont typeface="Wingdings 3" pitchFamily="18" charset="2"/>
        <a:buChar char=""/>
        <a:defRPr sz="2800" kern="1200">
          <a:solidFill>
            <a:schemeClr val="tx1"/>
          </a:solidFill>
          <a:latin typeface="+mn-lt"/>
          <a:ea typeface="+mn-ea"/>
          <a:cs typeface="+mn-cs"/>
        </a:defRPr>
      </a:lvl2pPr>
      <a:lvl3pPr marL="801688" indent="-174625"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3pPr>
      <a:lvl4pPr marL="976313" indent="-174625"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4pPr>
      <a:lvl5pPr marL="1139825" indent="-163513"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hyperlink" Target="http://www.oracle.com/technetwork/java/codeconventions-150003.pdf"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r>
              <a:rPr lang="vi-VN" dirty="0"/>
              <a:t>Chương 8 – Triển khai phần mềm</a:t>
            </a:r>
          </a:p>
        </p:txBody>
      </p:sp>
      <p:sp>
        <p:nvSpPr>
          <p:cNvPr id="4" name="Subtitle 3"/>
          <p:cNvSpPr>
            <a:spLocks noGrp="1"/>
          </p:cNvSpPr>
          <p:nvPr>
            <p:ph type="subTitle" idx="1"/>
          </p:nvPr>
        </p:nvSpPr>
        <p:spPr/>
        <p:txBody>
          <a:bodyPr/>
          <a:lstStyle/>
          <a:p>
            <a:r>
              <a:rPr lang="vi-VN" dirty="0"/>
              <a:t>Anh Nguyen-Duc</a:t>
            </a:r>
          </a:p>
          <a:p>
            <a:r>
              <a:rPr lang="vi-VN" dirty="0"/>
              <a:t>Tho Quan-Thanh</a:t>
            </a:r>
          </a:p>
        </p:txBody>
      </p:sp>
      <p:sp>
        <p:nvSpPr>
          <p:cNvPr id="5" name="TextBox 4"/>
          <p:cNvSpPr txBox="1"/>
          <p:nvPr/>
        </p:nvSpPr>
        <p:spPr>
          <a:xfrm>
            <a:off x="7752184" y="6165304"/>
            <a:ext cx="2736304" cy="369332"/>
          </a:xfrm>
          <a:prstGeom prst="rect">
            <a:avLst/>
          </a:prstGeom>
          <a:noFill/>
        </p:spPr>
        <p:txBody>
          <a:bodyPr wrap="square" rtlCol="0">
            <a:spAutoFit/>
          </a:bodyPr>
          <a:lstStyle/>
          <a:p>
            <a:pPr algn="ctr"/>
            <a:r>
              <a:rPr lang="vi-VN" b="1" dirty="0">
                <a:solidFill>
                  <a:srgbClr val="0000FF"/>
                </a:solidFill>
              </a:rPr>
              <a:t>TUẦN 8</a:t>
            </a:r>
          </a:p>
        </p:txBody>
      </p:sp>
    </p:spTree>
    <p:extLst>
      <p:ext uri="{BB962C8B-B14F-4D97-AF65-F5344CB8AC3E}">
        <p14:creationId xmlns:p14="http://schemas.microsoft.com/office/powerpoint/2010/main" val="3679777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chủ đề trong chương</a:t>
            </a:r>
            <a:endParaRPr lang="en-US" dirty="0"/>
          </a:p>
        </p:txBody>
      </p:sp>
      <p:sp>
        <p:nvSpPr>
          <p:cNvPr id="3" name="Content Placeholder 2"/>
          <p:cNvSpPr>
            <a:spLocks noGrp="1"/>
          </p:cNvSpPr>
          <p:nvPr>
            <p:ph idx="1"/>
          </p:nvPr>
        </p:nvSpPr>
        <p:spPr/>
        <p:txBody>
          <a:bodyPr/>
          <a:lstStyle/>
          <a:p>
            <a:r>
              <a:rPr lang="vi-VN" dirty="0"/>
              <a:t>Ý nghĩa của triển khai</a:t>
            </a:r>
          </a:p>
          <a:p>
            <a:r>
              <a:rPr lang="vi-VN" dirty="0"/>
              <a:t>Phong cách và chuẩn lập trình</a:t>
            </a:r>
            <a:endParaRPr lang="en-GB" dirty="0"/>
          </a:p>
          <a:p>
            <a:r>
              <a:rPr lang="vi-VN" dirty="0"/>
              <a:t>Code kèm lập luận về tính đúng đắn</a:t>
            </a:r>
          </a:p>
          <a:p>
            <a:r>
              <a:rPr lang="vi-VN" dirty="0"/>
              <a:t>Code smell và một số thực hành tốt</a:t>
            </a:r>
          </a:p>
          <a:p>
            <a:r>
              <a:rPr lang="vi-VN" dirty="0"/>
              <a:t>Kiểm tra mã nguồn (Code inspection)</a:t>
            </a:r>
          </a:p>
          <a:p>
            <a:r>
              <a:rPr lang="vi-VN" dirty="0"/>
              <a:t>Bài tập</a:t>
            </a:r>
            <a:endParaRPr lang="en-GB" dirty="0"/>
          </a:p>
        </p:txBody>
      </p:sp>
      <p:sp>
        <p:nvSpPr>
          <p:cNvPr id="10" name="Date Placeholder 9"/>
          <p:cNvSpPr>
            <a:spLocks noGrp="1"/>
          </p:cNvSpPr>
          <p:nvPr>
            <p:ph type="dt" sz="half" idx="10"/>
          </p:nvPr>
        </p:nvSpPr>
        <p:spPr/>
        <p:txBody>
          <a:bodyPr/>
          <a:lstStyle/>
          <a:p>
            <a:fld id="{1BD26329-1625-4859-BD41-121AC17F2B6B}" type="datetime1">
              <a:rPr lang="nb-NO" smtClean="0"/>
              <a:t>05.10.2026</a:t>
            </a:fld>
            <a:endParaRPr lang="en-US"/>
          </a:p>
        </p:txBody>
      </p:sp>
      <p:sp>
        <p:nvSpPr>
          <p:cNvPr id="5" name="Footer Placeholder 4"/>
          <p:cNvSpPr>
            <a:spLocks noGrp="1"/>
          </p:cNvSpPr>
          <p:nvPr>
            <p:ph type="ftr" sz="quarter" idx="11"/>
          </p:nvPr>
        </p:nvSpPr>
        <p:spPr/>
        <p:txBody>
          <a:bodyPr/>
          <a:lstStyle/>
          <a:p>
            <a:r>
              <a:rPr lang="vi-VN"/>
              <a:t>Chương 7.3. Tìm hiểu thêm về triển khai</a:t>
            </a:r>
          </a:p>
        </p:txBody>
      </p:sp>
      <p:sp>
        <p:nvSpPr>
          <p:cNvPr id="4" name="Slide Number Placeholder 3"/>
          <p:cNvSpPr>
            <a:spLocks noGrp="1"/>
          </p:cNvSpPr>
          <p:nvPr>
            <p:ph type="sldNum" sz="quarter" idx="12"/>
          </p:nvPr>
        </p:nvSpPr>
        <p:spPr/>
        <p:txBody>
          <a:bodyPr/>
          <a:lstStyle/>
          <a:p>
            <a:fld id="{EC83099C-5FA5-B04A-B819-64718E2A253A}" type="slidenum">
              <a:rPr lang="en-US" smtClean="0"/>
              <a:pPr/>
              <a:t>2</a:t>
            </a:fld>
            <a:endParaRPr lang="en-US"/>
          </a:p>
        </p:txBody>
      </p:sp>
    </p:spTree>
    <p:extLst>
      <p:ext uri="{BB962C8B-B14F-4D97-AF65-F5344CB8AC3E}">
        <p14:creationId xmlns:p14="http://schemas.microsoft.com/office/powerpoint/2010/main" val="17887501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vi-VN"/>
              <a:t>Triển khai</a:t>
            </a:r>
          </a:p>
        </p:txBody>
      </p:sp>
      <p:sp>
        <p:nvSpPr>
          <p:cNvPr id="8195" name="Rectangle 3"/>
          <p:cNvSpPr>
            <a:spLocks noGrp="1" noChangeArrowheads="1"/>
          </p:cNvSpPr>
          <p:nvPr>
            <p:ph idx="1"/>
          </p:nvPr>
        </p:nvSpPr>
        <p:spPr>
          <a:xfrm>
            <a:off x="1804416" y="1311443"/>
            <a:ext cx="8583168" cy="4781349"/>
          </a:xfrm>
        </p:spPr>
        <p:txBody>
          <a:bodyPr/>
          <a:lstStyle/>
          <a:p>
            <a:endParaRPr lang="en-US" dirty="0"/>
          </a:p>
          <a:p>
            <a:endParaRPr lang="en-US" dirty="0"/>
          </a:p>
          <a:p>
            <a:endParaRPr lang="en-US" dirty="0"/>
          </a:p>
          <a:p>
            <a:pPr marL="0" indent="0">
              <a:buNone/>
            </a:pPr>
            <a:r>
              <a:rPr lang="vi-VN" dirty="0"/>
              <a:t>Triển khai = Triển khai từng đơn vị + Tích hợp</a:t>
            </a:r>
          </a:p>
        </p:txBody>
      </p:sp>
      <p:sp>
        <p:nvSpPr>
          <p:cNvPr id="6" name="Date Placeholder 5"/>
          <p:cNvSpPr>
            <a:spLocks noGrp="1"/>
          </p:cNvSpPr>
          <p:nvPr>
            <p:ph type="dt" sz="half" idx="10"/>
          </p:nvPr>
        </p:nvSpPr>
        <p:spPr/>
        <p:txBody>
          <a:bodyPr/>
          <a:lstStyle/>
          <a:p>
            <a:fld id="{B57AAF5F-6621-4E58-A51A-93FA88ACAAEB}" type="datetime1">
              <a:rPr lang="nb-NO" smtClean="0"/>
              <a:t>05.10.2026</a:t>
            </a:fld>
            <a:endParaRPr lang="en-US"/>
          </a:p>
        </p:txBody>
      </p:sp>
      <p:sp>
        <p:nvSpPr>
          <p:cNvPr id="7" name="Footer Placeholder 6"/>
          <p:cNvSpPr>
            <a:spLocks noGrp="1"/>
          </p:cNvSpPr>
          <p:nvPr>
            <p:ph type="ftr" sz="quarter" idx="11"/>
          </p:nvPr>
        </p:nvSpPr>
        <p:spPr/>
        <p:txBody>
          <a:bodyPr/>
          <a:lstStyle/>
          <a:p>
            <a:r>
              <a:rPr lang="vi-VN"/>
              <a:t>Chương 7.3. Tìm hiểu thêm về triển khai</a:t>
            </a:r>
            <a:endParaRPr lang="en-AU"/>
          </a:p>
        </p:txBody>
      </p:sp>
      <p:sp>
        <p:nvSpPr>
          <p:cNvPr id="8" name="Slide Number Placeholder 7"/>
          <p:cNvSpPr>
            <a:spLocks noGrp="1"/>
          </p:cNvSpPr>
          <p:nvPr>
            <p:ph type="sldNum" sz="quarter" idx="12"/>
          </p:nvPr>
        </p:nvSpPr>
        <p:spPr/>
        <p:txBody>
          <a:bodyPr/>
          <a:lstStyle/>
          <a:p>
            <a:fld id="{958E74C3-62C2-46AF-942D-53E7E0CA0864}" type="slidenum">
              <a:rPr lang="en-AU" smtClean="0"/>
              <a:pPr/>
              <a:t>3</a:t>
            </a:fld>
            <a:endParaRPr lang="en-AU"/>
          </a:p>
        </p:txBody>
      </p:sp>
      <p:sp>
        <p:nvSpPr>
          <p:cNvPr id="10" name="Rectangle 9"/>
          <p:cNvSpPr/>
          <p:nvPr/>
        </p:nvSpPr>
        <p:spPr>
          <a:xfrm>
            <a:off x="7624224" y="5122356"/>
            <a:ext cx="2376264" cy="369332"/>
          </a:xfrm>
          <a:prstGeom prst="rect">
            <a:avLst/>
          </a:prstGeom>
        </p:spPr>
        <p:txBody>
          <a:bodyPr wrap="square">
            <a:spAutoFit/>
          </a:bodyPr>
          <a:lstStyle/>
          <a:p>
            <a:r>
              <a:rPr lang="vi-VN" dirty="0"/>
              <a:t>ghép tất cả lại với nhau</a:t>
            </a:r>
          </a:p>
        </p:txBody>
      </p:sp>
      <p:sp>
        <p:nvSpPr>
          <p:cNvPr id="12" name="Freeform 11"/>
          <p:cNvSpPr/>
          <p:nvPr/>
        </p:nvSpPr>
        <p:spPr>
          <a:xfrm>
            <a:off x="6428817" y="2118070"/>
            <a:ext cx="1020549" cy="1094362"/>
          </a:xfrm>
          <a:custGeom>
            <a:avLst/>
            <a:gdLst>
              <a:gd name="connsiteX0" fmla="*/ 408561 w 1020549"/>
              <a:gd name="connsiteY0" fmla="*/ 0 h 1420239"/>
              <a:gd name="connsiteX1" fmla="*/ 1011676 w 1020549"/>
              <a:gd name="connsiteY1" fmla="*/ 564205 h 1420239"/>
              <a:gd name="connsiteX2" fmla="*/ 0 w 1020549"/>
              <a:gd name="connsiteY2" fmla="*/ 1420239 h 1420239"/>
            </a:gdLst>
            <a:ahLst/>
            <a:cxnLst>
              <a:cxn ang="0">
                <a:pos x="connsiteX0" y="connsiteY0"/>
              </a:cxn>
              <a:cxn ang="0">
                <a:pos x="connsiteX1" y="connsiteY1"/>
              </a:cxn>
              <a:cxn ang="0">
                <a:pos x="connsiteX2" y="connsiteY2"/>
              </a:cxn>
            </a:cxnLst>
            <a:rect l="l" t="t" r="r" b="b"/>
            <a:pathLst>
              <a:path w="1020549" h="1420239">
                <a:moveTo>
                  <a:pt x="408561" y="0"/>
                </a:moveTo>
                <a:cubicBezTo>
                  <a:pt x="744165" y="163749"/>
                  <a:pt x="1079769" y="327499"/>
                  <a:pt x="1011676" y="564205"/>
                </a:cubicBezTo>
                <a:cubicBezTo>
                  <a:pt x="943583" y="800911"/>
                  <a:pt x="471791" y="1110575"/>
                  <a:pt x="0" y="142023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5428488" y="1780655"/>
            <a:ext cx="4572000" cy="369332"/>
          </a:xfrm>
          <a:prstGeom prst="rect">
            <a:avLst/>
          </a:prstGeom>
        </p:spPr>
        <p:txBody>
          <a:bodyPr>
            <a:spAutoFit/>
          </a:bodyPr>
          <a:lstStyle/>
          <a:p>
            <a:r>
              <a:rPr lang="vi-VN" dirty="0"/>
              <a:t>phần nhỏ nhất sẽ được bảo trì riêng biệt</a:t>
            </a:r>
          </a:p>
        </p:txBody>
      </p:sp>
      <p:sp>
        <p:nvSpPr>
          <p:cNvPr id="13" name="Freeform 12"/>
          <p:cNvSpPr/>
          <p:nvPr/>
        </p:nvSpPr>
        <p:spPr>
          <a:xfrm>
            <a:off x="7714488" y="3702117"/>
            <a:ext cx="1560507" cy="1420239"/>
          </a:xfrm>
          <a:custGeom>
            <a:avLst/>
            <a:gdLst>
              <a:gd name="connsiteX0" fmla="*/ 1212384 w 1560507"/>
              <a:gd name="connsiteY0" fmla="*/ 0 h 1420239"/>
              <a:gd name="connsiteX1" fmla="*/ 1484758 w 1560507"/>
              <a:gd name="connsiteY1" fmla="*/ 525294 h 1420239"/>
              <a:gd name="connsiteX2" fmla="*/ 6154 w 1560507"/>
              <a:gd name="connsiteY2" fmla="*/ 914400 h 1420239"/>
              <a:gd name="connsiteX3" fmla="*/ 1056741 w 1560507"/>
              <a:gd name="connsiteY3" fmla="*/ 1420239 h 1420239"/>
            </a:gdLst>
            <a:ahLst/>
            <a:cxnLst>
              <a:cxn ang="0">
                <a:pos x="connsiteX0" y="connsiteY0"/>
              </a:cxn>
              <a:cxn ang="0">
                <a:pos x="connsiteX1" y="connsiteY1"/>
              </a:cxn>
              <a:cxn ang="0">
                <a:pos x="connsiteX2" y="connsiteY2"/>
              </a:cxn>
              <a:cxn ang="0">
                <a:pos x="connsiteX3" y="connsiteY3"/>
              </a:cxn>
            </a:cxnLst>
            <a:rect l="l" t="t" r="r" b="b"/>
            <a:pathLst>
              <a:path w="1560507" h="1420239">
                <a:moveTo>
                  <a:pt x="1212384" y="0"/>
                </a:moveTo>
                <a:cubicBezTo>
                  <a:pt x="1449090" y="186447"/>
                  <a:pt x="1685796" y="372894"/>
                  <a:pt x="1484758" y="525294"/>
                </a:cubicBezTo>
                <a:cubicBezTo>
                  <a:pt x="1283720" y="677694"/>
                  <a:pt x="77490" y="765243"/>
                  <a:pt x="6154" y="914400"/>
                </a:cubicBezTo>
                <a:cubicBezTo>
                  <a:pt x="-65182" y="1063558"/>
                  <a:pt x="495779" y="1241898"/>
                  <a:pt x="1056741" y="142023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Quy tắc vàng (!?)</a:t>
            </a:r>
          </a:p>
        </p:txBody>
      </p:sp>
      <p:sp>
        <p:nvSpPr>
          <p:cNvPr id="3" name="Content Placeholder 2"/>
          <p:cNvSpPr>
            <a:spLocks noGrp="1"/>
          </p:cNvSpPr>
          <p:nvPr>
            <p:ph idx="1"/>
          </p:nvPr>
        </p:nvSpPr>
        <p:spPr/>
        <p:txBody>
          <a:bodyPr/>
          <a:lstStyle/>
          <a:p>
            <a:r>
              <a:rPr lang="vi-VN"/>
              <a:t>Các yêu cầu để làm hài lòng khách hàng</a:t>
            </a:r>
          </a:p>
          <a:p>
            <a:r>
              <a:rPr lang="vi-VN"/>
              <a:t>Thiết kế chỉ dựa trên yêu cầu</a:t>
            </a:r>
          </a:p>
          <a:p>
            <a:r>
              <a:rPr lang="vi-VN"/>
              <a:t>Triển khai chỉ dựa trên thiết kế</a:t>
            </a:r>
          </a:p>
          <a:p>
            <a:r>
              <a:rPr lang="vi-VN"/>
              <a:t>Kiểm thử dựa trên thiết kế và yêu cầu</a:t>
            </a:r>
            <a:endParaRPr lang="en-US" dirty="0"/>
          </a:p>
        </p:txBody>
      </p:sp>
      <p:sp>
        <p:nvSpPr>
          <p:cNvPr id="4" name="Date Placeholder 3"/>
          <p:cNvSpPr>
            <a:spLocks noGrp="1"/>
          </p:cNvSpPr>
          <p:nvPr>
            <p:ph type="dt" sz="half" idx="10"/>
          </p:nvPr>
        </p:nvSpPr>
        <p:spPr/>
        <p:txBody>
          <a:bodyPr/>
          <a:lstStyle/>
          <a:p>
            <a:fld id="{61BE0C35-E10B-4014-8F68-06CEC72B4AEF}" type="datetime1">
              <a:rPr lang="nb-NO" smtClean="0"/>
              <a:t>05.10.2026</a:t>
            </a:fld>
            <a:endParaRPr lang="en-US"/>
          </a:p>
        </p:txBody>
      </p:sp>
      <p:sp>
        <p:nvSpPr>
          <p:cNvPr id="5" name="Footer Placeholder 4"/>
          <p:cNvSpPr>
            <a:spLocks noGrp="1"/>
          </p:cNvSpPr>
          <p:nvPr>
            <p:ph type="ftr" sz="quarter" idx="11"/>
          </p:nvPr>
        </p:nvSpPr>
        <p:spPr/>
        <p:txBody>
          <a:bodyPr/>
          <a:lstStyle/>
          <a:p>
            <a:r>
              <a:rPr lang="vi-VN"/>
              <a:t>Chương 7.3. Tìm hiểu thêm về triển khai</a:t>
            </a:r>
            <a:endParaRPr lang="en-AU"/>
          </a:p>
        </p:txBody>
      </p:sp>
      <p:sp>
        <p:nvSpPr>
          <p:cNvPr id="6" name="Slide Number Placeholder 5"/>
          <p:cNvSpPr>
            <a:spLocks noGrp="1"/>
          </p:cNvSpPr>
          <p:nvPr>
            <p:ph type="sldNum" sz="quarter" idx="12"/>
          </p:nvPr>
        </p:nvSpPr>
        <p:spPr/>
        <p:txBody>
          <a:bodyPr/>
          <a:lstStyle/>
          <a:p>
            <a:fld id="{958E74C3-62C2-46AF-942D-53E7E0CA0864}" type="slidenum">
              <a:rPr lang="en-AU" smtClean="0"/>
              <a:pPr/>
              <a:t>4</a:t>
            </a:fld>
            <a:endParaRPr lang="en-AU"/>
          </a:p>
        </p:txBody>
      </p:sp>
    </p:spTree>
    <p:extLst>
      <p:ext uri="{BB962C8B-B14F-4D97-AF65-F5344CB8AC3E}">
        <p14:creationId xmlns:p14="http://schemas.microsoft.com/office/powerpoint/2010/main" val="3133358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827AE-4974-D093-C90F-8F8F3CE93F50}"/>
              </a:ext>
            </a:extLst>
          </p:cNvPr>
          <p:cNvSpPr>
            <a:spLocks noGrp="1"/>
          </p:cNvSpPr>
          <p:nvPr>
            <p:ph type="title"/>
          </p:nvPr>
        </p:nvSpPr>
        <p:spPr/>
        <p:txBody>
          <a:bodyPr/>
          <a:lstStyle/>
          <a:p>
            <a:r>
              <a:rPr lang="vi-VN" dirty="0"/>
              <a:t>Chất lượng code</a:t>
            </a:r>
            <a:endParaRPr lang="nb-NO" dirty="0"/>
          </a:p>
        </p:txBody>
      </p:sp>
      <p:sp>
        <p:nvSpPr>
          <p:cNvPr id="3" name="Content Placeholder 2">
            <a:extLst>
              <a:ext uri="{FF2B5EF4-FFF2-40B4-BE49-F238E27FC236}">
                <a16:creationId xmlns:a16="http://schemas.microsoft.com/office/drawing/2014/main" id="{52F9B12B-A08C-FBDA-850A-43236EF14936}"/>
              </a:ext>
            </a:extLst>
          </p:cNvPr>
          <p:cNvSpPr>
            <a:spLocks noGrp="1"/>
          </p:cNvSpPr>
          <p:nvPr>
            <p:ph idx="1"/>
          </p:nvPr>
        </p:nvSpPr>
        <p:spPr/>
        <p:txBody>
          <a:bodyPr/>
          <a:lstStyle/>
          <a:p>
            <a:endParaRPr lang="nb-NO" dirty="0"/>
          </a:p>
        </p:txBody>
      </p:sp>
      <p:sp>
        <p:nvSpPr>
          <p:cNvPr id="4" name="Date Placeholder 3">
            <a:extLst>
              <a:ext uri="{FF2B5EF4-FFF2-40B4-BE49-F238E27FC236}">
                <a16:creationId xmlns:a16="http://schemas.microsoft.com/office/drawing/2014/main" id="{E0BEC617-800F-DF5F-6774-0408A1442CFF}"/>
              </a:ext>
            </a:extLst>
          </p:cNvPr>
          <p:cNvSpPr>
            <a:spLocks noGrp="1"/>
          </p:cNvSpPr>
          <p:nvPr>
            <p:ph type="dt" sz="half" idx="10"/>
          </p:nvPr>
        </p:nvSpPr>
        <p:spPr/>
        <p:txBody>
          <a:bodyPr/>
          <a:lstStyle/>
          <a:p>
            <a:pPr>
              <a:defRPr/>
            </a:pPr>
            <a:fld id="{F0847A7C-3E5E-4403-9BF7-825F3BFD5149}" type="datetime1">
              <a:rPr lang="nb-NO" smtClean="0"/>
              <a:t>05.10.2026</a:t>
            </a:fld>
            <a:endParaRPr lang="en-US" dirty="0"/>
          </a:p>
        </p:txBody>
      </p:sp>
      <p:sp>
        <p:nvSpPr>
          <p:cNvPr id="5" name="Footer Placeholder 4">
            <a:extLst>
              <a:ext uri="{FF2B5EF4-FFF2-40B4-BE49-F238E27FC236}">
                <a16:creationId xmlns:a16="http://schemas.microsoft.com/office/drawing/2014/main" id="{0B5AB215-C784-361F-8389-CC55585BF093}"/>
              </a:ext>
            </a:extLst>
          </p:cNvPr>
          <p:cNvSpPr>
            <a:spLocks noGrp="1"/>
          </p:cNvSpPr>
          <p:nvPr>
            <p:ph type="ftr" sz="quarter" idx="4294967295"/>
          </p:nvPr>
        </p:nvSpPr>
        <p:spPr>
          <a:xfrm>
            <a:off x="4842933" y="6470704"/>
            <a:ext cx="5901459" cy="274320"/>
          </a:xfrm>
          <a:prstGeom prst="rect">
            <a:avLst/>
          </a:prstGeom>
        </p:spPr>
        <p:txBody>
          <a:bodyPr/>
          <a:lstStyle/>
          <a:p>
            <a:pPr>
              <a:defRPr/>
            </a:pPr>
            <a:r>
              <a:rPr lang="vi-VN"/>
              <a:t>Chương 2. Quy trình phần mềm</a:t>
            </a:r>
          </a:p>
        </p:txBody>
      </p:sp>
      <p:sp>
        <p:nvSpPr>
          <p:cNvPr id="6" name="Slide Number Placeholder 5">
            <a:extLst>
              <a:ext uri="{FF2B5EF4-FFF2-40B4-BE49-F238E27FC236}">
                <a16:creationId xmlns:a16="http://schemas.microsoft.com/office/drawing/2014/main" id="{C4068E78-3EF2-A298-8872-7154FA658322}"/>
              </a:ext>
            </a:extLst>
          </p:cNvPr>
          <p:cNvSpPr>
            <a:spLocks noGrp="1"/>
          </p:cNvSpPr>
          <p:nvPr>
            <p:ph type="sldNum" sz="quarter" idx="12"/>
          </p:nvPr>
        </p:nvSpPr>
        <p:spPr/>
        <p:txBody>
          <a:bodyPr/>
          <a:lstStyle/>
          <a:p>
            <a:pPr>
              <a:defRPr/>
            </a:pPr>
            <a:fld id="{AFD720AD-0A16-4141-82CA-5619F80A2BC8}" type="slidenum">
              <a:rPr lang="en-US" smtClean="0"/>
              <a:pPr>
                <a:defRPr/>
              </a:pPr>
              <a:t>5</a:t>
            </a:fld>
            <a:endParaRPr lang="en-US"/>
          </a:p>
        </p:txBody>
      </p:sp>
      <p:pic>
        <p:nvPicPr>
          <p:cNvPr id="3074" name="Picture 2" descr="The exponential cost of fixing bugs - DeepSource">
            <a:extLst>
              <a:ext uri="{FF2B5EF4-FFF2-40B4-BE49-F238E27FC236}">
                <a16:creationId xmlns:a16="http://schemas.microsoft.com/office/drawing/2014/main" id="{C0928861-53C3-C994-9F3F-9BF5DEC812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4242" y="1020051"/>
            <a:ext cx="10372725" cy="5191125"/>
          </a:xfrm>
          <a:prstGeom prst="rect">
            <a:avLst/>
          </a:prstGeom>
          <a:noFill/>
          <a:extLst>
            <a:ext uri="{909E8E84-426E-40DD-AFC4-6F175D3DCCD1}">
              <a14:hiddenFill xmlns:a14="http://schemas.microsoft.com/office/drawing/2010/main">
                <a:solidFill>
                  <a:srgbClr val="FFFFFF"/>
                </a:solidFill>
              </a14:hiddenFill>
            </a:ext>
          </a:extLst>
        </p:spPr>
      </p:pic>
      <p:sp>
        <p:nvSpPr>
          <p:cNvPr id="7" name="Oval 6">
            <a:extLst>
              <a:ext uri="{FF2B5EF4-FFF2-40B4-BE49-F238E27FC236}">
                <a16:creationId xmlns:a16="http://schemas.microsoft.com/office/drawing/2014/main" id="{887DB123-2AD6-A43D-CCF8-A85710C5C06F}"/>
              </a:ext>
            </a:extLst>
          </p:cNvPr>
          <p:cNvSpPr/>
          <p:nvPr/>
        </p:nvSpPr>
        <p:spPr>
          <a:xfrm>
            <a:off x="3890865" y="2379306"/>
            <a:ext cx="1866123" cy="3831870"/>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TextBox 7">
            <a:extLst>
              <a:ext uri="{FF2B5EF4-FFF2-40B4-BE49-F238E27FC236}">
                <a16:creationId xmlns:a16="http://schemas.microsoft.com/office/drawing/2014/main" id="{75AF5D21-EC4A-61BB-0553-6D4F622FEFA5}"/>
              </a:ext>
            </a:extLst>
          </p:cNvPr>
          <p:cNvSpPr txBox="1"/>
          <p:nvPr/>
        </p:nvSpPr>
        <p:spPr>
          <a:xfrm flipH="1">
            <a:off x="3983240" y="3337075"/>
            <a:ext cx="2650826" cy="369332"/>
          </a:xfrm>
          <a:prstGeom prst="rect">
            <a:avLst/>
          </a:prstGeom>
          <a:noFill/>
        </p:spPr>
        <p:txBody>
          <a:bodyPr wrap="square" rtlCol="0">
            <a:spAutoFit/>
          </a:bodyPr>
          <a:lstStyle/>
          <a:p>
            <a:r>
              <a:rPr lang="vi-VN" b="1" dirty="0" err="1"/>
              <a:t>Mức tiết kiệm tiềm năng</a:t>
            </a:r>
            <a:endParaRPr lang="nb-NO" b="1" dirty="0"/>
          </a:p>
        </p:txBody>
      </p:sp>
    </p:spTree>
    <p:extLst>
      <p:ext uri="{BB962C8B-B14F-4D97-AF65-F5344CB8AC3E}">
        <p14:creationId xmlns:p14="http://schemas.microsoft.com/office/powerpoint/2010/main" val="3857134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title"/>
          </p:nvPr>
        </p:nvSpPr>
        <p:spPr/>
        <p:txBody>
          <a:bodyPr/>
          <a:lstStyle/>
          <a:p>
            <a:r>
              <a:rPr lang="vi-VN"/>
              <a:t>Triển khai code</a:t>
            </a:r>
            <a:endParaRPr lang="en-US" dirty="0"/>
          </a:p>
        </p:txBody>
      </p:sp>
      <p:sp>
        <p:nvSpPr>
          <p:cNvPr id="17411" name="Rectangle 8"/>
          <p:cNvSpPr>
            <a:spLocks noGrp="1" noChangeArrowheads="1"/>
          </p:cNvSpPr>
          <p:nvPr>
            <p:ph idx="1"/>
          </p:nvPr>
        </p:nvSpPr>
        <p:spPr/>
        <p:txBody>
          <a:bodyPr/>
          <a:lstStyle/>
          <a:p>
            <a:r>
              <a:rPr lang="vi-VN" dirty="0"/>
              <a:t>1. Lên kế hoạch cấu trúc và phần thiết kế còn lại cho code của bạn</a:t>
            </a:r>
          </a:p>
          <a:p>
            <a:r>
              <a:rPr lang="vi-VN" dirty="0"/>
              <a:t>2. Tự kiểm tra thiết kế và/hoặc cấu trúc của bạn</a:t>
            </a:r>
          </a:p>
          <a:p>
            <a:r>
              <a:rPr lang="vi-VN" dirty="0"/>
              <a:t>3. Gõ code</a:t>
            </a:r>
          </a:p>
          <a:p>
            <a:r>
              <a:rPr lang="vi-VN" dirty="0"/>
              <a:t>4. Tự kiểm tra code</a:t>
            </a:r>
          </a:p>
          <a:p>
            <a:r>
              <a:rPr lang="vi-VN" dirty="0"/>
              <a:t>5. Biên dịch code</a:t>
            </a:r>
          </a:p>
          <a:p>
            <a:r>
              <a:rPr lang="vi-VN" dirty="0"/>
              <a:t>6. Kiểm thử code</a:t>
            </a:r>
          </a:p>
        </p:txBody>
      </p:sp>
      <p:sp>
        <p:nvSpPr>
          <p:cNvPr id="6" name="Date Placeholder 5"/>
          <p:cNvSpPr>
            <a:spLocks noGrp="1"/>
          </p:cNvSpPr>
          <p:nvPr>
            <p:ph type="dt" sz="half" idx="10"/>
          </p:nvPr>
        </p:nvSpPr>
        <p:spPr/>
        <p:txBody>
          <a:bodyPr/>
          <a:lstStyle/>
          <a:p>
            <a:fld id="{87E6440A-CF34-4E68-99D9-149901A2F961}" type="datetime1">
              <a:rPr lang="nb-NO" smtClean="0"/>
              <a:t>05.10.2026</a:t>
            </a:fld>
            <a:endParaRPr lang="en-US"/>
          </a:p>
        </p:txBody>
      </p:sp>
      <p:sp>
        <p:nvSpPr>
          <p:cNvPr id="7" name="Footer Placeholder 6"/>
          <p:cNvSpPr>
            <a:spLocks noGrp="1"/>
          </p:cNvSpPr>
          <p:nvPr>
            <p:ph type="ftr" sz="quarter" idx="11"/>
          </p:nvPr>
        </p:nvSpPr>
        <p:spPr/>
        <p:txBody>
          <a:bodyPr/>
          <a:lstStyle/>
          <a:p>
            <a:r>
              <a:rPr lang="vi-VN"/>
              <a:t>Chương 7.3. Tìm hiểu thêm về triển khai</a:t>
            </a:r>
            <a:endParaRPr lang="en-AU"/>
          </a:p>
        </p:txBody>
      </p:sp>
      <p:sp>
        <p:nvSpPr>
          <p:cNvPr id="8" name="Slide Number Placeholder 7"/>
          <p:cNvSpPr>
            <a:spLocks noGrp="1"/>
          </p:cNvSpPr>
          <p:nvPr>
            <p:ph type="sldNum" sz="quarter" idx="12"/>
          </p:nvPr>
        </p:nvSpPr>
        <p:spPr/>
        <p:txBody>
          <a:bodyPr/>
          <a:lstStyle/>
          <a:p>
            <a:fld id="{958E74C3-62C2-46AF-942D-53E7E0CA0864}" type="slidenum">
              <a:rPr lang="en-AU" smtClean="0"/>
              <a:pPr/>
              <a:t>6</a:t>
            </a:fld>
            <a:endParaRPr lang="en-AU"/>
          </a:p>
        </p:txBody>
      </p:sp>
      <p:sp>
        <p:nvSpPr>
          <p:cNvPr id="17414" name="WordArt 4"/>
          <p:cNvSpPr>
            <a:spLocks noChangeArrowheads="1" noChangeShapeType="1" noTextEdit="1"/>
          </p:cNvSpPr>
          <p:nvPr/>
        </p:nvSpPr>
        <p:spPr bwMode="auto">
          <a:xfrm>
            <a:off x="8544272" y="476673"/>
            <a:ext cx="1936750" cy="428625"/>
          </a:xfrm>
          <a:prstGeom prst="rect">
            <a:avLst/>
          </a:prstGeom>
        </p:spPr>
        <p:txBody>
          <a:bodyPr wrap="none" fromWordArt="1">
            <a:prstTxWarp prst="textFadeUp">
              <a:avLst>
                <a:gd name="adj" fmla="val 12634"/>
              </a:avLst>
            </a:prstTxWarp>
          </a:bodyPr>
          <a:lstStyle/>
          <a:p>
            <a:pPr algn="ctr"/>
            <a:r>
              <a:rPr lang="vi-VN" sz="2400" kern="10" dirty="0">
                <a:ln w="9525">
                  <a:solidFill>
                    <a:schemeClr val="tx1"/>
                  </a:solidFill>
                  <a:round/>
                  <a:headEnd/>
                  <a:tailEnd/>
                </a:ln>
                <a:solidFill>
                  <a:schemeClr val="accent2"/>
                </a:solidFill>
                <a:effectLst>
                  <a:outerShdw dist="35921" dir="2700000" sy="50000" rotWithShape="0">
                    <a:srgbClr val="875B0D"/>
                  </a:outerShdw>
                </a:effectLst>
                <a:latin typeface="Arial Black"/>
              </a:rPr>
              <a:t>Một cách để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5"/>
          <p:cNvSpPr>
            <a:spLocks noGrp="1" noChangeArrowheads="1"/>
          </p:cNvSpPr>
          <p:nvPr>
            <p:ph type="title"/>
          </p:nvPr>
        </p:nvSpPr>
        <p:spPr/>
        <p:txBody>
          <a:bodyPr/>
          <a:lstStyle/>
          <a:p>
            <a:r>
              <a:rPr lang="vi-VN"/>
              <a:t>Các nguyên tắc chung trong thực hành lập trình</a:t>
            </a:r>
          </a:p>
        </p:txBody>
      </p:sp>
      <p:sp>
        <p:nvSpPr>
          <p:cNvPr id="19459" name="Rectangle 6"/>
          <p:cNvSpPr>
            <a:spLocks noGrp="1" noChangeArrowheads="1"/>
          </p:cNvSpPr>
          <p:nvPr>
            <p:ph idx="1"/>
          </p:nvPr>
        </p:nvSpPr>
        <p:spPr/>
        <p:txBody>
          <a:bodyPr/>
          <a:lstStyle/>
          <a:p>
            <a:r>
              <a:rPr lang="vi-VN" dirty="0"/>
              <a:t>1. Cố gắng tái sử dụng trước</a:t>
            </a:r>
          </a:p>
          <a:p>
            <a:r>
              <a:rPr lang="vi-VN" dirty="0"/>
              <a:t>2. Thực thi ý đồ thiết kế</a:t>
            </a:r>
          </a:p>
          <a:p>
            <a:pPr lvl="1"/>
            <a:r>
              <a:rPr lang="vi-VN" dirty="0"/>
              <a:t>Nếu code của bạn chỉ được dùng theo những cách nhất định, hãy viết sao cho code không thể được dùng theo cách nào khác.</a:t>
            </a:r>
          </a:p>
          <a:p>
            <a:pPr lvl="1"/>
            <a:r>
              <a:rPr lang="vi-VN" dirty="0"/>
              <a:t>Nếu một member không dành cho các hàm khác dùng, hãy thực thi điều này bằng cách đặt nó là private hoặc protected, v.v.</a:t>
            </a:r>
          </a:p>
          <a:p>
            <a:pPr lvl="1"/>
            <a:r>
              <a:rPr lang="vi-VN" dirty="0"/>
              <a:t>Dùng các từ khóa như final và abstract, v.v. để thực thi ý đồ thiết kế</a:t>
            </a:r>
          </a:p>
        </p:txBody>
      </p:sp>
      <p:sp>
        <p:nvSpPr>
          <p:cNvPr id="6" name="Date Placeholder 5"/>
          <p:cNvSpPr>
            <a:spLocks noGrp="1"/>
          </p:cNvSpPr>
          <p:nvPr>
            <p:ph type="dt" sz="half" idx="10"/>
          </p:nvPr>
        </p:nvSpPr>
        <p:spPr/>
        <p:txBody>
          <a:bodyPr/>
          <a:lstStyle/>
          <a:p>
            <a:fld id="{8378FEA5-801C-4DCA-83B6-DB334B5BA3F0}" type="datetime1">
              <a:rPr lang="nb-NO" smtClean="0"/>
              <a:t>05.10.2026</a:t>
            </a:fld>
            <a:endParaRPr lang="en-US"/>
          </a:p>
        </p:txBody>
      </p:sp>
      <p:sp>
        <p:nvSpPr>
          <p:cNvPr id="7" name="Footer Placeholder 6"/>
          <p:cNvSpPr>
            <a:spLocks noGrp="1"/>
          </p:cNvSpPr>
          <p:nvPr>
            <p:ph type="ftr" sz="quarter" idx="11"/>
          </p:nvPr>
        </p:nvSpPr>
        <p:spPr/>
        <p:txBody>
          <a:bodyPr/>
          <a:lstStyle/>
          <a:p>
            <a:r>
              <a:rPr lang="vi-VN"/>
              <a:t>Chương 7.3. Tìm hiểu thêm về triển khai</a:t>
            </a:r>
            <a:endParaRPr lang="en-AU"/>
          </a:p>
        </p:txBody>
      </p:sp>
      <p:sp>
        <p:nvSpPr>
          <p:cNvPr id="8" name="Slide Number Placeholder 7"/>
          <p:cNvSpPr>
            <a:spLocks noGrp="1"/>
          </p:cNvSpPr>
          <p:nvPr>
            <p:ph type="sldNum" sz="quarter" idx="12"/>
          </p:nvPr>
        </p:nvSpPr>
        <p:spPr/>
        <p:txBody>
          <a:bodyPr/>
          <a:lstStyle/>
          <a:p>
            <a:fld id="{958E74C3-62C2-46AF-942D-53E7E0CA0864}" type="slidenum">
              <a:rPr lang="en-AU" smtClean="0"/>
              <a:pPr/>
              <a:t>7</a:t>
            </a:fld>
            <a:endParaRPr lang="en-AU"/>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5"/>
          <p:cNvSpPr>
            <a:spLocks noGrp="1" noChangeArrowheads="1"/>
          </p:cNvSpPr>
          <p:nvPr>
            <p:ph type="title"/>
          </p:nvPr>
        </p:nvSpPr>
        <p:spPr/>
        <p:txBody>
          <a:bodyPr/>
          <a:lstStyle/>
          <a:p>
            <a:r>
              <a:rPr lang="vi-VN"/>
              <a:t>“Nghĩ toàn cục, lập trình cục bộ”</a:t>
            </a:r>
            <a:endParaRPr lang="en-US" dirty="0"/>
          </a:p>
        </p:txBody>
      </p:sp>
      <p:sp>
        <p:nvSpPr>
          <p:cNvPr id="21507" name="Rectangle 6"/>
          <p:cNvSpPr>
            <a:spLocks noGrp="1" noChangeArrowheads="1"/>
          </p:cNvSpPr>
          <p:nvPr>
            <p:ph idx="1"/>
          </p:nvPr>
        </p:nvSpPr>
        <p:spPr/>
        <p:txBody>
          <a:bodyPr/>
          <a:lstStyle/>
          <a:p>
            <a:r>
              <a:rPr lang="vi-VN" dirty="0"/>
              <a:t>Đặt mọi member</a:t>
            </a:r>
          </a:p>
          <a:p>
            <a:pPr lvl="1"/>
            <a:r>
              <a:rPr lang="vi-VN" dirty="0"/>
              <a:t>cục bộ nhất có thể</a:t>
            </a:r>
          </a:p>
          <a:p>
            <a:pPr lvl="1"/>
            <a:r>
              <a:rPr lang="vi-VN" dirty="0"/>
              <a:t>ẩn nhất có thể</a:t>
            </a:r>
          </a:p>
          <a:p>
            <a:pPr lvl="2"/>
            <a:r>
              <a:rPr lang="vi-VN" dirty="0"/>
              <a:t>thuộc tính là private:</a:t>
            </a:r>
          </a:p>
          <a:p>
            <a:pPr lvl="3"/>
            <a:r>
              <a:rPr lang="vi-VN" dirty="0"/>
              <a:t>truy cập chúng thông qua các hàm accessor công khai hơn nếu cần.  </a:t>
            </a:r>
          </a:p>
          <a:p>
            <a:pPr lvl="3"/>
            <a:r>
              <a:rPr lang="vi-VN" dirty="0"/>
              <a:t>(Đặt thuộc tính là protected cho phép đối tượng của lớp con truy cập các member của lớp cha -- thường không phải điều bạn muốn)</a:t>
            </a:r>
          </a:p>
        </p:txBody>
      </p:sp>
      <p:sp>
        <p:nvSpPr>
          <p:cNvPr id="6" name="Date Placeholder 5"/>
          <p:cNvSpPr>
            <a:spLocks noGrp="1"/>
          </p:cNvSpPr>
          <p:nvPr>
            <p:ph type="dt" sz="half" idx="10"/>
          </p:nvPr>
        </p:nvSpPr>
        <p:spPr/>
        <p:txBody>
          <a:bodyPr/>
          <a:lstStyle/>
          <a:p>
            <a:fld id="{674B3DC1-4A8C-4CB8-9B48-DC1150CEB639}" type="datetime1">
              <a:rPr lang="nb-NO" smtClean="0"/>
              <a:t>05.10.2026</a:t>
            </a:fld>
            <a:endParaRPr lang="en-US"/>
          </a:p>
        </p:txBody>
      </p:sp>
      <p:sp>
        <p:nvSpPr>
          <p:cNvPr id="7" name="Footer Placeholder 6"/>
          <p:cNvSpPr>
            <a:spLocks noGrp="1"/>
          </p:cNvSpPr>
          <p:nvPr>
            <p:ph type="ftr" sz="quarter" idx="11"/>
          </p:nvPr>
        </p:nvSpPr>
        <p:spPr/>
        <p:txBody>
          <a:bodyPr/>
          <a:lstStyle/>
          <a:p>
            <a:r>
              <a:rPr lang="vi-VN"/>
              <a:t>Chương 7.3. Tìm hiểu thêm về triển khai</a:t>
            </a:r>
            <a:endParaRPr lang="en-AU"/>
          </a:p>
        </p:txBody>
      </p:sp>
      <p:sp>
        <p:nvSpPr>
          <p:cNvPr id="8" name="Slide Number Placeholder 7"/>
          <p:cNvSpPr>
            <a:spLocks noGrp="1"/>
          </p:cNvSpPr>
          <p:nvPr>
            <p:ph type="sldNum" sz="quarter" idx="12"/>
          </p:nvPr>
        </p:nvSpPr>
        <p:spPr/>
        <p:txBody>
          <a:bodyPr/>
          <a:lstStyle/>
          <a:p>
            <a:fld id="{958E74C3-62C2-46AF-942D-53E7E0CA0864}" type="slidenum">
              <a:rPr lang="en-AU" smtClean="0"/>
              <a:pPr/>
              <a:t>8</a:t>
            </a:fld>
            <a:endParaRPr lang="en-AU"/>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7"/>
          <p:cNvSpPr>
            <a:spLocks noGrp="1" noChangeArrowheads="1"/>
          </p:cNvSpPr>
          <p:nvPr>
            <p:ph type="title"/>
          </p:nvPr>
        </p:nvSpPr>
        <p:spPr/>
        <p:txBody>
          <a:bodyPr/>
          <a:lstStyle/>
          <a:p>
            <a:r>
              <a:rPr lang="vi-VN"/>
              <a:t>Xử lý exception</a:t>
            </a:r>
          </a:p>
        </p:txBody>
      </p:sp>
      <p:sp>
        <p:nvSpPr>
          <p:cNvPr id="599048" name="Rectangle 8"/>
          <p:cNvSpPr>
            <a:spLocks noGrp="1" noChangeArrowheads="1"/>
          </p:cNvSpPr>
          <p:nvPr>
            <p:ph idx="1"/>
          </p:nvPr>
        </p:nvSpPr>
        <p:spPr/>
        <p:txBody>
          <a:bodyPr/>
          <a:lstStyle/>
          <a:p>
            <a:endParaRPr lang="en-US" dirty="0"/>
          </a:p>
          <a:p>
            <a:r>
              <a:rPr lang="vi-VN" dirty="0"/>
              <a:t>Chỉ catch những exception mà bạn biết cách xử lý </a:t>
            </a:r>
          </a:p>
          <a:p>
            <a:r>
              <a:rPr lang="vi-VN" dirty="0"/>
              <a:t>Hãy hợp lý về số exception mà bên gọi phải xử lý</a:t>
            </a:r>
          </a:p>
          <a:p>
            <a:r>
              <a:rPr lang="vi-VN" dirty="0"/>
              <a:t>Đừng dùng exception thay cho những vấn đề lẽ ra phải là đối tượng của testing</a:t>
            </a:r>
          </a:p>
        </p:txBody>
      </p:sp>
      <p:sp>
        <p:nvSpPr>
          <p:cNvPr id="6" name="Date Placeholder 5"/>
          <p:cNvSpPr>
            <a:spLocks noGrp="1"/>
          </p:cNvSpPr>
          <p:nvPr>
            <p:ph type="dt" sz="half" idx="10"/>
          </p:nvPr>
        </p:nvSpPr>
        <p:spPr/>
        <p:txBody>
          <a:bodyPr/>
          <a:lstStyle/>
          <a:p>
            <a:fld id="{2EF1A5E2-EB71-488C-818A-C87A5F4AC6AA}" type="datetime1">
              <a:rPr lang="nb-NO" smtClean="0"/>
              <a:t>05.10.2026</a:t>
            </a:fld>
            <a:endParaRPr lang="en-US"/>
          </a:p>
        </p:txBody>
      </p:sp>
      <p:sp>
        <p:nvSpPr>
          <p:cNvPr id="7" name="Footer Placeholder 6"/>
          <p:cNvSpPr>
            <a:spLocks noGrp="1"/>
          </p:cNvSpPr>
          <p:nvPr>
            <p:ph type="ftr" sz="quarter" idx="11"/>
          </p:nvPr>
        </p:nvSpPr>
        <p:spPr/>
        <p:txBody>
          <a:bodyPr/>
          <a:lstStyle/>
          <a:p>
            <a:r>
              <a:rPr lang="vi-VN"/>
              <a:t>Chương 7.3. Tìm hiểu thêm về triển khai</a:t>
            </a:r>
            <a:endParaRPr lang="en-AU"/>
          </a:p>
        </p:txBody>
      </p:sp>
      <p:sp>
        <p:nvSpPr>
          <p:cNvPr id="8" name="Slide Number Placeholder 7"/>
          <p:cNvSpPr>
            <a:spLocks noGrp="1"/>
          </p:cNvSpPr>
          <p:nvPr>
            <p:ph type="sldNum" sz="quarter" idx="12"/>
          </p:nvPr>
        </p:nvSpPr>
        <p:spPr/>
        <p:txBody>
          <a:bodyPr/>
          <a:lstStyle/>
          <a:p>
            <a:fld id="{958E74C3-62C2-46AF-942D-53E7E0CA0864}" type="slidenum">
              <a:rPr lang="en-AU" smtClean="0"/>
              <a:pPr/>
              <a:t>9</a:t>
            </a:fld>
            <a:endParaRPr lang="en-AU"/>
          </a:p>
        </p:txBody>
      </p:sp>
      <p:sp>
        <p:nvSpPr>
          <p:cNvPr id="2" name="Rectangle 1"/>
          <p:cNvSpPr/>
          <p:nvPr/>
        </p:nvSpPr>
        <p:spPr>
          <a:xfrm>
            <a:off x="5230284" y="1020180"/>
            <a:ext cx="5437717" cy="1015663"/>
          </a:xfrm>
          <a:prstGeom prst="rect">
            <a:avLst/>
          </a:prstGeom>
        </p:spPr>
        <p:txBody>
          <a:bodyPr wrap="square">
            <a:spAutoFit/>
          </a:bodyPr>
          <a:lstStyle/>
          <a:p>
            <a:r>
              <a:rPr lang="vi-VN" sz="2000" i="1" dirty="0"/>
              <a:t>“Nếu phải chọn giữa ném exception và tiếp tục tính toán, hãy tiếp tục nếu có thể” (Cay Horstmann)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Rectangle 5"/>
          <p:cNvSpPr>
            <a:spLocks noGrp="1" noChangeArrowheads="1"/>
          </p:cNvSpPr>
          <p:nvPr>
            <p:ph type="title"/>
          </p:nvPr>
        </p:nvSpPr>
        <p:spPr/>
        <p:txBody>
          <a:bodyPr/>
          <a:lstStyle/>
          <a:p>
            <a:r>
              <a:rPr lang="vi-VN"/>
              <a:t>Quy ước đặt tên</a:t>
            </a:r>
          </a:p>
        </p:txBody>
      </p:sp>
      <p:sp>
        <p:nvSpPr>
          <p:cNvPr id="605190" name="Rectangle 6"/>
          <p:cNvSpPr>
            <a:spLocks noGrp="1" noChangeArrowheads="1"/>
          </p:cNvSpPr>
          <p:nvPr>
            <p:ph idx="1"/>
          </p:nvPr>
        </p:nvSpPr>
        <p:spPr/>
        <p:txBody>
          <a:bodyPr>
            <a:normAutofit fontScale="85000" lnSpcReduction="20000"/>
          </a:bodyPr>
          <a:lstStyle/>
          <a:p>
            <a:r>
              <a:rPr lang="vi-VN" dirty="0"/>
              <a:t>Dùng các từ nối liền nhau </a:t>
            </a:r>
          </a:p>
          <a:p>
            <a:pPr lvl="2"/>
            <a:r>
              <a:rPr lang="vi-VN" dirty="0"/>
              <a:t>ví dụ: cylinderLength</a:t>
            </a:r>
            <a:endParaRPr lang="en-US" dirty="0"/>
          </a:p>
          <a:p>
            <a:r>
              <a:rPr lang="vi-VN" dirty="0"/>
              <a:t>Tên lớp bắt đầu bằng chữ hoa</a:t>
            </a:r>
          </a:p>
          <a:p>
            <a:r>
              <a:rPr lang="vi-VN" dirty="0"/>
              <a:t>Tên biến bắt đầu bằng chữ thường </a:t>
            </a:r>
          </a:p>
          <a:p>
            <a:r>
              <a:rPr lang="vi-VN" dirty="0"/>
              <a:t>Hằng số viết hoa </a:t>
            </a:r>
          </a:p>
          <a:p>
            <a:pPr lvl="2"/>
            <a:r>
              <a:rPr lang="vi-VN" dirty="0"/>
              <a:t>như MAX_N hoặc dùng static final</a:t>
            </a:r>
          </a:p>
          <a:p>
            <a:r>
              <a:rPr lang="vi-VN" dirty="0"/>
              <a:t>Data member của lớp có dấu gạch dưới ở đầu </a:t>
            </a:r>
          </a:p>
          <a:p>
            <a:pPr lvl="2"/>
            <a:r>
              <a:rPr lang="vi-VN" dirty="0"/>
              <a:t>như _timeOfDay </a:t>
            </a:r>
          </a:p>
          <a:p>
            <a:r>
              <a:rPr lang="vi-VN" dirty="0"/>
              <a:t>Dùng get…, set…. và is… cho các phương thức accessor 	</a:t>
            </a:r>
          </a:p>
          <a:p>
            <a:r>
              <a:rPr lang="vi-VN" dirty="0"/>
              <a:t>Thêm các getter và setter cho collection</a:t>
            </a:r>
          </a:p>
          <a:p>
            <a:r>
              <a:rPr lang="vi-VN" dirty="0"/>
              <a:t>Và/hoặc phân biệt giữa biến thực thể, biến cục bộ và tham số</a:t>
            </a:r>
          </a:p>
        </p:txBody>
      </p:sp>
      <p:sp>
        <p:nvSpPr>
          <p:cNvPr id="6" name="Date Placeholder 5"/>
          <p:cNvSpPr>
            <a:spLocks noGrp="1"/>
          </p:cNvSpPr>
          <p:nvPr>
            <p:ph type="dt" sz="half" idx="10"/>
          </p:nvPr>
        </p:nvSpPr>
        <p:spPr/>
        <p:txBody>
          <a:bodyPr/>
          <a:lstStyle/>
          <a:p>
            <a:fld id="{EAFC9A63-C123-4424-A354-89D855219E74}" type="datetime1">
              <a:rPr lang="nb-NO" smtClean="0"/>
              <a:t>05.10.2026</a:t>
            </a:fld>
            <a:endParaRPr lang="en-US"/>
          </a:p>
        </p:txBody>
      </p:sp>
      <p:sp>
        <p:nvSpPr>
          <p:cNvPr id="7" name="Footer Placeholder 6"/>
          <p:cNvSpPr>
            <a:spLocks noGrp="1"/>
          </p:cNvSpPr>
          <p:nvPr>
            <p:ph type="ftr" sz="quarter" idx="11"/>
          </p:nvPr>
        </p:nvSpPr>
        <p:spPr/>
        <p:txBody>
          <a:bodyPr/>
          <a:lstStyle/>
          <a:p>
            <a:r>
              <a:rPr lang="vi-VN"/>
              <a:t>Chương 7.3. Tìm hiểu thêm về triển khai</a:t>
            </a:r>
            <a:endParaRPr lang="en-AU"/>
          </a:p>
        </p:txBody>
      </p:sp>
      <p:sp>
        <p:nvSpPr>
          <p:cNvPr id="8" name="Slide Number Placeholder 7"/>
          <p:cNvSpPr>
            <a:spLocks noGrp="1"/>
          </p:cNvSpPr>
          <p:nvPr>
            <p:ph type="sldNum" sz="quarter" idx="12"/>
          </p:nvPr>
        </p:nvSpPr>
        <p:spPr/>
        <p:txBody>
          <a:bodyPr/>
          <a:lstStyle/>
          <a:p>
            <a:fld id="{958E74C3-62C2-46AF-942D-53E7E0CA0864}" type="slidenum">
              <a:rPr lang="en-AU" smtClean="0"/>
              <a:pPr/>
              <a:t>10</a:t>
            </a:fld>
            <a:endParaRPr lang="en-AU"/>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7"/>
          <p:cNvSpPr>
            <a:spLocks noGrp="1" noChangeArrowheads="1"/>
          </p:cNvSpPr>
          <p:nvPr>
            <p:ph type="title"/>
          </p:nvPr>
        </p:nvSpPr>
        <p:spPr/>
        <p:txBody>
          <a:bodyPr/>
          <a:lstStyle/>
          <a:p>
            <a:r>
              <a:rPr lang="vi-VN"/>
              <a:t>Lập tài liệu cho phương thức</a:t>
            </a:r>
          </a:p>
        </p:txBody>
      </p:sp>
      <p:sp>
        <p:nvSpPr>
          <p:cNvPr id="608264" name="Rectangle 8"/>
          <p:cNvSpPr>
            <a:spLocks noGrp="1" noChangeArrowheads="1"/>
          </p:cNvSpPr>
          <p:nvPr>
            <p:ph idx="1"/>
          </p:nvPr>
        </p:nvSpPr>
        <p:spPr/>
        <p:txBody>
          <a:bodyPr>
            <a:normAutofit fontScale="70000" lnSpcReduction="20000"/>
          </a:bodyPr>
          <a:lstStyle/>
          <a:p>
            <a:r>
              <a:rPr lang="vi-VN" dirty="0"/>
              <a:t>phương thức làm gì</a:t>
            </a:r>
          </a:p>
          <a:p>
            <a:r>
              <a:rPr lang="vi-VN" dirty="0"/>
              <a:t>vì sao làm như vậy </a:t>
            </a:r>
          </a:p>
          <a:p>
            <a:r>
              <a:rPr lang="vi-VN" dirty="0"/>
              <a:t>cần truyền những tham số nào (dùng thẻ @param)</a:t>
            </a:r>
          </a:p>
          <a:p>
            <a:r>
              <a:rPr lang="vi-VN" dirty="0"/>
              <a:t>các exception mà nó ném ra (dùng thẻ @exception)</a:t>
            </a:r>
          </a:p>
          <a:p>
            <a:r>
              <a:rPr lang="vi-VN" dirty="0"/>
              <a:t>lý do chọn mức visibility </a:t>
            </a:r>
          </a:p>
          <a:p>
            <a:r>
              <a:rPr lang="vi-VN" dirty="0"/>
              <a:t>các lỗi đã biết</a:t>
            </a:r>
          </a:p>
          <a:p>
            <a:r>
              <a:rPr lang="vi-VN" dirty="0"/>
              <a:t>mô tả kiểm thử: phương thức đã được kiểm thử chưa và script kiểm thử nằm ở đâu</a:t>
            </a:r>
          </a:p>
          <a:p>
            <a:r>
              <a:rPr lang="vi-VN" dirty="0"/>
              <a:t>lịch sử thay đổi nếu bạn không dùng hệ thống quản lý phiên bản</a:t>
            </a:r>
          </a:p>
          <a:p>
            <a:r>
              <a:rPr lang="vi-VN" dirty="0"/>
              <a:t>ví dụ về cách phương thức hoạt động</a:t>
            </a:r>
          </a:p>
          <a:p>
            <a:r>
              <a:rPr lang="vi-VN" dirty="0"/>
              <a:t>tiền điều kiện và hậu điều kiện </a:t>
            </a:r>
          </a:p>
          <a:p>
            <a:r>
              <a:rPr lang="vi-VN" dirty="0"/>
              <a:t>tài liệu đặc biệt cho các phương thức đa luồng và đồng bộ hóa</a:t>
            </a:r>
          </a:p>
        </p:txBody>
      </p:sp>
      <p:sp>
        <p:nvSpPr>
          <p:cNvPr id="6" name="Date Placeholder 5"/>
          <p:cNvSpPr>
            <a:spLocks noGrp="1"/>
          </p:cNvSpPr>
          <p:nvPr>
            <p:ph type="dt" sz="half" idx="10"/>
          </p:nvPr>
        </p:nvSpPr>
        <p:spPr/>
        <p:txBody>
          <a:bodyPr/>
          <a:lstStyle/>
          <a:p>
            <a:fld id="{217C6F69-EC7D-49DB-A295-66AD3B13022F}" type="datetime1">
              <a:rPr lang="nb-NO" smtClean="0"/>
              <a:t>05.10.2026</a:t>
            </a:fld>
            <a:endParaRPr lang="en-US"/>
          </a:p>
        </p:txBody>
      </p:sp>
      <p:sp>
        <p:nvSpPr>
          <p:cNvPr id="7" name="Footer Placeholder 6"/>
          <p:cNvSpPr>
            <a:spLocks noGrp="1"/>
          </p:cNvSpPr>
          <p:nvPr>
            <p:ph type="ftr" sz="quarter" idx="11"/>
          </p:nvPr>
        </p:nvSpPr>
        <p:spPr/>
        <p:txBody>
          <a:bodyPr/>
          <a:lstStyle/>
          <a:p>
            <a:r>
              <a:rPr lang="vi-VN"/>
              <a:t>Chương 7.3. Tìm hiểu thêm về triển khai</a:t>
            </a:r>
            <a:endParaRPr lang="en-AU"/>
          </a:p>
        </p:txBody>
      </p:sp>
      <p:sp>
        <p:nvSpPr>
          <p:cNvPr id="8" name="Slide Number Placeholder 7"/>
          <p:cNvSpPr>
            <a:spLocks noGrp="1"/>
          </p:cNvSpPr>
          <p:nvPr>
            <p:ph type="sldNum" sz="quarter" idx="12"/>
          </p:nvPr>
        </p:nvSpPr>
        <p:spPr/>
        <p:txBody>
          <a:bodyPr/>
          <a:lstStyle/>
          <a:p>
            <a:fld id="{958E74C3-62C2-46AF-942D-53E7E0CA0864}" type="slidenum">
              <a:rPr lang="en-AU" smtClean="0"/>
              <a:pPr/>
              <a:t>11</a:t>
            </a:fld>
            <a:endParaRPr lang="en-AU"/>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584A4E50-1F10-4BD5-9720-4056E8CC58B9}" type="datetime1">
              <a:rPr lang="nb-NO" smtClean="0"/>
              <a:t>05.10.2026</a:t>
            </a:fld>
            <a:endParaRPr lang="en-US"/>
          </a:p>
        </p:txBody>
      </p:sp>
      <p:sp>
        <p:nvSpPr>
          <p:cNvPr id="7" name="Footer Placeholder 6"/>
          <p:cNvSpPr>
            <a:spLocks noGrp="1"/>
          </p:cNvSpPr>
          <p:nvPr>
            <p:ph type="ftr" sz="quarter" idx="11"/>
          </p:nvPr>
        </p:nvSpPr>
        <p:spPr/>
        <p:txBody>
          <a:bodyPr/>
          <a:lstStyle/>
          <a:p>
            <a:r>
              <a:rPr lang="vi-VN"/>
              <a:t>Chương 7.3. Tìm hiểu thêm về triển khai</a:t>
            </a:r>
            <a:endParaRPr lang="en-AU"/>
          </a:p>
        </p:txBody>
      </p:sp>
      <p:sp>
        <p:nvSpPr>
          <p:cNvPr id="8" name="Slide Number Placeholder 7"/>
          <p:cNvSpPr>
            <a:spLocks noGrp="1"/>
          </p:cNvSpPr>
          <p:nvPr>
            <p:ph type="sldNum" sz="quarter" idx="12"/>
          </p:nvPr>
        </p:nvSpPr>
        <p:spPr/>
        <p:txBody>
          <a:bodyPr/>
          <a:lstStyle/>
          <a:p>
            <a:fld id="{958E74C3-62C2-46AF-942D-53E7E0CA0864}" type="slidenum">
              <a:rPr lang="en-AU" smtClean="0"/>
              <a:pPr/>
              <a:t>12</a:t>
            </a:fld>
            <a:endParaRPr lang="en-AU"/>
          </a:p>
        </p:txBody>
      </p:sp>
      <p:sp>
        <p:nvSpPr>
          <p:cNvPr id="4" name="TextBox 3"/>
          <p:cNvSpPr txBox="1"/>
          <p:nvPr/>
        </p:nvSpPr>
        <p:spPr>
          <a:xfrm>
            <a:off x="1524000" y="461665"/>
            <a:ext cx="8363272" cy="4524315"/>
          </a:xfrm>
          <a:prstGeom prst="rect">
            <a:avLst/>
          </a:prstGeom>
          <a:solidFill>
            <a:schemeClr val="bg1">
              <a:lumMod val="95000"/>
            </a:schemeClr>
          </a:solidFill>
          <a:ln>
            <a:solidFill>
              <a:schemeClr val="accent1"/>
            </a:solidFill>
          </a:ln>
          <a:effectLst>
            <a:outerShdw blurRad="50800" dist="38100" dir="2700000" algn="tl" rotWithShape="0">
              <a:prstClr val="black">
                <a:alpha val="40000"/>
              </a:prstClr>
            </a:outerShdw>
          </a:effectLst>
        </p:spPr>
        <p:txBody>
          <a:bodyPr wrap="square" rtlCol="0">
            <a:spAutoFit/>
          </a:bodyPr>
          <a:lstStyle/>
          <a:p>
            <a:r>
              <a:rPr lang="en-US" dirty="0"/>
              <a:t>/* Class Name           : </a:t>
            </a:r>
            <a:r>
              <a:rPr lang="en-US" dirty="0" err="1"/>
              <a:t>EncounterCast</a:t>
            </a:r>
            <a:endParaRPr lang="en-US" dirty="0"/>
          </a:p>
          <a:p>
            <a:r>
              <a:rPr lang="en-US" dirty="0"/>
              <a:t>* Version information   : Version 0.1</a:t>
            </a:r>
          </a:p>
          <a:p>
            <a:r>
              <a:rPr lang="en-US" dirty="0"/>
              <a:t>* Date                  : 6/19/1999</a:t>
            </a:r>
          </a:p>
          <a:p>
            <a:r>
              <a:rPr lang="en-US" dirty="0"/>
              <a:t>* Copyright Notice      : see below</a:t>
            </a:r>
          </a:p>
          <a:p>
            <a:r>
              <a:rPr lang="en-US" dirty="0"/>
              <a:t>* Edit history:</a:t>
            </a:r>
          </a:p>
          <a:p>
            <a:r>
              <a:rPr lang="en-US" dirty="0"/>
              <a:t>*   11 Feb 2000     Tom </a:t>
            </a:r>
            <a:r>
              <a:rPr lang="en-US" dirty="0" err="1"/>
              <a:t>VanCourt</a:t>
            </a:r>
            <a:r>
              <a:rPr lang="en-US" dirty="0"/>
              <a:t>    Used simplified test interface.</a:t>
            </a:r>
          </a:p>
          <a:p>
            <a:r>
              <a:rPr lang="en-US" dirty="0"/>
              <a:t>*    8 Feb 2000     Tom </a:t>
            </a:r>
            <a:r>
              <a:rPr lang="en-US" dirty="0" err="1"/>
              <a:t>VanCourt</a:t>
            </a:r>
            <a:r>
              <a:rPr lang="en-US" dirty="0"/>
              <a:t>    Minor cleanup.</a:t>
            </a:r>
          </a:p>
          <a:p>
            <a:r>
              <a:rPr lang="en-US" dirty="0"/>
              <a:t>*   08 Jan 2000     Tom </a:t>
            </a:r>
            <a:r>
              <a:rPr lang="en-US" dirty="0" err="1"/>
              <a:t>VanCourt</a:t>
            </a:r>
            <a:r>
              <a:rPr lang="en-US" dirty="0"/>
              <a:t>    Change to conform to coding standards</a:t>
            </a:r>
          </a:p>
          <a:p>
            <a:r>
              <a:rPr lang="en-US" dirty="0"/>
              <a:t>*/</a:t>
            </a:r>
          </a:p>
          <a:p>
            <a:endParaRPr lang="en-US" dirty="0"/>
          </a:p>
          <a:p>
            <a:r>
              <a:rPr lang="en-US" dirty="0"/>
              <a:t>/*</a:t>
            </a:r>
          </a:p>
          <a:p>
            <a:r>
              <a:rPr lang="en-US" dirty="0"/>
              <a:t>    Copyright (C) 2000 Eric J. </a:t>
            </a:r>
            <a:r>
              <a:rPr lang="en-US" dirty="0" err="1"/>
              <a:t>Braude</a:t>
            </a:r>
            <a:r>
              <a:rPr lang="en-US" dirty="0"/>
              <a:t> and Thomas D. Van Court. </a:t>
            </a:r>
          </a:p>
          <a:p>
            <a:r>
              <a:rPr lang="en-US" dirty="0"/>
              <a:t> </a:t>
            </a:r>
          </a:p>
          <a:p>
            <a:r>
              <a:rPr lang="en-US" dirty="0"/>
              <a:t>    This program is the implementation of the case study specified in </a:t>
            </a:r>
          </a:p>
          <a:p>
            <a:r>
              <a:rPr lang="en-US" dirty="0"/>
              <a:t>    "Software Engineering: an Object-Oriented Perspective," Wiley 2001,   </a:t>
            </a:r>
          </a:p>
          <a:p>
            <a:r>
              <a:rPr lang="en-US" dirty="0"/>
              <a:t>    by Eric J. </a:t>
            </a:r>
            <a:r>
              <a:rPr lang="en-US" dirty="0" err="1"/>
              <a:t>Braude</a:t>
            </a:r>
            <a:r>
              <a:rPr lang="en-US" dirty="0"/>
              <a:t>.</a:t>
            </a:r>
          </a:p>
        </p:txBody>
      </p:sp>
      <p:sp>
        <p:nvSpPr>
          <p:cNvPr id="10" name="TextBox 9"/>
          <p:cNvSpPr txBox="1"/>
          <p:nvPr/>
        </p:nvSpPr>
        <p:spPr>
          <a:xfrm>
            <a:off x="2567609" y="1824258"/>
            <a:ext cx="7886817" cy="5078313"/>
          </a:xfrm>
          <a:prstGeom prst="rect">
            <a:avLst/>
          </a:prstGeom>
          <a:solidFill>
            <a:schemeClr val="bg1">
              <a:lumMod val="95000"/>
            </a:schemeClr>
          </a:solidFill>
          <a:ln>
            <a:solidFill>
              <a:schemeClr val="accent1"/>
            </a:solidFill>
          </a:ln>
          <a:effectLst>
            <a:outerShdw blurRad="50800" dist="38100" dir="2700000" algn="tl" rotWithShape="0">
              <a:prstClr val="black">
                <a:alpha val="40000"/>
              </a:prstClr>
            </a:outerShdw>
          </a:effectLst>
        </p:spPr>
        <p:txBody>
          <a:bodyPr wrap="square" rtlCol="0">
            <a:spAutoFit/>
          </a:bodyPr>
          <a:lstStyle/>
          <a:p>
            <a:r>
              <a:rPr lang="en-US" dirty="0"/>
              <a:t>/** Facade class/object for the </a:t>
            </a:r>
            <a:r>
              <a:rPr lang="en-US" dirty="0" err="1"/>
              <a:t>EncounterCharacters</a:t>
            </a:r>
            <a:r>
              <a:rPr lang="en-US" dirty="0"/>
              <a:t> package. Used to </a:t>
            </a:r>
          </a:p>
          <a:p>
            <a:r>
              <a:rPr lang="en-US" dirty="0"/>
              <a:t>* reference all characters of the Encounter game.</a:t>
            </a:r>
          </a:p>
          <a:p>
            <a:r>
              <a:rPr lang="en-US" dirty="0"/>
              <a:t>* &lt;p&gt; Design: SDD 3.1 Module decomposition</a:t>
            </a:r>
          </a:p>
          <a:p>
            <a:r>
              <a:rPr lang="en-US" dirty="0"/>
              <a:t>* &lt;</a:t>
            </a:r>
            <a:r>
              <a:rPr lang="en-US" dirty="0" err="1"/>
              <a:t>br</a:t>
            </a:r>
            <a:r>
              <a:rPr lang="en-US" dirty="0"/>
              <a:t>&gt; SDD 5.1.2 Interface to the </a:t>
            </a:r>
            <a:r>
              <a:rPr lang="en-US" dirty="0" err="1"/>
              <a:t>EncounterCharacters</a:t>
            </a:r>
            <a:r>
              <a:rPr lang="en-US" dirty="0"/>
              <a:t> package</a:t>
            </a:r>
          </a:p>
          <a:p>
            <a:r>
              <a:rPr lang="en-US" dirty="0"/>
              <a:t>*</a:t>
            </a:r>
          </a:p>
          <a:p>
            <a:r>
              <a:rPr lang="en-US" dirty="0"/>
              <a:t>* &lt;p&gt;Design issues:&lt;</a:t>
            </a:r>
            <a:r>
              <a:rPr lang="en-US" dirty="0" err="1"/>
              <a:t>ul</a:t>
            </a:r>
            <a:r>
              <a:rPr lang="en-US" dirty="0"/>
              <a:t>&gt;</a:t>
            </a:r>
          </a:p>
          <a:p>
            <a:r>
              <a:rPr lang="en-US" dirty="0"/>
              <a:t>* &lt;li&gt; SDD 5.1.2.4 method </a:t>
            </a:r>
            <a:r>
              <a:rPr lang="en-US" dirty="0" err="1"/>
              <a:t>engagePlayerWithForeignCharacter</a:t>
            </a:r>
            <a:r>
              <a:rPr lang="en-US" dirty="0"/>
              <a:t> was</a:t>
            </a:r>
          </a:p>
          <a:p>
            <a:r>
              <a:rPr lang="en-US" dirty="0"/>
              <a:t>*   not implemented, since engagements are handled more directly</a:t>
            </a:r>
          </a:p>
          <a:p>
            <a:r>
              <a:rPr lang="en-US" dirty="0"/>
              <a:t>*   from the Engaging state object.</a:t>
            </a:r>
          </a:p>
          <a:p>
            <a:r>
              <a:rPr lang="en-US" dirty="0"/>
              <a:t>* &lt;/</a:t>
            </a:r>
            <a:r>
              <a:rPr lang="en-US" dirty="0" err="1"/>
              <a:t>ul</a:t>
            </a:r>
            <a:r>
              <a:rPr lang="en-US" dirty="0"/>
              <a:t>&gt;</a:t>
            </a:r>
          </a:p>
          <a:p>
            <a:r>
              <a:rPr lang="en-US" dirty="0"/>
              <a:t>*</a:t>
            </a:r>
          </a:p>
          <a:p>
            <a:r>
              <a:rPr lang="en-US" dirty="0"/>
              <a:t>* @author   Dr. Eric </a:t>
            </a:r>
            <a:r>
              <a:rPr lang="en-US" dirty="0" err="1"/>
              <a:t>Braude</a:t>
            </a:r>
            <a:endParaRPr lang="en-US" dirty="0"/>
          </a:p>
          <a:p>
            <a:r>
              <a:rPr lang="en-US" dirty="0"/>
              <a:t>* @version  0.1</a:t>
            </a:r>
          </a:p>
          <a:p>
            <a:r>
              <a:rPr lang="en-US" dirty="0"/>
              <a:t>*/</a:t>
            </a:r>
          </a:p>
          <a:p>
            <a:r>
              <a:rPr lang="en-US" dirty="0"/>
              <a:t>public class </a:t>
            </a:r>
            <a:r>
              <a:rPr lang="en-US" dirty="0" err="1"/>
              <a:t>EncounterCast</a:t>
            </a:r>
            <a:r>
              <a:rPr lang="en-US" dirty="0"/>
              <a:t> </a:t>
            </a:r>
          </a:p>
          <a:p>
            <a:r>
              <a:rPr lang="en-US" dirty="0"/>
              <a:t>{</a:t>
            </a:r>
          </a:p>
          <a:p>
            <a:r>
              <a:rPr lang="en-US" dirty="0"/>
              <a:t>    /** Name for human player */</a:t>
            </a:r>
          </a:p>
          <a:p>
            <a:r>
              <a:rPr lang="en-US" dirty="0"/>
              <a:t>    private static final String MAIN_PLAYER_NAME = "Elena";</a:t>
            </a:r>
          </a:p>
        </p:txBody>
      </p:sp>
      <p:sp>
        <p:nvSpPr>
          <p:cNvPr id="11" name="TextBox 10"/>
          <p:cNvSpPr txBox="1"/>
          <p:nvPr/>
        </p:nvSpPr>
        <p:spPr>
          <a:xfrm>
            <a:off x="3179168" y="4317248"/>
            <a:ext cx="7488832" cy="2031325"/>
          </a:xfrm>
          <a:prstGeom prst="rect">
            <a:avLst/>
          </a:prstGeom>
          <a:solidFill>
            <a:schemeClr val="bg1">
              <a:lumMod val="95000"/>
            </a:schemeClr>
          </a:solidFill>
          <a:ln>
            <a:solidFill>
              <a:schemeClr val="accent1"/>
            </a:solidFill>
          </a:ln>
          <a:effectLst>
            <a:outerShdw blurRad="50800" dist="38100" dir="2700000" algn="tl" rotWithShape="0">
              <a:prstClr val="black">
                <a:alpha val="40000"/>
              </a:prstClr>
            </a:outerShdw>
          </a:effectLst>
        </p:spPr>
        <p:txBody>
          <a:bodyPr wrap="square" rtlCol="0">
            <a:spAutoFit/>
          </a:bodyPr>
          <a:lstStyle/>
          <a:p>
            <a:r>
              <a:rPr lang="en-US" dirty="0"/>
              <a:t> /** Gets </a:t>
            </a:r>
            <a:r>
              <a:rPr lang="en-US" dirty="0" err="1"/>
              <a:t>encounterCast</a:t>
            </a:r>
            <a:r>
              <a:rPr lang="en-US" dirty="0"/>
              <a:t>, the one and only instance of </a:t>
            </a:r>
            <a:r>
              <a:rPr lang="en-US" dirty="0" err="1"/>
              <a:t>EncounterCast</a:t>
            </a:r>
            <a:r>
              <a:rPr lang="en-US" dirty="0"/>
              <a:t>.</a:t>
            </a:r>
          </a:p>
          <a:p>
            <a:r>
              <a:rPr lang="en-US" dirty="0"/>
              <a:t>    * &lt;p&gt; Requirement: SDD 5.1.2</a:t>
            </a:r>
          </a:p>
          <a:p>
            <a:r>
              <a:rPr lang="en-US" dirty="0"/>
              <a:t>    *</a:t>
            </a:r>
          </a:p>
          <a:p>
            <a:r>
              <a:rPr lang="en-US" dirty="0"/>
              <a:t>    * @return       The </a:t>
            </a:r>
            <a:r>
              <a:rPr lang="en-US" dirty="0" err="1"/>
              <a:t>EncounterCast</a:t>
            </a:r>
            <a:r>
              <a:rPr lang="en-US" dirty="0"/>
              <a:t> singleton.</a:t>
            </a:r>
          </a:p>
          <a:p>
            <a:r>
              <a:rPr lang="en-US" dirty="0"/>
              <a:t>    */</a:t>
            </a:r>
          </a:p>
          <a:p>
            <a:r>
              <a:rPr lang="en-US" dirty="0"/>
              <a:t>    public static </a:t>
            </a:r>
            <a:r>
              <a:rPr lang="en-US" dirty="0" err="1"/>
              <a:t>EncounterCast</a:t>
            </a:r>
            <a:r>
              <a:rPr lang="en-US" dirty="0"/>
              <a:t> </a:t>
            </a:r>
            <a:r>
              <a:rPr lang="en-US" dirty="0" err="1"/>
              <a:t>getEncounterCast</a:t>
            </a:r>
            <a:r>
              <a:rPr lang="en-US" dirty="0"/>
              <a:t>()</a:t>
            </a:r>
          </a:p>
          <a:p>
            <a:r>
              <a:rPr lang="en-US" dirty="0"/>
              <a:t>        { return </a:t>
            </a:r>
            <a:r>
              <a:rPr lang="en-US" dirty="0" err="1"/>
              <a:t>encounterCastS</a:t>
            </a:r>
            <a:r>
              <a:rPr lang="en-US" dirty="0"/>
              <a:t>; }</a:t>
            </a:r>
          </a:p>
        </p:txBody>
      </p:sp>
    </p:spTree>
    <p:extLst>
      <p:ext uri="{BB962C8B-B14F-4D97-AF65-F5344CB8AC3E}">
        <p14:creationId xmlns:p14="http://schemas.microsoft.com/office/powerpoint/2010/main" val="910064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5"/>
          <p:cNvSpPr>
            <a:spLocks noGrp="1" noChangeArrowheads="1"/>
          </p:cNvSpPr>
          <p:nvPr>
            <p:ph type="title"/>
          </p:nvPr>
        </p:nvSpPr>
        <p:spPr/>
        <p:txBody>
          <a:bodyPr/>
          <a:lstStyle/>
          <a:p>
            <a:r>
              <a:rPr lang="vi-VN"/>
              <a:t>Lập tài liệu cho thuộc tính</a:t>
            </a:r>
          </a:p>
        </p:txBody>
      </p:sp>
      <p:sp>
        <p:nvSpPr>
          <p:cNvPr id="610310" name="Rectangle 6"/>
          <p:cNvSpPr>
            <a:spLocks noGrp="1" noChangeArrowheads="1"/>
          </p:cNvSpPr>
          <p:nvPr>
            <p:ph idx="1"/>
          </p:nvPr>
        </p:nvSpPr>
        <p:spPr/>
        <p:txBody>
          <a:bodyPr/>
          <a:lstStyle/>
          <a:p>
            <a:r>
              <a:rPr lang="vi-VN"/>
              <a:t>Mô tả -- dùng để làm gì</a:t>
            </a:r>
          </a:p>
          <a:p>
            <a:r>
              <a:rPr lang="vi-VN"/>
              <a:t>Mọi bất biến (invariant) áp dụng được </a:t>
            </a:r>
          </a:p>
          <a:p>
            <a:pPr lvl="1"/>
            <a:r>
              <a:rPr lang="vi-VN"/>
              <a:t>các dữ kiện định lượng về thuộc tính, </a:t>
            </a:r>
          </a:p>
          <a:p>
            <a:pPr lvl="2"/>
            <a:r>
              <a:rPr lang="vi-VN"/>
              <a:t>chẳng hạn "1 &lt; _age &lt; 130"  </a:t>
            </a:r>
          </a:p>
          <a:p>
            <a:pPr lvl="2"/>
            <a:r>
              <a:rPr lang="vi-VN"/>
              <a:t>hoặc " 36 &lt; _length * _width &lt; 193".</a:t>
            </a:r>
          </a:p>
        </p:txBody>
      </p:sp>
      <p:sp>
        <p:nvSpPr>
          <p:cNvPr id="6" name="Date Placeholder 5"/>
          <p:cNvSpPr>
            <a:spLocks noGrp="1"/>
          </p:cNvSpPr>
          <p:nvPr>
            <p:ph type="dt" sz="half" idx="10"/>
          </p:nvPr>
        </p:nvSpPr>
        <p:spPr/>
        <p:txBody>
          <a:bodyPr/>
          <a:lstStyle/>
          <a:p>
            <a:fld id="{DAB47079-70AF-4F0F-9628-9E8AE32DFE12}" type="datetime1">
              <a:rPr lang="nb-NO" smtClean="0"/>
              <a:t>05.10.2026</a:t>
            </a:fld>
            <a:endParaRPr lang="en-US"/>
          </a:p>
        </p:txBody>
      </p:sp>
      <p:sp>
        <p:nvSpPr>
          <p:cNvPr id="7" name="Footer Placeholder 6"/>
          <p:cNvSpPr>
            <a:spLocks noGrp="1"/>
          </p:cNvSpPr>
          <p:nvPr>
            <p:ph type="ftr" sz="quarter" idx="11"/>
          </p:nvPr>
        </p:nvSpPr>
        <p:spPr/>
        <p:txBody>
          <a:bodyPr/>
          <a:lstStyle/>
          <a:p>
            <a:r>
              <a:rPr lang="vi-VN"/>
              <a:t>Chương 7.3. Tìm hiểu thêm về triển khai</a:t>
            </a:r>
            <a:endParaRPr lang="en-AU"/>
          </a:p>
        </p:txBody>
      </p:sp>
      <p:sp>
        <p:nvSpPr>
          <p:cNvPr id="8" name="Slide Number Placeholder 7"/>
          <p:cNvSpPr>
            <a:spLocks noGrp="1"/>
          </p:cNvSpPr>
          <p:nvPr>
            <p:ph type="sldNum" sz="quarter" idx="12"/>
          </p:nvPr>
        </p:nvSpPr>
        <p:spPr/>
        <p:txBody>
          <a:bodyPr/>
          <a:lstStyle/>
          <a:p>
            <a:fld id="{958E74C3-62C2-46AF-942D-53E7E0CA0864}" type="slidenum">
              <a:rPr lang="en-AU" smtClean="0"/>
              <a:pPr/>
              <a:t>13</a:t>
            </a:fld>
            <a:endParaRPr lang="en-AU"/>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9"/>
          <p:cNvSpPr>
            <a:spLocks noGrp="1" noChangeArrowheads="1"/>
          </p:cNvSpPr>
          <p:nvPr>
            <p:ph type="title"/>
          </p:nvPr>
        </p:nvSpPr>
        <p:spPr/>
        <p:txBody>
          <a:bodyPr/>
          <a:lstStyle/>
          <a:p>
            <a:r>
              <a:rPr lang="vi-VN"/>
              <a:t>Hằng số</a:t>
            </a:r>
          </a:p>
        </p:txBody>
      </p:sp>
      <p:sp>
        <p:nvSpPr>
          <p:cNvPr id="31747" name="Rectangle 10"/>
          <p:cNvSpPr>
            <a:spLocks noGrp="1" noChangeArrowheads="1"/>
          </p:cNvSpPr>
          <p:nvPr>
            <p:ph idx="1"/>
          </p:nvPr>
        </p:nvSpPr>
        <p:spPr/>
        <p:txBody>
          <a:bodyPr>
            <a:normAutofit/>
          </a:bodyPr>
          <a:lstStyle/>
          <a:p>
            <a:r>
              <a:rPr lang="vi-VN" dirty="0"/>
              <a:t>Trước khi khai báo một biến final, hãy chắc chắn rằng nó thật sự là final. Trong hầu hết trường hợp, bạn sẽ muốn thay đổi các giá trị “final”. Hãy cân nhắc dùng phương thức thay thế.</a:t>
            </a:r>
          </a:p>
          <a:p>
            <a:r>
              <a:rPr lang="vi-VN" dirty="0"/>
              <a:t>Vd:</a:t>
            </a:r>
          </a:p>
          <a:p>
            <a:pPr lvl="1"/>
            <a:r>
              <a:rPr lang="vi-VN" dirty="0"/>
              <a:t>thay vì ...</a:t>
            </a:r>
          </a:p>
          <a:p>
            <a:pPr lvl="1"/>
            <a:r>
              <a:rPr lang="en-US" dirty="0"/>
              <a:t>	protected static final MAX_CHARS_IN_NAME;</a:t>
            </a:r>
          </a:p>
          <a:p>
            <a:pPr lvl="1"/>
            <a:r>
              <a:rPr lang="vi-VN" dirty="0"/>
              <a:t>hãy cân nhắc dùng ...</a:t>
            </a:r>
          </a:p>
          <a:p>
            <a:pPr lvl="1"/>
            <a:r>
              <a:rPr lang="en-US" dirty="0"/>
              <a:t>	protected final static int </a:t>
            </a:r>
            <a:r>
              <a:rPr lang="en-US" dirty="0" err="1"/>
              <a:t>getMaxCharsInName</a:t>
            </a:r>
            <a:r>
              <a:rPr lang="en-US" dirty="0"/>
              <a:t>() { return 20; }</a:t>
            </a:r>
            <a:endParaRPr lang="en-AU" dirty="0"/>
          </a:p>
        </p:txBody>
      </p:sp>
      <p:sp>
        <p:nvSpPr>
          <p:cNvPr id="6" name="Date Placeholder 5"/>
          <p:cNvSpPr>
            <a:spLocks noGrp="1"/>
          </p:cNvSpPr>
          <p:nvPr>
            <p:ph type="dt" sz="half" idx="10"/>
          </p:nvPr>
        </p:nvSpPr>
        <p:spPr/>
        <p:txBody>
          <a:bodyPr/>
          <a:lstStyle/>
          <a:p>
            <a:fld id="{0929FDDF-0B3F-4C88-A9D0-F1255DFBCD28}" type="datetime1">
              <a:rPr lang="nb-NO" smtClean="0"/>
              <a:t>05.10.2026</a:t>
            </a:fld>
            <a:endParaRPr lang="en-US"/>
          </a:p>
        </p:txBody>
      </p:sp>
      <p:sp>
        <p:nvSpPr>
          <p:cNvPr id="7" name="Footer Placeholder 6"/>
          <p:cNvSpPr>
            <a:spLocks noGrp="1"/>
          </p:cNvSpPr>
          <p:nvPr>
            <p:ph type="ftr" sz="quarter" idx="11"/>
          </p:nvPr>
        </p:nvSpPr>
        <p:spPr/>
        <p:txBody>
          <a:bodyPr/>
          <a:lstStyle/>
          <a:p>
            <a:r>
              <a:rPr lang="vi-VN"/>
              <a:t>Chương 7.3. Tìm hiểu thêm về triển khai</a:t>
            </a:r>
            <a:endParaRPr lang="en-AU"/>
          </a:p>
        </p:txBody>
      </p:sp>
      <p:sp>
        <p:nvSpPr>
          <p:cNvPr id="8" name="Slide Number Placeholder 7"/>
          <p:cNvSpPr>
            <a:spLocks noGrp="1"/>
          </p:cNvSpPr>
          <p:nvPr>
            <p:ph type="sldNum" sz="quarter" idx="12"/>
          </p:nvPr>
        </p:nvSpPr>
        <p:spPr/>
        <p:txBody>
          <a:bodyPr/>
          <a:lstStyle/>
          <a:p>
            <a:fld id="{958E74C3-62C2-46AF-942D-53E7E0CA0864}" type="slidenum">
              <a:rPr lang="en-AU" smtClean="0"/>
              <a:pPr/>
              <a:t>14</a:t>
            </a:fld>
            <a:endParaRPr lang="en-AU"/>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8"/>
          <p:cNvSpPr>
            <a:spLocks noGrp="1" noChangeArrowheads="1"/>
          </p:cNvSpPr>
          <p:nvPr>
            <p:ph type="title"/>
          </p:nvPr>
        </p:nvSpPr>
        <p:spPr/>
        <p:txBody>
          <a:bodyPr/>
          <a:lstStyle/>
          <a:p>
            <a:r>
              <a:rPr lang="vi-VN"/>
              <a:t>Khởi tạo thuộc tính</a:t>
            </a:r>
          </a:p>
        </p:txBody>
      </p:sp>
      <p:sp>
        <p:nvSpPr>
          <p:cNvPr id="32771" name="Rectangle 9"/>
          <p:cNvSpPr>
            <a:spLocks noGrp="1" noChangeArrowheads="1"/>
          </p:cNvSpPr>
          <p:nvPr>
            <p:ph idx="1"/>
          </p:nvPr>
        </p:nvSpPr>
        <p:spPr/>
        <p:txBody>
          <a:bodyPr>
            <a:normAutofit/>
          </a:bodyPr>
          <a:lstStyle/>
          <a:p>
            <a:r>
              <a:rPr lang="vi-VN" dirty="0"/>
              <a:t>Thuộc tính luôn nên được khởi tạo, ví dụ</a:t>
            </a:r>
          </a:p>
          <a:p>
            <a:pPr lvl="1"/>
            <a:r>
              <a:rPr lang="en-AU" dirty="0"/>
              <a:t>private float _balance = 0;</a:t>
            </a:r>
          </a:p>
          <a:p>
            <a:r>
              <a:rPr lang="vi-VN" dirty="0"/>
              <a:t>Thuộc tính có thể là đối tượng của một lớp khác, như</a:t>
            </a:r>
          </a:p>
          <a:p>
            <a:pPr lvl="1"/>
            <a:r>
              <a:rPr lang="en-AU" dirty="0"/>
              <a:t>private Customer _customer; </a:t>
            </a:r>
          </a:p>
          <a:p>
            <a:r>
              <a:rPr lang="vi-VN" dirty="0"/>
              <a:t>Cách truyền thống là dùng constructor, như </a:t>
            </a:r>
          </a:p>
          <a:p>
            <a:pPr lvl="1"/>
            <a:r>
              <a:rPr lang="en-AU" dirty="0"/>
              <a:t>private Customer _customer = new Customer( "Edward", "Jones" );</a:t>
            </a:r>
          </a:p>
          <a:p>
            <a:r>
              <a:rPr lang="vi-VN" dirty="0"/>
              <a:t>Vấn đề là khả năng bảo trì. Khi thêm thuộc tính mới vào Customer, tất cả đều phải cập nhật. Ngoài ra còn truy cập persistent storage một cách không cần thiết.</a:t>
            </a:r>
          </a:p>
        </p:txBody>
      </p:sp>
      <p:sp>
        <p:nvSpPr>
          <p:cNvPr id="6" name="Date Placeholder 5"/>
          <p:cNvSpPr>
            <a:spLocks noGrp="1"/>
          </p:cNvSpPr>
          <p:nvPr>
            <p:ph type="dt" sz="half" idx="10"/>
          </p:nvPr>
        </p:nvSpPr>
        <p:spPr/>
        <p:txBody>
          <a:bodyPr/>
          <a:lstStyle/>
          <a:p>
            <a:fld id="{4FE06600-B7B6-4C06-AF91-BB3E981FFBF5}" type="datetime1">
              <a:rPr lang="nb-NO" smtClean="0"/>
              <a:t>05.10.2026</a:t>
            </a:fld>
            <a:endParaRPr lang="en-US"/>
          </a:p>
        </p:txBody>
      </p:sp>
      <p:sp>
        <p:nvSpPr>
          <p:cNvPr id="7" name="Footer Placeholder 6"/>
          <p:cNvSpPr>
            <a:spLocks noGrp="1"/>
          </p:cNvSpPr>
          <p:nvPr>
            <p:ph type="ftr" sz="quarter" idx="11"/>
          </p:nvPr>
        </p:nvSpPr>
        <p:spPr/>
        <p:txBody>
          <a:bodyPr/>
          <a:lstStyle/>
          <a:p>
            <a:r>
              <a:rPr lang="vi-VN"/>
              <a:t>Chương 7.3. Tìm hiểu thêm về triển khai</a:t>
            </a:r>
            <a:endParaRPr lang="en-AU"/>
          </a:p>
        </p:txBody>
      </p:sp>
      <p:sp>
        <p:nvSpPr>
          <p:cNvPr id="8" name="Slide Number Placeholder 7"/>
          <p:cNvSpPr>
            <a:spLocks noGrp="1"/>
          </p:cNvSpPr>
          <p:nvPr>
            <p:ph type="sldNum" sz="quarter" idx="12"/>
          </p:nvPr>
        </p:nvSpPr>
        <p:spPr/>
        <p:txBody>
          <a:bodyPr/>
          <a:lstStyle/>
          <a:p>
            <a:fld id="{958E74C3-62C2-46AF-942D-53E7E0CA0864}" type="slidenum">
              <a:rPr lang="en-AU" smtClean="0"/>
              <a:pPr/>
              <a:t>15</a:t>
            </a:fld>
            <a:endParaRPr lang="en-AU"/>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C1FCF-BB2A-41DF-B17E-8191B37405CF}"/>
              </a:ext>
            </a:extLst>
          </p:cNvPr>
          <p:cNvSpPr>
            <a:spLocks noGrp="1"/>
          </p:cNvSpPr>
          <p:nvPr>
            <p:ph type="title"/>
          </p:nvPr>
        </p:nvSpPr>
        <p:spPr/>
        <p:txBody>
          <a:bodyPr/>
          <a:lstStyle/>
          <a:p>
            <a:r>
              <a:rPr lang="vi-VN"/>
              <a:t>Sách liên quan</a:t>
            </a:r>
          </a:p>
        </p:txBody>
      </p:sp>
      <p:pic>
        <p:nvPicPr>
          <p:cNvPr id="4" name="Picture 3">
            <a:extLst>
              <a:ext uri="{FF2B5EF4-FFF2-40B4-BE49-F238E27FC236}">
                <a16:creationId xmlns:a16="http://schemas.microsoft.com/office/drawing/2014/main" id="{1526123F-A585-4300-BAF5-0FC94CE0DE03}"/>
              </a:ext>
            </a:extLst>
          </p:cNvPr>
          <p:cNvPicPr>
            <a:picLocks noChangeAspect="1"/>
          </p:cNvPicPr>
          <p:nvPr/>
        </p:nvPicPr>
        <p:blipFill>
          <a:blip r:embed="rId2"/>
          <a:stretch>
            <a:fillRect/>
          </a:stretch>
        </p:blipFill>
        <p:spPr>
          <a:xfrm>
            <a:off x="2135560" y="1417639"/>
            <a:ext cx="3440702" cy="4373501"/>
          </a:xfrm>
          <a:prstGeom prst="rect">
            <a:avLst/>
          </a:prstGeom>
        </p:spPr>
      </p:pic>
      <p:pic>
        <p:nvPicPr>
          <p:cNvPr id="6" name="Picture 5">
            <a:extLst>
              <a:ext uri="{FF2B5EF4-FFF2-40B4-BE49-F238E27FC236}">
                <a16:creationId xmlns:a16="http://schemas.microsoft.com/office/drawing/2014/main" id="{A566258A-B71F-4C6A-8280-0466E6B0F51F}"/>
              </a:ext>
            </a:extLst>
          </p:cNvPr>
          <p:cNvPicPr>
            <a:picLocks noChangeAspect="1"/>
          </p:cNvPicPr>
          <p:nvPr/>
        </p:nvPicPr>
        <p:blipFill>
          <a:blip r:embed="rId3"/>
          <a:stretch>
            <a:fillRect/>
          </a:stretch>
        </p:blipFill>
        <p:spPr>
          <a:xfrm>
            <a:off x="4375649" y="1311443"/>
            <a:ext cx="3440702" cy="4373501"/>
          </a:xfrm>
          <a:prstGeom prst="rect">
            <a:avLst/>
          </a:prstGeom>
        </p:spPr>
      </p:pic>
      <p:sp>
        <p:nvSpPr>
          <p:cNvPr id="7" name="TextBox 6">
            <a:extLst>
              <a:ext uri="{FF2B5EF4-FFF2-40B4-BE49-F238E27FC236}">
                <a16:creationId xmlns:a16="http://schemas.microsoft.com/office/drawing/2014/main" id="{5024E86B-BF81-46CF-8863-23FB5E2FF84F}"/>
              </a:ext>
            </a:extLst>
          </p:cNvPr>
          <p:cNvSpPr txBox="1"/>
          <p:nvPr/>
        </p:nvSpPr>
        <p:spPr>
          <a:xfrm>
            <a:off x="4591674" y="5943395"/>
            <a:ext cx="2450611" cy="369332"/>
          </a:xfrm>
          <a:prstGeom prst="rect">
            <a:avLst/>
          </a:prstGeom>
          <a:noFill/>
        </p:spPr>
        <p:txBody>
          <a:bodyPr wrap="square" rtlCol="0">
            <a:spAutoFit/>
          </a:bodyPr>
          <a:lstStyle/>
          <a:p>
            <a:r>
              <a:rPr lang="vi-VN"/>
              <a:t>Ấn bản mới</a:t>
            </a:r>
          </a:p>
        </p:txBody>
      </p:sp>
      <p:sp>
        <p:nvSpPr>
          <p:cNvPr id="3" name="Date Placeholder 2">
            <a:extLst>
              <a:ext uri="{FF2B5EF4-FFF2-40B4-BE49-F238E27FC236}">
                <a16:creationId xmlns:a16="http://schemas.microsoft.com/office/drawing/2014/main" id="{853699D2-4DFC-3124-3C15-0C6E3178C282}"/>
              </a:ext>
            </a:extLst>
          </p:cNvPr>
          <p:cNvSpPr>
            <a:spLocks noGrp="1"/>
          </p:cNvSpPr>
          <p:nvPr>
            <p:ph type="dt" sz="half" idx="10"/>
          </p:nvPr>
        </p:nvSpPr>
        <p:spPr/>
        <p:txBody>
          <a:bodyPr/>
          <a:lstStyle/>
          <a:p>
            <a:fld id="{5BAA0272-818E-4AC2-B2E6-3461ED76981A}" type="datetime1">
              <a:rPr lang="nb-NO" smtClean="0"/>
              <a:t>05.10.2026</a:t>
            </a:fld>
            <a:endParaRPr lang="en-US" dirty="0"/>
          </a:p>
        </p:txBody>
      </p:sp>
      <p:sp>
        <p:nvSpPr>
          <p:cNvPr id="8" name="Footer Placeholder 7">
            <a:extLst>
              <a:ext uri="{FF2B5EF4-FFF2-40B4-BE49-F238E27FC236}">
                <a16:creationId xmlns:a16="http://schemas.microsoft.com/office/drawing/2014/main" id="{31DFFDDE-4DB6-5C6C-C6A5-FFAFAE5B4D3D}"/>
              </a:ext>
            </a:extLst>
          </p:cNvPr>
          <p:cNvSpPr>
            <a:spLocks noGrp="1"/>
          </p:cNvSpPr>
          <p:nvPr>
            <p:ph type="ftr" sz="quarter" idx="11"/>
          </p:nvPr>
        </p:nvSpPr>
        <p:spPr/>
        <p:txBody>
          <a:bodyPr/>
          <a:lstStyle/>
          <a:p>
            <a:r>
              <a:rPr lang="vi-VN"/>
              <a:t>Chương 7.3. Tìm hiểu thêm về triển khai</a:t>
            </a:r>
          </a:p>
        </p:txBody>
      </p:sp>
      <p:sp>
        <p:nvSpPr>
          <p:cNvPr id="9" name="Slide Number Placeholder 8">
            <a:extLst>
              <a:ext uri="{FF2B5EF4-FFF2-40B4-BE49-F238E27FC236}">
                <a16:creationId xmlns:a16="http://schemas.microsoft.com/office/drawing/2014/main" id="{54DAC674-661C-CC50-BEE6-DB8D1B9E5D9D}"/>
              </a:ext>
            </a:extLst>
          </p:cNvPr>
          <p:cNvSpPr>
            <a:spLocks noGrp="1"/>
          </p:cNvSpPr>
          <p:nvPr>
            <p:ph type="sldNum" sz="quarter" idx="12"/>
          </p:nvPr>
        </p:nvSpPr>
        <p:spPr/>
        <p:txBody>
          <a:bodyPr/>
          <a:lstStyle/>
          <a:p>
            <a:fld id="{EC33B370-F672-B743-B3AF-248A63C17270}" type="slidenum">
              <a:rPr lang="en-US" smtClean="0"/>
              <a:pPr/>
              <a:t>16</a:t>
            </a:fld>
            <a:endParaRPr lang="en-US"/>
          </a:p>
        </p:txBody>
      </p:sp>
    </p:spTree>
    <p:extLst>
      <p:ext uri="{BB962C8B-B14F-4D97-AF65-F5344CB8AC3E}">
        <p14:creationId xmlns:p14="http://schemas.microsoft.com/office/powerpoint/2010/main" val="6571340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7C22E-9013-4515-BC99-E51B25E47819}"/>
              </a:ext>
            </a:extLst>
          </p:cNvPr>
          <p:cNvSpPr>
            <a:spLocks noGrp="1"/>
          </p:cNvSpPr>
          <p:nvPr>
            <p:ph type="title"/>
          </p:nvPr>
        </p:nvSpPr>
        <p:spPr/>
        <p:txBody>
          <a:bodyPr/>
          <a:lstStyle/>
          <a:p>
            <a:r>
              <a:rPr lang="vi-VN"/>
              <a:t>Bad smell trong mã nguồn (code smell)</a:t>
            </a:r>
          </a:p>
        </p:txBody>
      </p:sp>
      <p:sp>
        <p:nvSpPr>
          <p:cNvPr id="3" name="Content Placeholder 2">
            <a:extLst>
              <a:ext uri="{FF2B5EF4-FFF2-40B4-BE49-F238E27FC236}">
                <a16:creationId xmlns:a16="http://schemas.microsoft.com/office/drawing/2014/main" id="{2DECF0B9-F1F2-4F0D-B7A9-82339089FA47}"/>
              </a:ext>
            </a:extLst>
          </p:cNvPr>
          <p:cNvSpPr>
            <a:spLocks noGrp="1"/>
          </p:cNvSpPr>
          <p:nvPr>
            <p:ph idx="1"/>
          </p:nvPr>
        </p:nvSpPr>
        <p:spPr/>
        <p:txBody>
          <a:bodyPr/>
          <a:lstStyle/>
          <a:p>
            <a:pPr>
              <a:lnSpc>
                <a:spcPct val="150000"/>
              </a:lnSpc>
            </a:pPr>
            <a:r>
              <a:rPr lang="vi-VN" dirty="0">
                <a:latin typeface="Arial" panose="020B0604020202020204" pitchFamily="34" charset="0"/>
                <a:cs typeface="Arial" panose="020B0604020202020204" pitchFamily="34" charset="0"/>
              </a:rPr>
              <a:t>Code smell là mọi sự vi phạm các nguyên lý thiết kế cơ bản làm giảm chất lượng tổng thể của mã nguồn. </a:t>
            </a:r>
          </a:p>
          <a:p>
            <a:pPr>
              <a:lnSpc>
                <a:spcPct val="150000"/>
              </a:lnSpc>
            </a:pPr>
            <a:r>
              <a:rPr lang="vi-VN" dirty="0">
                <a:latin typeface="Arial" panose="020B0604020202020204" pitchFamily="34" charset="0"/>
                <a:cs typeface="Arial" panose="020B0604020202020204" pitchFamily="34" charset="0"/>
              </a:rPr>
              <a:t>Không phải bug hay lỗi</a:t>
            </a:r>
          </a:p>
          <a:p>
            <a:pPr>
              <a:lnSpc>
                <a:spcPct val="150000"/>
              </a:lnSpc>
            </a:pPr>
            <a:r>
              <a:rPr lang="vi-VN" dirty="0">
                <a:latin typeface="Arial" panose="020B0604020202020204" pitchFamily="34" charset="0"/>
                <a:cs typeface="Arial" panose="020B0604020202020204" pitchFamily="34" charset="0"/>
              </a:rPr>
              <a:t>Chắc chắn có thể làm tăng khả năng phát sinh bug và sự cố về sau.</a:t>
            </a:r>
          </a:p>
        </p:txBody>
      </p:sp>
      <p:sp>
        <p:nvSpPr>
          <p:cNvPr id="4" name="Date Placeholder 3">
            <a:extLst>
              <a:ext uri="{FF2B5EF4-FFF2-40B4-BE49-F238E27FC236}">
                <a16:creationId xmlns:a16="http://schemas.microsoft.com/office/drawing/2014/main" id="{35CD351A-9407-4242-5D4B-2B7AC811B6D4}"/>
              </a:ext>
            </a:extLst>
          </p:cNvPr>
          <p:cNvSpPr>
            <a:spLocks noGrp="1"/>
          </p:cNvSpPr>
          <p:nvPr>
            <p:ph type="dt" sz="half" idx="10"/>
          </p:nvPr>
        </p:nvSpPr>
        <p:spPr/>
        <p:txBody>
          <a:bodyPr/>
          <a:lstStyle/>
          <a:p>
            <a:fld id="{7B01DD19-DFBB-4D15-8030-D1EA4C1504F6}" type="datetime1">
              <a:rPr lang="nb-NO" smtClean="0"/>
              <a:t>05.10.2026</a:t>
            </a:fld>
            <a:endParaRPr lang="en-US" dirty="0"/>
          </a:p>
        </p:txBody>
      </p:sp>
      <p:sp>
        <p:nvSpPr>
          <p:cNvPr id="5" name="Footer Placeholder 4">
            <a:extLst>
              <a:ext uri="{FF2B5EF4-FFF2-40B4-BE49-F238E27FC236}">
                <a16:creationId xmlns:a16="http://schemas.microsoft.com/office/drawing/2014/main" id="{D5F0F2DA-82CD-A741-804E-64B310E7A3AF}"/>
              </a:ext>
            </a:extLst>
          </p:cNvPr>
          <p:cNvSpPr>
            <a:spLocks noGrp="1"/>
          </p:cNvSpPr>
          <p:nvPr>
            <p:ph type="ftr" sz="quarter" idx="11"/>
          </p:nvPr>
        </p:nvSpPr>
        <p:spPr/>
        <p:txBody>
          <a:bodyPr/>
          <a:lstStyle/>
          <a:p>
            <a:r>
              <a:rPr lang="vi-VN"/>
              <a:t>Chương 7.3. Tìm hiểu thêm về triển khai</a:t>
            </a:r>
          </a:p>
        </p:txBody>
      </p:sp>
      <p:sp>
        <p:nvSpPr>
          <p:cNvPr id="6" name="Slide Number Placeholder 5">
            <a:extLst>
              <a:ext uri="{FF2B5EF4-FFF2-40B4-BE49-F238E27FC236}">
                <a16:creationId xmlns:a16="http://schemas.microsoft.com/office/drawing/2014/main" id="{F295D476-A474-26EA-A980-AA79B2B41BAB}"/>
              </a:ext>
            </a:extLst>
          </p:cNvPr>
          <p:cNvSpPr>
            <a:spLocks noGrp="1"/>
          </p:cNvSpPr>
          <p:nvPr>
            <p:ph type="sldNum" sz="quarter" idx="12"/>
          </p:nvPr>
        </p:nvSpPr>
        <p:spPr/>
        <p:txBody>
          <a:bodyPr/>
          <a:lstStyle/>
          <a:p>
            <a:fld id="{EC33B370-F672-B743-B3AF-248A63C17270}" type="slidenum">
              <a:rPr lang="en-US" smtClean="0"/>
              <a:pPr/>
              <a:t>17</a:t>
            </a:fld>
            <a:endParaRPr lang="en-US"/>
          </a:p>
        </p:txBody>
      </p:sp>
    </p:spTree>
    <p:extLst>
      <p:ext uri="{BB962C8B-B14F-4D97-AF65-F5344CB8AC3E}">
        <p14:creationId xmlns:p14="http://schemas.microsoft.com/office/powerpoint/2010/main" val="2886148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F70C0-89E0-CE36-C983-5F99C17AFC00}"/>
              </a:ext>
            </a:extLst>
          </p:cNvPr>
          <p:cNvSpPr>
            <a:spLocks noGrp="1"/>
          </p:cNvSpPr>
          <p:nvPr>
            <p:ph type="title"/>
          </p:nvPr>
        </p:nvSpPr>
        <p:spPr/>
        <p:txBody>
          <a:bodyPr/>
          <a:lstStyle/>
          <a:p>
            <a:endParaRPr lang="nb-NO"/>
          </a:p>
        </p:txBody>
      </p:sp>
      <p:sp>
        <p:nvSpPr>
          <p:cNvPr id="3" name="Content Placeholder 2">
            <a:extLst>
              <a:ext uri="{FF2B5EF4-FFF2-40B4-BE49-F238E27FC236}">
                <a16:creationId xmlns:a16="http://schemas.microsoft.com/office/drawing/2014/main" id="{DD5C81DB-A065-3322-2A15-F90044C34052}"/>
              </a:ext>
            </a:extLst>
          </p:cNvPr>
          <p:cNvSpPr>
            <a:spLocks noGrp="1"/>
          </p:cNvSpPr>
          <p:nvPr>
            <p:ph idx="1"/>
          </p:nvPr>
        </p:nvSpPr>
        <p:spPr/>
        <p:txBody>
          <a:bodyPr/>
          <a:lstStyle/>
          <a:p>
            <a:endParaRPr lang="nb-NO"/>
          </a:p>
        </p:txBody>
      </p:sp>
      <p:pic>
        <p:nvPicPr>
          <p:cNvPr id="4098" name="Picture 2" descr="Code smells that are found the most in software projects">
            <a:extLst>
              <a:ext uri="{FF2B5EF4-FFF2-40B4-BE49-F238E27FC236}">
                <a16:creationId xmlns:a16="http://schemas.microsoft.com/office/drawing/2014/main" id="{D9C8F8C1-5A70-8EB3-B57D-175C07A516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700"/>
            <a:ext cx="12192000" cy="68326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277850DB-5D57-4E77-3C5F-001A749407C9}"/>
              </a:ext>
            </a:extLst>
          </p:cNvPr>
          <p:cNvSpPr/>
          <p:nvPr/>
        </p:nvSpPr>
        <p:spPr>
          <a:xfrm>
            <a:off x="5781368" y="4522839"/>
            <a:ext cx="3224980" cy="113070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28279915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3A3D-5419-DD93-9FF9-122DCED128F3}"/>
              </a:ext>
            </a:extLst>
          </p:cNvPr>
          <p:cNvSpPr>
            <a:spLocks noGrp="1"/>
          </p:cNvSpPr>
          <p:nvPr>
            <p:ph type="title"/>
          </p:nvPr>
        </p:nvSpPr>
        <p:spPr/>
        <p:txBody>
          <a:bodyPr/>
          <a:lstStyle/>
          <a:p>
            <a:endParaRPr lang="nb-NO"/>
          </a:p>
        </p:txBody>
      </p:sp>
      <p:sp>
        <p:nvSpPr>
          <p:cNvPr id="3" name="Content Placeholder 2">
            <a:extLst>
              <a:ext uri="{FF2B5EF4-FFF2-40B4-BE49-F238E27FC236}">
                <a16:creationId xmlns:a16="http://schemas.microsoft.com/office/drawing/2014/main" id="{71B7AB68-6654-AD5D-482E-07B268851C39}"/>
              </a:ext>
            </a:extLst>
          </p:cNvPr>
          <p:cNvSpPr>
            <a:spLocks noGrp="1"/>
          </p:cNvSpPr>
          <p:nvPr>
            <p:ph idx="1"/>
          </p:nvPr>
        </p:nvSpPr>
        <p:spPr/>
        <p:txBody>
          <a:bodyPr/>
          <a:lstStyle/>
          <a:p>
            <a:endParaRPr lang="nb-NO" dirty="0"/>
          </a:p>
        </p:txBody>
      </p:sp>
      <p:pic>
        <p:nvPicPr>
          <p:cNvPr id="5" name="Picture 4">
            <a:extLst>
              <a:ext uri="{FF2B5EF4-FFF2-40B4-BE49-F238E27FC236}">
                <a16:creationId xmlns:a16="http://schemas.microsoft.com/office/drawing/2014/main" id="{970BD4D2-812F-5A23-6968-2D67FFB932E4}"/>
              </a:ext>
            </a:extLst>
          </p:cNvPr>
          <p:cNvPicPr>
            <a:picLocks noChangeAspect="1"/>
          </p:cNvPicPr>
          <p:nvPr/>
        </p:nvPicPr>
        <p:blipFill rotWithShape="1">
          <a:blip r:embed="rId3"/>
          <a:srcRect l="17742" t="22795" r="17017" b="39785"/>
          <a:stretch/>
        </p:blipFill>
        <p:spPr>
          <a:xfrm>
            <a:off x="98322" y="68826"/>
            <a:ext cx="11855257" cy="3824748"/>
          </a:xfrm>
          <a:prstGeom prst="rect">
            <a:avLst/>
          </a:prstGeom>
        </p:spPr>
      </p:pic>
      <p:pic>
        <p:nvPicPr>
          <p:cNvPr id="9218" name="Picture 2" descr="Large Class - Code Smells">
            <a:extLst>
              <a:ext uri="{FF2B5EF4-FFF2-40B4-BE49-F238E27FC236}">
                <a16:creationId xmlns:a16="http://schemas.microsoft.com/office/drawing/2014/main" id="{8000D448-9D5E-F195-61A2-7923620C96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1366" y="3816220"/>
            <a:ext cx="5069633" cy="30417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82894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3A3D-5419-DD93-9FF9-122DCED128F3}"/>
              </a:ext>
            </a:extLst>
          </p:cNvPr>
          <p:cNvSpPr>
            <a:spLocks noGrp="1"/>
          </p:cNvSpPr>
          <p:nvPr>
            <p:ph type="title"/>
          </p:nvPr>
        </p:nvSpPr>
        <p:spPr/>
        <p:txBody>
          <a:bodyPr/>
          <a:lstStyle/>
          <a:p>
            <a:endParaRPr lang="nb-NO"/>
          </a:p>
        </p:txBody>
      </p:sp>
      <p:sp>
        <p:nvSpPr>
          <p:cNvPr id="3" name="Content Placeholder 2">
            <a:extLst>
              <a:ext uri="{FF2B5EF4-FFF2-40B4-BE49-F238E27FC236}">
                <a16:creationId xmlns:a16="http://schemas.microsoft.com/office/drawing/2014/main" id="{71B7AB68-6654-AD5D-482E-07B268851C39}"/>
              </a:ext>
            </a:extLst>
          </p:cNvPr>
          <p:cNvSpPr>
            <a:spLocks noGrp="1"/>
          </p:cNvSpPr>
          <p:nvPr>
            <p:ph idx="1"/>
          </p:nvPr>
        </p:nvSpPr>
        <p:spPr/>
        <p:txBody>
          <a:bodyPr/>
          <a:lstStyle/>
          <a:p>
            <a:endParaRPr lang="nb-NO" dirty="0"/>
          </a:p>
        </p:txBody>
      </p:sp>
      <p:pic>
        <p:nvPicPr>
          <p:cNvPr id="7" name="Picture 6">
            <a:extLst>
              <a:ext uri="{FF2B5EF4-FFF2-40B4-BE49-F238E27FC236}">
                <a16:creationId xmlns:a16="http://schemas.microsoft.com/office/drawing/2014/main" id="{4FEEDF7A-39A9-93A0-6594-1B837DE85A4B}"/>
              </a:ext>
            </a:extLst>
          </p:cNvPr>
          <p:cNvPicPr>
            <a:picLocks noChangeAspect="1"/>
          </p:cNvPicPr>
          <p:nvPr/>
        </p:nvPicPr>
        <p:blipFill rotWithShape="1">
          <a:blip r:embed="rId3"/>
          <a:srcRect l="19597" t="34409" r="22096" b="30322"/>
          <a:stretch/>
        </p:blipFill>
        <p:spPr>
          <a:xfrm>
            <a:off x="316672" y="112976"/>
            <a:ext cx="11212134" cy="3814916"/>
          </a:xfrm>
          <a:prstGeom prst="rect">
            <a:avLst/>
          </a:prstGeom>
        </p:spPr>
      </p:pic>
      <p:pic>
        <p:nvPicPr>
          <p:cNvPr id="8194" name="Picture 2">
            <a:extLst>
              <a:ext uri="{FF2B5EF4-FFF2-40B4-BE49-F238E27FC236}">
                <a16:creationId xmlns:a16="http://schemas.microsoft.com/office/drawing/2014/main" id="{70AB372F-56B2-F40B-A259-C82BB6E67F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5354" y="3194568"/>
            <a:ext cx="4762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17580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3A3D-5419-DD93-9FF9-122DCED128F3}"/>
              </a:ext>
            </a:extLst>
          </p:cNvPr>
          <p:cNvSpPr>
            <a:spLocks noGrp="1"/>
          </p:cNvSpPr>
          <p:nvPr>
            <p:ph type="title"/>
          </p:nvPr>
        </p:nvSpPr>
        <p:spPr/>
        <p:txBody>
          <a:bodyPr/>
          <a:lstStyle/>
          <a:p>
            <a:endParaRPr lang="nb-NO"/>
          </a:p>
        </p:txBody>
      </p:sp>
      <p:sp>
        <p:nvSpPr>
          <p:cNvPr id="3" name="Content Placeholder 2">
            <a:extLst>
              <a:ext uri="{FF2B5EF4-FFF2-40B4-BE49-F238E27FC236}">
                <a16:creationId xmlns:a16="http://schemas.microsoft.com/office/drawing/2014/main" id="{71B7AB68-6654-AD5D-482E-07B268851C39}"/>
              </a:ext>
            </a:extLst>
          </p:cNvPr>
          <p:cNvSpPr>
            <a:spLocks noGrp="1"/>
          </p:cNvSpPr>
          <p:nvPr>
            <p:ph idx="1"/>
          </p:nvPr>
        </p:nvSpPr>
        <p:spPr/>
        <p:txBody>
          <a:bodyPr/>
          <a:lstStyle/>
          <a:p>
            <a:endParaRPr lang="nb-NO" dirty="0"/>
          </a:p>
        </p:txBody>
      </p:sp>
      <p:pic>
        <p:nvPicPr>
          <p:cNvPr id="5" name="Picture 4">
            <a:extLst>
              <a:ext uri="{FF2B5EF4-FFF2-40B4-BE49-F238E27FC236}">
                <a16:creationId xmlns:a16="http://schemas.microsoft.com/office/drawing/2014/main" id="{92D25071-559D-67FE-709D-F85D9E4E0DB5}"/>
              </a:ext>
            </a:extLst>
          </p:cNvPr>
          <p:cNvPicPr>
            <a:picLocks noChangeAspect="1"/>
          </p:cNvPicPr>
          <p:nvPr/>
        </p:nvPicPr>
        <p:blipFill rotWithShape="1">
          <a:blip r:embed="rId3"/>
          <a:srcRect l="20887" t="31685" r="16935" b="32760"/>
          <a:stretch/>
        </p:blipFill>
        <p:spPr>
          <a:xfrm>
            <a:off x="412954" y="112976"/>
            <a:ext cx="11508851" cy="3701940"/>
          </a:xfrm>
          <a:prstGeom prst="rect">
            <a:avLst/>
          </a:prstGeom>
        </p:spPr>
      </p:pic>
      <p:pic>
        <p:nvPicPr>
          <p:cNvPr id="7170" name="Picture 2" descr="This visualizes a shotgun surgery">
            <a:extLst>
              <a:ext uri="{FF2B5EF4-FFF2-40B4-BE49-F238E27FC236}">
                <a16:creationId xmlns:a16="http://schemas.microsoft.com/office/drawing/2014/main" id="{7976169A-B16B-3697-6FD4-E6AD98CE09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16146" y="2510771"/>
            <a:ext cx="3692627" cy="4347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68989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3A3D-5419-DD93-9FF9-122DCED128F3}"/>
              </a:ext>
            </a:extLst>
          </p:cNvPr>
          <p:cNvSpPr>
            <a:spLocks noGrp="1"/>
          </p:cNvSpPr>
          <p:nvPr>
            <p:ph type="title"/>
          </p:nvPr>
        </p:nvSpPr>
        <p:spPr/>
        <p:txBody>
          <a:bodyPr/>
          <a:lstStyle/>
          <a:p>
            <a:endParaRPr lang="nb-NO"/>
          </a:p>
        </p:txBody>
      </p:sp>
      <p:sp>
        <p:nvSpPr>
          <p:cNvPr id="3" name="Content Placeholder 2">
            <a:extLst>
              <a:ext uri="{FF2B5EF4-FFF2-40B4-BE49-F238E27FC236}">
                <a16:creationId xmlns:a16="http://schemas.microsoft.com/office/drawing/2014/main" id="{71B7AB68-6654-AD5D-482E-07B268851C39}"/>
              </a:ext>
            </a:extLst>
          </p:cNvPr>
          <p:cNvSpPr>
            <a:spLocks noGrp="1"/>
          </p:cNvSpPr>
          <p:nvPr>
            <p:ph idx="1"/>
          </p:nvPr>
        </p:nvSpPr>
        <p:spPr/>
        <p:txBody>
          <a:bodyPr/>
          <a:lstStyle/>
          <a:p>
            <a:endParaRPr lang="nb-NO" dirty="0"/>
          </a:p>
        </p:txBody>
      </p:sp>
      <p:pic>
        <p:nvPicPr>
          <p:cNvPr id="7" name="Picture 6">
            <a:extLst>
              <a:ext uri="{FF2B5EF4-FFF2-40B4-BE49-F238E27FC236}">
                <a16:creationId xmlns:a16="http://schemas.microsoft.com/office/drawing/2014/main" id="{597C7131-1C35-1037-E396-6AD41B3BBEB5}"/>
              </a:ext>
            </a:extLst>
          </p:cNvPr>
          <p:cNvPicPr>
            <a:picLocks noChangeAspect="1"/>
          </p:cNvPicPr>
          <p:nvPr/>
        </p:nvPicPr>
        <p:blipFill rotWithShape="1">
          <a:blip r:embed="rId3"/>
          <a:srcRect l="20323" t="31111" r="16130" b="35341"/>
          <a:stretch/>
        </p:blipFill>
        <p:spPr>
          <a:xfrm>
            <a:off x="155574" y="112975"/>
            <a:ext cx="11804159" cy="3505295"/>
          </a:xfrm>
          <a:prstGeom prst="rect">
            <a:avLst/>
          </a:prstGeom>
        </p:spPr>
      </p:pic>
      <p:pic>
        <p:nvPicPr>
          <p:cNvPr id="6146" name="Picture 2" descr="Dead code has a few possible definitions. Source: Boomsma 2012, fig. 2.1.">
            <a:extLst>
              <a:ext uri="{FF2B5EF4-FFF2-40B4-BE49-F238E27FC236}">
                <a16:creationId xmlns:a16="http://schemas.microsoft.com/office/drawing/2014/main" id="{D7290BF3-0E97-B122-66C8-7565EE8E17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51870" y="3389058"/>
            <a:ext cx="5760616" cy="34689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55944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3A3D-5419-DD93-9FF9-122DCED128F3}"/>
              </a:ext>
            </a:extLst>
          </p:cNvPr>
          <p:cNvSpPr>
            <a:spLocks noGrp="1"/>
          </p:cNvSpPr>
          <p:nvPr>
            <p:ph type="title"/>
          </p:nvPr>
        </p:nvSpPr>
        <p:spPr/>
        <p:txBody>
          <a:bodyPr/>
          <a:lstStyle/>
          <a:p>
            <a:endParaRPr lang="nb-NO"/>
          </a:p>
        </p:txBody>
      </p:sp>
      <p:sp>
        <p:nvSpPr>
          <p:cNvPr id="3" name="Content Placeholder 2">
            <a:extLst>
              <a:ext uri="{FF2B5EF4-FFF2-40B4-BE49-F238E27FC236}">
                <a16:creationId xmlns:a16="http://schemas.microsoft.com/office/drawing/2014/main" id="{71B7AB68-6654-AD5D-482E-07B268851C39}"/>
              </a:ext>
            </a:extLst>
          </p:cNvPr>
          <p:cNvSpPr>
            <a:spLocks noGrp="1"/>
          </p:cNvSpPr>
          <p:nvPr>
            <p:ph idx="1"/>
          </p:nvPr>
        </p:nvSpPr>
        <p:spPr/>
        <p:txBody>
          <a:bodyPr/>
          <a:lstStyle/>
          <a:p>
            <a:endParaRPr lang="nb-NO" dirty="0"/>
          </a:p>
        </p:txBody>
      </p:sp>
      <p:pic>
        <p:nvPicPr>
          <p:cNvPr id="5" name="Picture 4">
            <a:extLst>
              <a:ext uri="{FF2B5EF4-FFF2-40B4-BE49-F238E27FC236}">
                <a16:creationId xmlns:a16="http://schemas.microsoft.com/office/drawing/2014/main" id="{7106050D-2102-40A3-C9A9-3A1E6CC3B812}"/>
              </a:ext>
            </a:extLst>
          </p:cNvPr>
          <p:cNvPicPr>
            <a:picLocks noChangeAspect="1"/>
          </p:cNvPicPr>
          <p:nvPr/>
        </p:nvPicPr>
        <p:blipFill rotWithShape="1">
          <a:blip r:embed="rId3"/>
          <a:srcRect l="19677" t="32545" r="16935" b="29462"/>
          <a:stretch/>
        </p:blipFill>
        <p:spPr>
          <a:xfrm>
            <a:off x="629263" y="139138"/>
            <a:ext cx="11135801" cy="3754436"/>
          </a:xfrm>
          <a:prstGeom prst="rect">
            <a:avLst/>
          </a:prstGeom>
        </p:spPr>
      </p:pic>
      <p:pic>
        <p:nvPicPr>
          <p:cNvPr id="5122" name="Picture 2" descr="Coupling (computer programming) - Wikipedia">
            <a:extLst>
              <a:ext uri="{FF2B5EF4-FFF2-40B4-BE49-F238E27FC236}">
                <a16:creationId xmlns:a16="http://schemas.microsoft.com/office/drawing/2014/main" id="{494C70F7-9DD5-70BA-76CC-34904D697B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89763" y="3085069"/>
            <a:ext cx="4172974" cy="36337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85912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598DF-D8AF-480A-A68D-5ADC41430E0F}"/>
              </a:ext>
            </a:extLst>
          </p:cNvPr>
          <p:cNvSpPr>
            <a:spLocks noGrp="1"/>
          </p:cNvSpPr>
          <p:nvPr>
            <p:ph type="title"/>
          </p:nvPr>
        </p:nvSpPr>
        <p:spPr/>
        <p:txBody>
          <a:bodyPr/>
          <a:lstStyle/>
          <a:p>
            <a:r>
              <a:rPr lang="vi-VN"/>
              <a:t>Mục tiêu và đặc tính của code refactoring</a:t>
            </a:r>
          </a:p>
        </p:txBody>
      </p:sp>
      <p:sp>
        <p:nvSpPr>
          <p:cNvPr id="3" name="Content Placeholder 2">
            <a:extLst>
              <a:ext uri="{FF2B5EF4-FFF2-40B4-BE49-F238E27FC236}">
                <a16:creationId xmlns:a16="http://schemas.microsoft.com/office/drawing/2014/main" id="{F826B7F2-3321-4F18-BAA4-DAB0A43E27B2}"/>
              </a:ext>
            </a:extLst>
          </p:cNvPr>
          <p:cNvSpPr>
            <a:spLocks noGrp="1"/>
          </p:cNvSpPr>
          <p:nvPr>
            <p:ph idx="1"/>
          </p:nvPr>
        </p:nvSpPr>
        <p:spPr>
          <a:xfrm>
            <a:off x="1024127" y="1556792"/>
            <a:ext cx="10151873" cy="4752528"/>
          </a:xfrm>
        </p:spPr>
        <p:txBody>
          <a:bodyPr>
            <a:normAutofit lnSpcReduction="10000"/>
          </a:bodyPr>
          <a:lstStyle/>
          <a:p>
            <a:r>
              <a:rPr lang="vi-VN" dirty="0"/>
              <a:t>Thay đổi cấu trúc bên trong mà không thay đổi hành vi bên ngoài</a:t>
            </a:r>
          </a:p>
          <a:p>
            <a:r>
              <a:rPr lang="vi-VN" altLang="en-US" dirty="0"/>
              <a:t>Loại bỏ code smell nhằm cải thiện</a:t>
            </a:r>
          </a:p>
          <a:p>
            <a:pPr lvl="1"/>
            <a:r>
              <a:rPr lang="vi-VN" dirty="0" err="1"/>
              <a:t>Khả năng đọc hiểu</a:t>
            </a:r>
            <a:endParaRPr lang="nb-NO" dirty="0"/>
          </a:p>
          <a:p>
            <a:pPr lvl="1"/>
            <a:r>
              <a:rPr lang="vi-VN" dirty="0" err="1"/>
              <a:t>Tính nhất quán</a:t>
            </a:r>
            <a:endParaRPr lang="nb-NO" dirty="0"/>
          </a:p>
          <a:p>
            <a:pPr lvl="1"/>
            <a:r>
              <a:rPr lang="vi-VN" dirty="0" err="1"/>
              <a:t>Khả năng bảo trì (Maintainability)</a:t>
            </a:r>
            <a:endParaRPr lang="en-US" dirty="0"/>
          </a:p>
          <a:p>
            <a:r>
              <a:rPr lang="vi-VN" dirty="0"/>
              <a:t>Đặc tính</a:t>
            </a:r>
          </a:p>
          <a:p>
            <a:pPr lvl="1"/>
            <a:r>
              <a:rPr lang="vi-VN" altLang="en-US" dirty="0"/>
              <a:t>Bảo toàn tính đúng đắn</a:t>
            </a:r>
          </a:p>
          <a:p>
            <a:pPr lvl="1"/>
            <a:r>
              <a:rPr lang="vi-VN" altLang="en-US" dirty="0"/>
              <a:t>Từng bước nhỏ một</a:t>
            </a:r>
          </a:p>
          <a:p>
            <a:pPr lvl="1"/>
            <a:r>
              <a:rPr lang="vi-VN" altLang="en-US" dirty="0"/>
              <a:t>Kiểm thử thường xuyên</a:t>
            </a:r>
          </a:p>
        </p:txBody>
      </p:sp>
      <p:sp>
        <p:nvSpPr>
          <p:cNvPr id="4" name="Date Placeholder 3">
            <a:extLst>
              <a:ext uri="{FF2B5EF4-FFF2-40B4-BE49-F238E27FC236}">
                <a16:creationId xmlns:a16="http://schemas.microsoft.com/office/drawing/2014/main" id="{D2B2E889-B958-9834-EAC9-E817182DCC92}"/>
              </a:ext>
            </a:extLst>
          </p:cNvPr>
          <p:cNvSpPr>
            <a:spLocks noGrp="1"/>
          </p:cNvSpPr>
          <p:nvPr>
            <p:ph type="dt" sz="half" idx="10"/>
          </p:nvPr>
        </p:nvSpPr>
        <p:spPr/>
        <p:txBody>
          <a:bodyPr/>
          <a:lstStyle/>
          <a:p>
            <a:fld id="{4F6CCC63-496F-4037-9B2C-EA655F006A4B}" type="datetime1">
              <a:rPr lang="nb-NO" smtClean="0"/>
              <a:t>05.10.2026</a:t>
            </a:fld>
            <a:endParaRPr lang="en-US" dirty="0"/>
          </a:p>
        </p:txBody>
      </p:sp>
      <p:sp>
        <p:nvSpPr>
          <p:cNvPr id="5" name="Footer Placeholder 4">
            <a:extLst>
              <a:ext uri="{FF2B5EF4-FFF2-40B4-BE49-F238E27FC236}">
                <a16:creationId xmlns:a16="http://schemas.microsoft.com/office/drawing/2014/main" id="{CAA2C67D-84CC-A416-16D6-1ECE0C96DD60}"/>
              </a:ext>
            </a:extLst>
          </p:cNvPr>
          <p:cNvSpPr>
            <a:spLocks noGrp="1"/>
          </p:cNvSpPr>
          <p:nvPr>
            <p:ph type="ftr" sz="quarter" idx="11"/>
          </p:nvPr>
        </p:nvSpPr>
        <p:spPr/>
        <p:txBody>
          <a:bodyPr/>
          <a:lstStyle/>
          <a:p>
            <a:r>
              <a:rPr lang="vi-VN"/>
              <a:t>Chương 7.3. Tìm hiểu thêm về triển khai</a:t>
            </a:r>
          </a:p>
        </p:txBody>
      </p:sp>
      <p:sp>
        <p:nvSpPr>
          <p:cNvPr id="6" name="Slide Number Placeholder 5">
            <a:extLst>
              <a:ext uri="{FF2B5EF4-FFF2-40B4-BE49-F238E27FC236}">
                <a16:creationId xmlns:a16="http://schemas.microsoft.com/office/drawing/2014/main" id="{A9B70193-E6F8-9BEA-8A4D-385D8E65AE46}"/>
              </a:ext>
            </a:extLst>
          </p:cNvPr>
          <p:cNvSpPr>
            <a:spLocks noGrp="1"/>
          </p:cNvSpPr>
          <p:nvPr>
            <p:ph type="sldNum" sz="quarter" idx="12"/>
          </p:nvPr>
        </p:nvSpPr>
        <p:spPr/>
        <p:txBody>
          <a:bodyPr/>
          <a:lstStyle/>
          <a:p>
            <a:fld id="{EC33B370-F672-B743-B3AF-248A63C17270}" type="slidenum">
              <a:rPr lang="en-US" smtClean="0"/>
              <a:pPr/>
              <a:t>24</a:t>
            </a:fld>
            <a:endParaRPr lang="en-US"/>
          </a:p>
        </p:txBody>
      </p:sp>
    </p:spTree>
    <p:extLst>
      <p:ext uri="{BB962C8B-B14F-4D97-AF65-F5344CB8AC3E}">
        <p14:creationId xmlns:p14="http://schemas.microsoft.com/office/powerpoint/2010/main" val="8713019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BAEEC-7686-4CB0-AB5B-522AF3B0DBD2}"/>
              </a:ext>
            </a:extLst>
          </p:cNvPr>
          <p:cNvSpPr>
            <a:spLocks noGrp="1"/>
          </p:cNvSpPr>
          <p:nvPr>
            <p:ph type="title"/>
          </p:nvPr>
        </p:nvSpPr>
        <p:spPr/>
        <p:txBody>
          <a:bodyPr/>
          <a:lstStyle/>
          <a:p>
            <a:r>
              <a:rPr lang="vi-VN" altLang="en-US"/>
              <a:t>Loại bỏ code trùng lặp – Pull up method (Don’t repeat yourself (DRY))</a:t>
            </a:r>
            <a:endParaRPr lang="en-US"/>
          </a:p>
        </p:txBody>
      </p:sp>
      <p:sp>
        <p:nvSpPr>
          <p:cNvPr id="3" name="Content Placeholder 2">
            <a:extLst>
              <a:ext uri="{FF2B5EF4-FFF2-40B4-BE49-F238E27FC236}">
                <a16:creationId xmlns:a16="http://schemas.microsoft.com/office/drawing/2014/main" id="{7CCBF108-7105-4CEB-B22C-B3126277BF5B}"/>
              </a:ext>
            </a:extLst>
          </p:cNvPr>
          <p:cNvSpPr>
            <a:spLocks noGrp="1"/>
          </p:cNvSpPr>
          <p:nvPr>
            <p:ph idx="1"/>
          </p:nvPr>
        </p:nvSpPr>
        <p:spPr>
          <a:xfrm>
            <a:off x="1981200" y="1556792"/>
            <a:ext cx="8488108" cy="720080"/>
          </a:xfrm>
        </p:spPr>
        <p:txBody>
          <a:bodyPr>
            <a:normAutofit fontScale="85000" lnSpcReduction="10000"/>
          </a:bodyPr>
          <a:lstStyle/>
          <a:p>
            <a:r>
              <a:rPr lang="vi-VN"/>
              <a:t>Bạn có các phương thức cho kết quả giống hệt nhau ở các lớp con.</a:t>
            </a:r>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p:txBody>
      </p:sp>
      <p:pic>
        <p:nvPicPr>
          <p:cNvPr id="4" name="Picture 3">
            <a:extLst>
              <a:ext uri="{FF2B5EF4-FFF2-40B4-BE49-F238E27FC236}">
                <a16:creationId xmlns:a16="http://schemas.microsoft.com/office/drawing/2014/main" id="{BF64F81C-474E-4693-A5B2-FD702283C45D}"/>
              </a:ext>
            </a:extLst>
          </p:cNvPr>
          <p:cNvPicPr>
            <a:picLocks noChangeAspect="1"/>
          </p:cNvPicPr>
          <p:nvPr/>
        </p:nvPicPr>
        <p:blipFill>
          <a:blip r:embed="rId2"/>
          <a:stretch>
            <a:fillRect/>
          </a:stretch>
        </p:blipFill>
        <p:spPr>
          <a:xfrm>
            <a:off x="2397178" y="2775465"/>
            <a:ext cx="7397644" cy="2527838"/>
          </a:xfrm>
          <a:prstGeom prst="rect">
            <a:avLst/>
          </a:prstGeom>
        </p:spPr>
      </p:pic>
      <p:sp>
        <p:nvSpPr>
          <p:cNvPr id="5" name="Date Placeholder 4">
            <a:extLst>
              <a:ext uri="{FF2B5EF4-FFF2-40B4-BE49-F238E27FC236}">
                <a16:creationId xmlns:a16="http://schemas.microsoft.com/office/drawing/2014/main" id="{76E6EF11-2133-5D5F-DD05-3336913E2CD8}"/>
              </a:ext>
            </a:extLst>
          </p:cNvPr>
          <p:cNvSpPr>
            <a:spLocks noGrp="1"/>
          </p:cNvSpPr>
          <p:nvPr>
            <p:ph type="dt" sz="half" idx="10"/>
          </p:nvPr>
        </p:nvSpPr>
        <p:spPr/>
        <p:txBody>
          <a:bodyPr/>
          <a:lstStyle/>
          <a:p>
            <a:fld id="{2FB24B99-19FA-49D1-AE78-E6D1524CE7AC}" type="datetime1">
              <a:rPr lang="nb-NO" smtClean="0"/>
              <a:t>05.10.2026</a:t>
            </a:fld>
            <a:endParaRPr lang="en-US" dirty="0"/>
          </a:p>
        </p:txBody>
      </p:sp>
      <p:sp>
        <p:nvSpPr>
          <p:cNvPr id="6" name="Footer Placeholder 5">
            <a:extLst>
              <a:ext uri="{FF2B5EF4-FFF2-40B4-BE49-F238E27FC236}">
                <a16:creationId xmlns:a16="http://schemas.microsoft.com/office/drawing/2014/main" id="{DF89A96E-7312-063C-34FF-9BD058278BF8}"/>
              </a:ext>
            </a:extLst>
          </p:cNvPr>
          <p:cNvSpPr>
            <a:spLocks noGrp="1"/>
          </p:cNvSpPr>
          <p:nvPr>
            <p:ph type="ftr" sz="quarter" idx="11"/>
          </p:nvPr>
        </p:nvSpPr>
        <p:spPr/>
        <p:txBody>
          <a:bodyPr/>
          <a:lstStyle/>
          <a:p>
            <a:r>
              <a:rPr lang="vi-VN"/>
              <a:t>Chương 7.3. Tìm hiểu thêm về triển khai</a:t>
            </a:r>
          </a:p>
        </p:txBody>
      </p:sp>
      <p:sp>
        <p:nvSpPr>
          <p:cNvPr id="7" name="Slide Number Placeholder 6">
            <a:extLst>
              <a:ext uri="{FF2B5EF4-FFF2-40B4-BE49-F238E27FC236}">
                <a16:creationId xmlns:a16="http://schemas.microsoft.com/office/drawing/2014/main" id="{E4F98099-F054-6C6C-8B75-E9663209B8A8}"/>
              </a:ext>
            </a:extLst>
          </p:cNvPr>
          <p:cNvSpPr>
            <a:spLocks noGrp="1"/>
          </p:cNvSpPr>
          <p:nvPr>
            <p:ph type="sldNum" sz="quarter" idx="12"/>
          </p:nvPr>
        </p:nvSpPr>
        <p:spPr/>
        <p:txBody>
          <a:bodyPr/>
          <a:lstStyle/>
          <a:p>
            <a:fld id="{EC33B370-F672-B743-B3AF-248A63C17270}" type="slidenum">
              <a:rPr lang="en-US" smtClean="0"/>
              <a:pPr/>
              <a:t>25</a:t>
            </a:fld>
            <a:endParaRPr lang="en-US"/>
          </a:p>
        </p:txBody>
      </p:sp>
    </p:spTree>
    <p:extLst>
      <p:ext uri="{BB962C8B-B14F-4D97-AF65-F5344CB8AC3E}">
        <p14:creationId xmlns:p14="http://schemas.microsoft.com/office/powerpoint/2010/main" val="23905362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D9D95-429D-460B-A3C0-449D9BDC4ED5}"/>
              </a:ext>
            </a:extLst>
          </p:cNvPr>
          <p:cNvSpPr>
            <a:spLocks noGrp="1"/>
          </p:cNvSpPr>
          <p:nvPr>
            <p:ph type="title"/>
          </p:nvPr>
        </p:nvSpPr>
        <p:spPr/>
        <p:txBody>
          <a:bodyPr/>
          <a:lstStyle/>
          <a:p>
            <a:r>
              <a:rPr lang="vi-VN"/>
              <a:t>Loại bỏ code trùng lặp - Substitute Algorithm </a:t>
            </a:r>
          </a:p>
        </p:txBody>
      </p:sp>
      <p:sp>
        <p:nvSpPr>
          <p:cNvPr id="3" name="Content Placeholder 2">
            <a:extLst>
              <a:ext uri="{FF2B5EF4-FFF2-40B4-BE49-F238E27FC236}">
                <a16:creationId xmlns:a16="http://schemas.microsoft.com/office/drawing/2014/main" id="{FB08945F-508F-4447-9083-34CEEA43812F}"/>
              </a:ext>
            </a:extLst>
          </p:cNvPr>
          <p:cNvSpPr>
            <a:spLocks noGrp="1"/>
          </p:cNvSpPr>
          <p:nvPr>
            <p:ph idx="1"/>
          </p:nvPr>
        </p:nvSpPr>
        <p:spPr>
          <a:xfrm>
            <a:off x="1981200" y="1600201"/>
            <a:ext cx="8229600" cy="460648"/>
          </a:xfrm>
        </p:spPr>
        <p:txBody>
          <a:bodyPr>
            <a:normAutofit fontScale="77500" lnSpcReduction="20000"/>
          </a:bodyPr>
          <a:lstStyle/>
          <a:p>
            <a:r>
              <a:rPr lang="vi-VN"/>
              <a:t>Bạn muốn thay một thuật toán bằng một thuật toán rõ ràng hơn.</a:t>
            </a:r>
          </a:p>
        </p:txBody>
      </p:sp>
      <p:sp>
        <p:nvSpPr>
          <p:cNvPr id="7" name="Rectangle 6">
            <a:extLst>
              <a:ext uri="{FF2B5EF4-FFF2-40B4-BE49-F238E27FC236}">
                <a16:creationId xmlns:a16="http://schemas.microsoft.com/office/drawing/2014/main" id="{DFE5CF92-EF84-4F70-A3D0-26CFAAE6DBA8}"/>
              </a:ext>
            </a:extLst>
          </p:cNvPr>
          <p:cNvSpPr/>
          <p:nvPr/>
        </p:nvSpPr>
        <p:spPr>
          <a:xfrm>
            <a:off x="1847529" y="2251606"/>
            <a:ext cx="4104457" cy="3970318"/>
          </a:xfrm>
          <a:prstGeom prst="rect">
            <a:avLst/>
          </a:prstGeom>
        </p:spPr>
        <p:txBody>
          <a:bodyPr wrap="square">
            <a:spAutoFit/>
          </a:bodyPr>
          <a:lstStyle/>
          <a:p>
            <a:r>
              <a:rPr lang="en-US"/>
              <a:t>String </a:t>
            </a:r>
            <a:r>
              <a:rPr lang="en-US" err="1"/>
              <a:t>foundPerson</a:t>
            </a:r>
            <a:r>
              <a:rPr lang="en-US"/>
              <a:t>(String[] people){        </a:t>
            </a:r>
          </a:p>
          <a:p>
            <a:r>
              <a:rPr lang="en-US"/>
              <a:t> </a:t>
            </a:r>
          </a:p>
          <a:p>
            <a:r>
              <a:rPr lang="en-US"/>
              <a:t>  for (int </a:t>
            </a:r>
            <a:r>
              <a:rPr lang="en-US" err="1"/>
              <a:t>i</a:t>
            </a:r>
            <a:r>
              <a:rPr lang="en-US"/>
              <a:t> = 0; </a:t>
            </a:r>
            <a:r>
              <a:rPr lang="en-US" err="1"/>
              <a:t>i</a:t>
            </a:r>
            <a:r>
              <a:rPr lang="en-US"/>
              <a:t> &lt; </a:t>
            </a:r>
            <a:r>
              <a:rPr lang="en-US" err="1"/>
              <a:t>people.length</a:t>
            </a:r>
            <a:r>
              <a:rPr lang="en-US"/>
              <a:t>; </a:t>
            </a:r>
            <a:r>
              <a:rPr lang="en-US" err="1"/>
              <a:t>i</a:t>
            </a:r>
            <a:r>
              <a:rPr lang="en-US"/>
              <a:t>++) {              </a:t>
            </a:r>
          </a:p>
          <a:p>
            <a:r>
              <a:rPr lang="en-US">
                <a:solidFill>
                  <a:srgbClr val="FF0000"/>
                </a:solidFill>
              </a:rPr>
              <a:t>      if (people[</a:t>
            </a:r>
            <a:r>
              <a:rPr lang="en-US" err="1">
                <a:solidFill>
                  <a:srgbClr val="FF0000"/>
                </a:solidFill>
              </a:rPr>
              <a:t>i</a:t>
            </a:r>
            <a:r>
              <a:rPr lang="en-US">
                <a:solidFill>
                  <a:srgbClr val="FF0000"/>
                </a:solidFill>
              </a:rPr>
              <a:t>].equals ("Don"))</a:t>
            </a:r>
          </a:p>
          <a:p>
            <a:r>
              <a:rPr lang="en-US">
                <a:solidFill>
                  <a:srgbClr val="FF0000"/>
                </a:solidFill>
              </a:rPr>
              <a:t>      { return "Don"; }</a:t>
            </a:r>
          </a:p>
          <a:p>
            <a:endParaRPr lang="en-US">
              <a:solidFill>
                <a:srgbClr val="FF0000"/>
              </a:solidFill>
            </a:endParaRPr>
          </a:p>
          <a:p>
            <a:r>
              <a:rPr lang="en-US">
                <a:solidFill>
                  <a:srgbClr val="FF0000"/>
                </a:solidFill>
              </a:rPr>
              <a:t>       if (people[</a:t>
            </a:r>
            <a:r>
              <a:rPr lang="en-US" err="1">
                <a:solidFill>
                  <a:srgbClr val="FF0000"/>
                </a:solidFill>
              </a:rPr>
              <a:t>i</a:t>
            </a:r>
            <a:r>
              <a:rPr lang="en-US">
                <a:solidFill>
                  <a:srgbClr val="FF0000"/>
                </a:solidFill>
              </a:rPr>
              <a:t>].equals ("John"))</a:t>
            </a:r>
          </a:p>
          <a:p>
            <a:r>
              <a:rPr lang="en-US">
                <a:solidFill>
                  <a:srgbClr val="FF0000"/>
                </a:solidFill>
              </a:rPr>
              <a:t>       { return "John"; }            </a:t>
            </a:r>
          </a:p>
          <a:p>
            <a:endParaRPr lang="en-US">
              <a:solidFill>
                <a:srgbClr val="FF0000"/>
              </a:solidFill>
            </a:endParaRPr>
          </a:p>
          <a:p>
            <a:r>
              <a:rPr lang="en-US">
                <a:solidFill>
                  <a:srgbClr val="FF0000"/>
                </a:solidFill>
              </a:rPr>
              <a:t>       if (people[</a:t>
            </a:r>
            <a:r>
              <a:rPr lang="en-US" err="1">
                <a:solidFill>
                  <a:srgbClr val="FF0000"/>
                </a:solidFill>
              </a:rPr>
              <a:t>i</a:t>
            </a:r>
            <a:r>
              <a:rPr lang="en-US">
                <a:solidFill>
                  <a:srgbClr val="FF0000"/>
                </a:solidFill>
              </a:rPr>
              <a:t>].equals ("Kent"))</a:t>
            </a:r>
          </a:p>
          <a:p>
            <a:r>
              <a:rPr lang="en-US">
                <a:solidFill>
                  <a:srgbClr val="FF0000"/>
                </a:solidFill>
              </a:rPr>
              <a:t>       { return "Kent";  }      </a:t>
            </a:r>
          </a:p>
          <a:p>
            <a:r>
              <a:rPr lang="en-US"/>
              <a:t>    }        </a:t>
            </a:r>
          </a:p>
          <a:p>
            <a:r>
              <a:rPr lang="en-US"/>
              <a:t>    return "";    </a:t>
            </a:r>
          </a:p>
          <a:p>
            <a:r>
              <a:rPr lang="en-US"/>
              <a:t>}</a:t>
            </a:r>
          </a:p>
        </p:txBody>
      </p:sp>
      <p:grpSp>
        <p:nvGrpSpPr>
          <p:cNvPr id="4" name="Group 3">
            <a:extLst>
              <a:ext uri="{FF2B5EF4-FFF2-40B4-BE49-F238E27FC236}">
                <a16:creationId xmlns:a16="http://schemas.microsoft.com/office/drawing/2014/main" id="{571DA21F-C38E-4A7A-BAE4-25669E2AFA4F}"/>
              </a:ext>
            </a:extLst>
          </p:cNvPr>
          <p:cNvGrpSpPr/>
          <p:nvPr/>
        </p:nvGrpSpPr>
        <p:grpSpPr>
          <a:xfrm>
            <a:off x="5475823" y="2255772"/>
            <a:ext cx="4956881" cy="3139321"/>
            <a:chOff x="3951822" y="2255771"/>
            <a:chExt cx="4956881" cy="3139321"/>
          </a:xfrm>
        </p:grpSpPr>
        <p:sp>
          <p:nvSpPr>
            <p:cNvPr id="8" name="Arrow: Right 7">
              <a:extLst>
                <a:ext uri="{FF2B5EF4-FFF2-40B4-BE49-F238E27FC236}">
                  <a16:creationId xmlns:a16="http://schemas.microsoft.com/office/drawing/2014/main" id="{0B6359B8-9CEB-45EF-8555-344DEA8DEF90}"/>
                </a:ext>
              </a:extLst>
            </p:cNvPr>
            <p:cNvSpPr/>
            <p:nvPr/>
          </p:nvSpPr>
          <p:spPr>
            <a:xfrm>
              <a:off x="3951822" y="3732709"/>
              <a:ext cx="648072" cy="50405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5F946A4-F505-4399-9FB1-D5A80EB7B6DE}"/>
                </a:ext>
              </a:extLst>
            </p:cNvPr>
            <p:cNvSpPr/>
            <p:nvPr/>
          </p:nvSpPr>
          <p:spPr>
            <a:xfrm>
              <a:off x="4716017" y="2255771"/>
              <a:ext cx="4192686" cy="3139321"/>
            </a:xfrm>
            <a:prstGeom prst="rect">
              <a:avLst/>
            </a:prstGeom>
          </p:spPr>
          <p:txBody>
            <a:bodyPr wrap="square">
              <a:spAutoFit/>
            </a:bodyPr>
            <a:lstStyle/>
            <a:p>
              <a:r>
                <a:rPr lang="en-US"/>
                <a:t>String </a:t>
              </a:r>
              <a:r>
                <a:rPr lang="en-US" err="1"/>
                <a:t>foundPerson</a:t>
              </a:r>
              <a:r>
                <a:rPr lang="en-US"/>
                <a:t>(String[] people){   </a:t>
              </a:r>
            </a:p>
            <a:p>
              <a:r>
                <a:rPr lang="en-US"/>
                <a:t>     </a:t>
              </a:r>
              <a:r>
                <a:rPr lang="en-US">
                  <a:solidFill>
                    <a:srgbClr val="FF0000"/>
                  </a:solidFill>
                </a:rPr>
                <a:t>List candidates = </a:t>
              </a:r>
              <a:r>
                <a:rPr lang="en-US" err="1">
                  <a:solidFill>
                    <a:srgbClr val="FF0000"/>
                  </a:solidFill>
                </a:rPr>
                <a:t>Arrays.asList</a:t>
              </a:r>
              <a:r>
                <a:rPr lang="en-US">
                  <a:solidFill>
                    <a:srgbClr val="FF0000"/>
                  </a:solidFill>
                </a:rPr>
                <a:t>(new String[] {"Don", "John", "Kent"});      </a:t>
              </a:r>
            </a:p>
            <a:p>
              <a:endParaRPr lang="en-US"/>
            </a:p>
            <a:p>
              <a:r>
                <a:rPr lang="en-US"/>
                <a:t>  for (int </a:t>
              </a:r>
              <a:r>
                <a:rPr lang="en-US" err="1"/>
                <a:t>i</a:t>
              </a:r>
              <a:r>
                <a:rPr lang="en-US"/>
                <a:t>=0; </a:t>
              </a:r>
              <a:r>
                <a:rPr lang="en-US" err="1"/>
                <a:t>i</a:t>
              </a:r>
              <a:r>
                <a:rPr lang="en-US"/>
                <a:t>&lt;</a:t>
              </a:r>
              <a:r>
                <a:rPr lang="en-US" err="1"/>
                <a:t>people.length</a:t>
              </a:r>
              <a:r>
                <a:rPr lang="en-US"/>
                <a:t>; </a:t>
              </a:r>
              <a:r>
                <a:rPr lang="en-US" err="1"/>
                <a:t>i</a:t>
              </a:r>
              <a:r>
                <a:rPr lang="en-US"/>
                <a:t>++)             </a:t>
              </a:r>
            </a:p>
            <a:p>
              <a:r>
                <a:rPr lang="en-US"/>
                <a:t>       if (</a:t>
              </a:r>
              <a:r>
                <a:rPr lang="en-US" err="1"/>
                <a:t>candidates.contains</a:t>
              </a:r>
              <a:r>
                <a:rPr lang="en-US"/>
                <a:t>(people[</a:t>
              </a:r>
              <a:r>
                <a:rPr lang="en-US" err="1"/>
                <a:t>i</a:t>
              </a:r>
              <a:r>
                <a:rPr lang="en-US"/>
                <a:t>]))               </a:t>
              </a:r>
            </a:p>
            <a:p>
              <a:r>
                <a:rPr lang="en-US"/>
                <a:t>               return people[</a:t>
              </a:r>
              <a:r>
                <a:rPr lang="en-US" err="1"/>
                <a:t>i</a:t>
              </a:r>
              <a:r>
                <a:rPr lang="en-US"/>
                <a:t>];       </a:t>
              </a:r>
            </a:p>
            <a:p>
              <a:endParaRPr lang="en-US"/>
            </a:p>
            <a:p>
              <a:r>
                <a:rPr lang="en-US"/>
                <a:t>    return "";    </a:t>
              </a:r>
            </a:p>
            <a:p>
              <a:endParaRPr lang="en-US"/>
            </a:p>
            <a:p>
              <a:r>
                <a:rPr lang="en-US"/>
                <a:t>}</a:t>
              </a:r>
            </a:p>
          </p:txBody>
        </p:sp>
      </p:grpSp>
      <p:sp>
        <p:nvSpPr>
          <p:cNvPr id="5" name="Date Placeholder 4">
            <a:extLst>
              <a:ext uri="{FF2B5EF4-FFF2-40B4-BE49-F238E27FC236}">
                <a16:creationId xmlns:a16="http://schemas.microsoft.com/office/drawing/2014/main" id="{2FB19A35-D590-ED1A-AC3B-141D42E320B2}"/>
              </a:ext>
            </a:extLst>
          </p:cNvPr>
          <p:cNvSpPr>
            <a:spLocks noGrp="1"/>
          </p:cNvSpPr>
          <p:nvPr>
            <p:ph type="dt" sz="half" idx="10"/>
          </p:nvPr>
        </p:nvSpPr>
        <p:spPr/>
        <p:txBody>
          <a:bodyPr/>
          <a:lstStyle/>
          <a:p>
            <a:fld id="{164FCC62-F05B-4436-B4B8-CB7497EB7613}" type="datetime1">
              <a:rPr lang="nb-NO" smtClean="0"/>
              <a:t>05.10.2026</a:t>
            </a:fld>
            <a:endParaRPr lang="en-US" dirty="0"/>
          </a:p>
        </p:txBody>
      </p:sp>
      <p:sp>
        <p:nvSpPr>
          <p:cNvPr id="6" name="Footer Placeholder 5">
            <a:extLst>
              <a:ext uri="{FF2B5EF4-FFF2-40B4-BE49-F238E27FC236}">
                <a16:creationId xmlns:a16="http://schemas.microsoft.com/office/drawing/2014/main" id="{AC6DCED3-3E4A-51B5-D528-5FE322A807A4}"/>
              </a:ext>
            </a:extLst>
          </p:cNvPr>
          <p:cNvSpPr>
            <a:spLocks noGrp="1"/>
          </p:cNvSpPr>
          <p:nvPr>
            <p:ph type="ftr" sz="quarter" idx="11"/>
          </p:nvPr>
        </p:nvSpPr>
        <p:spPr/>
        <p:txBody>
          <a:bodyPr/>
          <a:lstStyle/>
          <a:p>
            <a:r>
              <a:rPr lang="vi-VN"/>
              <a:t>Chương 7.3. Tìm hiểu thêm về triển khai</a:t>
            </a:r>
          </a:p>
        </p:txBody>
      </p:sp>
      <p:sp>
        <p:nvSpPr>
          <p:cNvPr id="10" name="Slide Number Placeholder 9">
            <a:extLst>
              <a:ext uri="{FF2B5EF4-FFF2-40B4-BE49-F238E27FC236}">
                <a16:creationId xmlns:a16="http://schemas.microsoft.com/office/drawing/2014/main" id="{815E8325-3CA2-2A1D-7324-57867AA6EE6F}"/>
              </a:ext>
            </a:extLst>
          </p:cNvPr>
          <p:cNvSpPr>
            <a:spLocks noGrp="1"/>
          </p:cNvSpPr>
          <p:nvPr>
            <p:ph type="sldNum" sz="quarter" idx="12"/>
          </p:nvPr>
        </p:nvSpPr>
        <p:spPr/>
        <p:txBody>
          <a:bodyPr/>
          <a:lstStyle/>
          <a:p>
            <a:fld id="{EC33B370-F672-B743-B3AF-248A63C17270}" type="slidenum">
              <a:rPr lang="en-US" smtClean="0"/>
              <a:pPr/>
              <a:t>26</a:t>
            </a:fld>
            <a:endParaRPr lang="en-US"/>
          </a:p>
        </p:txBody>
      </p:sp>
    </p:spTree>
    <p:extLst>
      <p:ext uri="{BB962C8B-B14F-4D97-AF65-F5344CB8AC3E}">
        <p14:creationId xmlns:p14="http://schemas.microsoft.com/office/powerpoint/2010/main" val="26354331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455D9-A32E-4F06-BEC3-C9C028EE7B30}"/>
              </a:ext>
            </a:extLst>
          </p:cNvPr>
          <p:cNvSpPr>
            <a:spLocks noGrp="1"/>
          </p:cNvSpPr>
          <p:nvPr>
            <p:ph type="title"/>
          </p:nvPr>
        </p:nvSpPr>
        <p:spPr/>
        <p:txBody>
          <a:bodyPr/>
          <a:lstStyle/>
          <a:p>
            <a:r>
              <a:rPr lang="vi-VN" altLang="en-US"/>
              <a:t>Giảm kích thước – rút gọn phương thức/lớp</a:t>
            </a:r>
            <a:endParaRPr lang="en-US"/>
          </a:p>
        </p:txBody>
      </p:sp>
      <p:sp>
        <p:nvSpPr>
          <p:cNvPr id="3" name="Content Placeholder 2">
            <a:extLst>
              <a:ext uri="{FF2B5EF4-FFF2-40B4-BE49-F238E27FC236}">
                <a16:creationId xmlns:a16="http://schemas.microsoft.com/office/drawing/2014/main" id="{88EB7CFA-99CB-44E9-9626-3653425F38FC}"/>
              </a:ext>
            </a:extLst>
          </p:cNvPr>
          <p:cNvSpPr>
            <a:spLocks noGrp="1"/>
          </p:cNvSpPr>
          <p:nvPr>
            <p:ph idx="1"/>
          </p:nvPr>
        </p:nvSpPr>
        <p:spPr>
          <a:xfrm>
            <a:off x="1981200" y="1772816"/>
            <a:ext cx="8229600" cy="3019474"/>
          </a:xfrm>
        </p:spPr>
        <p:txBody>
          <a:bodyPr/>
          <a:lstStyle/>
          <a:p>
            <a:pPr>
              <a:lnSpc>
                <a:spcPct val="90000"/>
              </a:lnSpc>
              <a:spcBef>
                <a:spcPct val="0"/>
              </a:spcBef>
              <a:buClr>
                <a:schemeClr val="accent2"/>
              </a:buClr>
            </a:pPr>
            <a:r>
              <a:rPr lang="vi-VN" altLang="en-US" b="1"/>
              <a:t>Long Method (Phương thức dài)</a:t>
            </a:r>
          </a:p>
          <a:p>
            <a:pPr lvl="1">
              <a:lnSpc>
                <a:spcPct val="90000"/>
              </a:lnSpc>
              <a:buClr>
                <a:schemeClr val="accent2"/>
              </a:buClr>
            </a:pPr>
            <a:r>
              <a:rPr lang="vi-VN" altLang="en-US" sz="2400"/>
              <a:t>Vd: Extract method</a:t>
            </a:r>
          </a:p>
          <a:p>
            <a:pPr>
              <a:lnSpc>
                <a:spcPct val="90000"/>
              </a:lnSpc>
              <a:spcBef>
                <a:spcPct val="0"/>
              </a:spcBef>
              <a:buClr>
                <a:schemeClr val="accent2"/>
              </a:buClr>
            </a:pPr>
            <a:endParaRPr lang="en-US" altLang="en-US" b="1"/>
          </a:p>
          <a:p>
            <a:pPr>
              <a:lnSpc>
                <a:spcPct val="90000"/>
              </a:lnSpc>
              <a:spcBef>
                <a:spcPct val="0"/>
              </a:spcBef>
              <a:buClr>
                <a:schemeClr val="accent2"/>
              </a:buClr>
            </a:pPr>
            <a:r>
              <a:rPr lang="vi-VN" altLang="en-US" b="1"/>
              <a:t>Large Class (Lớp lớn)</a:t>
            </a:r>
          </a:p>
          <a:p>
            <a:pPr lvl="1">
              <a:lnSpc>
                <a:spcPct val="90000"/>
              </a:lnSpc>
              <a:buClr>
                <a:schemeClr val="accent2"/>
              </a:buClr>
            </a:pPr>
            <a:r>
              <a:rPr lang="vi-VN" altLang="en-US" sz="2400"/>
              <a:t>Vd: Extract class, subclass, interface</a:t>
            </a:r>
          </a:p>
          <a:p>
            <a:pPr marL="0" indent="0">
              <a:spcBef>
                <a:spcPct val="0"/>
              </a:spcBef>
              <a:buClr>
                <a:schemeClr val="accent2"/>
              </a:buClr>
              <a:buNone/>
            </a:pPr>
            <a:endParaRPr lang="en-US" altLang="en-US" b="1"/>
          </a:p>
          <a:p>
            <a:pPr>
              <a:lnSpc>
                <a:spcPct val="90000"/>
              </a:lnSpc>
              <a:spcBef>
                <a:spcPct val="0"/>
              </a:spcBef>
              <a:buClr>
                <a:schemeClr val="accent2"/>
              </a:buClr>
            </a:pPr>
            <a:endParaRPr lang="en-US" altLang="en-US" b="1"/>
          </a:p>
          <a:p>
            <a:pPr marL="0" indent="0">
              <a:buNone/>
            </a:pPr>
            <a:endParaRPr lang="en-US"/>
          </a:p>
        </p:txBody>
      </p:sp>
      <p:sp>
        <p:nvSpPr>
          <p:cNvPr id="4" name="Date Placeholder 3">
            <a:extLst>
              <a:ext uri="{FF2B5EF4-FFF2-40B4-BE49-F238E27FC236}">
                <a16:creationId xmlns:a16="http://schemas.microsoft.com/office/drawing/2014/main" id="{E2D881CA-6026-AE10-8D0A-977DBDFFB9AE}"/>
              </a:ext>
            </a:extLst>
          </p:cNvPr>
          <p:cNvSpPr>
            <a:spLocks noGrp="1"/>
          </p:cNvSpPr>
          <p:nvPr>
            <p:ph type="dt" sz="half" idx="10"/>
          </p:nvPr>
        </p:nvSpPr>
        <p:spPr/>
        <p:txBody>
          <a:bodyPr/>
          <a:lstStyle/>
          <a:p>
            <a:fld id="{9E5C7E3B-FA97-4B86-A015-A24EA0C88E49}" type="datetime1">
              <a:rPr lang="nb-NO" smtClean="0"/>
              <a:t>05.10.2026</a:t>
            </a:fld>
            <a:endParaRPr lang="en-US" dirty="0"/>
          </a:p>
        </p:txBody>
      </p:sp>
      <p:sp>
        <p:nvSpPr>
          <p:cNvPr id="5" name="Footer Placeholder 4">
            <a:extLst>
              <a:ext uri="{FF2B5EF4-FFF2-40B4-BE49-F238E27FC236}">
                <a16:creationId xmlns:a16="http://schemas.microsoft.com/office/drawing/2014/main" id="{6478EB2C-518C-31EC-EC8D-5BA4CA31A103}"/>
              </a:ext>
            </a:extLst>
          </p:cNvPr>
          <p:cNvSpPr>
            <a:spLocks noGrp="1"/>
          </p:cNvSpPr>
          <p:nvPr>
            <p:ph type="ftr" sz="quarter" idx="11"/>
          </p:nvPr>
        </p:nvSpPr>
        <p:spPr/>
        <p:txBody>
          <a:bodyPr/>
          <a:lstStyle/>
          <a:p>
            <a:r>
              <a:rPr lang="vi-VN"/>
              <a:t>Chương 7.3. Tìm hiểu thêm về triển khai</a:t>
            </a:r>
          </a:p>
        </p:txBody>
      </p:sp>
      <p:sp>
        <p:nvSpPr>
          <p:cNvPr id="6" name="Slide Number Placeholder 5">
            <a:extLst>
              <a:ext uri="{FF2B5EF4-FFF2-40B4-BE49-F238E27FC236}">
                <a16:creationId xmlns:a16="http://schemas.microsoft.com/office/drawing/2014/main" id="{B1503D3B-DEC4-05A0-21C8-EB274E2CE6FE}"/>
              </a:ext>
            </a:extLst>
          </p:cNvPr>
          <p:cNvSpPr>
            <a:spLocks noGrp="1"/>
          </p:cNvSpPr>
          <p:nvPr>
            <p:ph type="sldNum" sz="quarter" idx="12"/>
          </p:nvPr>
        </p:nvSpPr>
        <p:spPr/>
        <p:txBody>
          <a:bodyPr/>
          <a:lstStyle/>
          <a:p>
            <a:fld id="{EC33B370-F672-B743-B3AF-248A63C17270}" type="slidenum">
              <a:rPr lang="en-US" smtClean="0"/>
              <a:pPr/>
              <a:t>27</a:t>
            </a:fld>
            <a:endParaRPr lang="en-US"/>
          </a:p>
        </p:txBody>
      </p:sp>
    </p:spTree>
    <p:extLst>
      <p:ext uri="{BB962C8B-B14F-4D97-AF65-F5344CB8AC3E}">
        <p14:creationId xmlns:p14="http://schemas.microsoft.com/office/powerpoint/2010/main" val="109548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DF72D-93F1-492F-8071-57199A0CAF18}"/>
              </a:ext>
            </a:extLst>
          </p:cNvPr>
          <p:cNvSpPr>
            <a:spLocks noGrp="1"/>
          </p:cNvSpPr>
          <p:nvPr>
            <p:ph type="title"/>
          </p:nvPr>
        </p:nvSpPr>
        <p:spPr/>
        <p:txBody>
          <a:bodyPr/>
          <a:lstStyle/>
          <a:p>
            <a:r>
              <a:rPr lang="vi-VN" dirty="0"/>
              <a:t>Ví dụ Extract method</a:t>
            </a:r>
          </a:p>
        </p:txBody>
      </p:sp>
      <p:sp>
        <p:nvSpPr>
          <p:cNvPr id="4" name="Text Box 4">
            <a:extLst>
              <a:ext uri="{FF2B5EF4-FFF2-40B4-BE49-F238E27FC236}">
                <a16:creationId xmlns:a16="http://schemas.microsoft.com/office/drawing/2014/main" id="{CF3138C7-68AE-4B4A-8D91-233C970633DC}"/>
              </a:ext>
            </a:extLst>
          </p:cNvPr>
          <p:cNvSpPr txBox="1">
            <a:spLocks noChangeArrowheads="1"/>
          </p:cNvSpPr>
          <p:nvPr/>
        </p:nvSpPr>
        <p:spPr bwMode="auto">
          <a:xfrm>
            <a:off x="1887148" y="3037389"/>
            <a:ext cx="3657600" cy="2979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pPr>
            <a:r>
              <a:rPr lang="en-US" altLang="en-US" sz="1800" i="1" dirty="0">
                <a:latin typeface="Arial Unicode MS" pitchFamily="34" charset="-128"/>
                <a:ea typeface="Arial Unicode MS" pitchFamily="34" charset="-128"/>
              </a:rPr>
              <a:t>void </a:t>
            </a:r>
            <a:r>
              <a:rPr lang="en-US" altLang="en-US" sz="1800" i="1" dirty="0" err="1">
                <a:latin typeface="Arial Unicode MS" pitchFamily="34" charset="-128"/>
                <a:ea typeface="Arial Unicode MS" pitchFamily="34" charset="-128"/>
              </a:rPr>
              <a:t>printOwing</a:t>
            </a:r>
            <a:r>
              <a:rPr lang="en-US" altLang="en-US" sz="1800" i="1" dirty="0">
                <a:latin typeface="Arial Unicode MS" pitchFamily="34" charset="-128"/>
                <a:ea typeface="Arial Unicode MS" pitchFamily="34" charset="-128"/>
              </a:rPr>
              <a:t>() </a:t>
            </a:r>
          </a:p>
          <a:p>
            <a:pPr>
              <a:spcBef>
                <a:spcPct val="50000"/>
              </a:spcBef>
            </a:pPr>
            <a:r>
              <a:rPr lang="en-US" altLang="en-US" sz="1800" i="1" dirty="0">
                <a:latin typeface="Arial Unicode MS" pitchFamily="34" charset="-128"/>
                <a:ea typeface="Arial Unicode MS" pitchFamily="34" charset="-128"/>
              </a:rPr>
              <a:t>{ </a:t>
            </a:r>
          </a:p>
          <a:p>
            <a:pPr>
              <a:spcBef>
                <a:spcPct val="50000"/>
              </a:spcBef>
            </a:pPr>
            <a:r>
              <a:rPr lang="en-US" altLang="en-US" sz="1800" i="1" dirty="0">
                <a:latin typeface="Arial Unicode MS" pitchFamily="34" charset="-128"/>
                <a:ea typeface="Arial Unicode MS" pitchFamily="34" charset="-128"/>
              </a:rPr>
              <a:t>  </a:t>
            </a:r>
            <a:r>
              <a:rPr lang="en-US" altLang="en-US" sz="1800" i="1" dirty="0" err="1">
                <a:latin typeface="Arial Unicode MS" pitchFamily="34" charset="-128"/>
                <a:ea typeface="Arial Unicode MS" pitchFamily="34" charset="-128"/>
              </a:rPr>
              <a:t>printBanner</a:t>
            </a:r>
            <a:r>
              <a:rPr lang="en-US" altLang="en-US" sz="1800" i="1" dirty="0">
                <a:latin typeface="Arial Unicode MS" pitchFamily="34" charset="-128"/>
                <a:ea typeface="Arial Unicode MS" pitchFamily="34" charset="-128"/>
              </a:rPr>
              <a:t>(); //print details</a:t>
            </a:r>
          </a:p>
          <a:p>
            <a:pPr>
              <a:spcBef>
                <a:spcPct val="50000"/>
              </a:spcBef>
            </a:pPr>
            <a:r>
              <a:rPr lang="en-US" altLang="en-US" sz="1800" i="1" dirty="0">
                <a:latin typeface="Arial Unicode MS" pitchFamily="34" charset="-128"/>
                <a:ea typeface="Arial Unicode MS" pitchFamily="34" charset="-128"/>
              </a:rPr>
              <a:t>  </a:t>
            </a:r>
            <a:r>
              <a:rPr lang="en-US" altLang="en-US" sz="1800" i="1" dirty="0" err="1">
                <a:solidFill>
                  <a:srgbClr val="FF0000"/>
                </a:solidFill>
                <a:latin typeface="Arial Unicode MS" pitchFamily="34" charset="-128"/>
                <a:ea typeface="Arial Unicode MS" pitchFamily="34" charset="-128"/>
              </a:rPr>
              <a:t>System.out.println</a:t>
            </a:r>
            <a:r>
              <a:rPr lang="en-US" altLang="en-US" sz="1800" i="1" dirty="0">
                <a:solidFill>
                  <a:srgbClr val="FF0000"/>
                </a:solidFill>
                <a:latin typeface="Arial Unicode MS" pitchFamily="34" charset="-128"/>
                <a:ea typeface="Arial Unicode MS" pitchFamily="34" charset="-128"/>
              </a:rPr>
              <a:t> ("name:	" + _name);</a:t>
            </a:r>
          </a:p>
          <a:p>
            <a:pPr>
              <a:spcBef>
                <a:spcPct val="50000"/>
              </a:spcBef>
            </a:pPr>
            <a:r>
              <a:rPr lang="en-US" altLang="en-US" sz="1800" i="1" dirty="0">
                <a:solidFill>
                  <a:srgbClr val="FF0000"/>
                </a:solidFill>
                <a:latin typeface="Arial Unicode MS" pitchFamily="34" charset="-128"/>
                <a:ea typeface="Arial Unicode MS" pitchFamily="34" charset="-128"/>
              </a:rPr>
              <a:t>  </a:t>
            </a:r>
            <a:r>
              <a:rPr lang="en-US" altLang="en-US" sz="1800" i="1" dirty="0" err="1">
                <a:solidFill>
                  <a:srgbClr val="FF0000"/>
                </a:solidFill>
                <a:latin typeface="Arial Unicode MS" pitchFamily="34" charset="-128"/>
                <a:ea typeface="Arial Unicode MS" pitchFamily="34" charset="-128"/>
              </a:rPr>
              <a:t>System.out.println</a:t>
            </a:r>
            <a:r>
              <a:rPr lang="en-US" altLang="en-US" sz="1800" i="1" dirty="0">
                <a:solidFill>
                  <a:srgbClr val="FF0000"/>
                </a:solidFill>
                <a:latin typeface="Arial Unicode MS" pitchFamily="34" charset="-128"/>
                <a:ea typeface="Arial Unicode MS" pitchFamily="34" charset="-128"/>
              </a:rPr>
              <a:t> ("amount	" + </a:t>
            </a:r>
            <a:r>
              <a:rPr lang="en-US" altLang="en-US" sz="1800" i="1" dirty="0" err="1">
                <a:solidFill>
                  <a:srgbClr val="FF0000"/>
                </a:solidFill>
                <a:latin typeface="Arial Unicode MS" pitchFamily="34" charset="-128"/>
                <a:ea typeface="Arial Unicode MS" pitchFamily="34" charset="-128"/>
              </a:rPr>
              <a:t>getOutstanding</a:t>
            </a:r>
            <a:r>
              <a:rPr lang="en-US" altLang="en-US" sz="1800" i="1" dirty="0">
                <a:solidFill>
                  <a:srgbClr val="FF0000"/>
                </a:solidFill>
                <a:latin typeface="Arial Unicode MS" pitchFamily="34" charset="-128"/>
                <a:ea typeface="Arial Unicode MS" pitchFamily="34" charset="-128"/>
              </a:rPr>
              <a:t>());</a:t>
            </a:r>
          </a:p>
          <a:p>
            <a:pPr>
              <a:spcBef>
                <a:spcPct val="50000"/>
              </a:spcBef>
            </a:pPr>
            <a:r>
              <a:rPr lang="en-US" altLang="en-US" sz="1800" i="1" dirty="0">
                <a:latin typeface="Arial Unicode MS" pitchFamily="34" charset="-128"/>
                <a:ea typeface="Arial Unicode MS" pitchFamily="34" charset="-128"/>
              </a:rPr>
              <a:t>}</a:t>
            </a:r>
            <a:r>
              <a:rPr lang="en-US" altLang="en-US" sz="1800" dirty="0"/>
              <a:t> </a:t>
            </a:r>
          </a:p>
        </p:txBody>
      </p:sp>
      <p:grpSp>
        <p:nvGrpSpPr>
          <p:cNvPr id="9" name="Group 8">
            <a:extLst>
              <a:ext uri="{FF2B5EF4-FFF2-40B4-BE49-F238E27FC236}">
                <a16:creationId xmlns:a16="http://schemas.microsoft.com/office/drawing/2014/main" id="{A8FDA394-A7BA-4B6F-B799-56DABD1F5F11}"/>
              </a:ext>
            </a:extLst>
          </p:cNvPr>
          <p:cNvGrpSpPr/>
          <p:nvPr/>
        </p:nvGrpSpPr>
        <p:grpSpPr>
          <a:xfrm>
            <a:off x="5411013" y="2728855"/>
            <a:ext cx="5163428" cy="3386138"/>
            <a:chOff x="3675772" y="2603452"/>
            <a:chExt cx="5163428" cy="3386138"/>
          </a:xfrm>
        </p:grpSpPr>
        <p:sp>
          <p:nvSpPr>
            <p:cNvPr id="5" name="Arrow: Right 4">
              <a:extLst>
                <a:ext uri="{FF2B5EF4-FFF2-40B4-BE49-F238E27FC236}">
                  <a16:creationId xmlns:a16="http://schemas.microsoft.com/office/drawing/2014/main" id="{93E4AFD1-8E96-4B92-9077-B9C61734EB91}"/>
                </a:ext>
              </a:extLst>
            </p:cNvPr>
            <p:cNvSpPr/>
            <p:nvPr/>
          </p:nvSpPr>
          <p:spPr>
            <a:xfrm>
              <a:off x="3675772" y="4084613"/>
              <a:ext cx="648072" cy="50405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0C030F1A-1EF5-4DED-B3EA-4438FA8AC8A5}"/>
                </a:ext>
              </a:extLst>
            </p:cNvPr>
            <p:cNvGrpSpPr/>
            <p:nvPr/>
          </p:nvGrpSpPr>
          <p:grpSpPr>
            <a:xfrm>
              <a:off x="4572000" y="2603452"/>
              <a:ext cx="4267200" cy="3386138"/>
              <a:chOff x="4648200" y="2209800"/>
              <a:chExt cx="4267200" cy="3386138"/>
            </a:xfrm>
          </p:grpSpPr>
          <p:sp>
            <p:nvSpPr>
              <p:cNvPr id="7" name="Text Box 5">
                <a:extLst>
                  <a:ext uri="{FF2B5EF4-FFF2-40B4-BE49-F238E27FC236}">
                    <a16:creationId xmlns:a16="http://schemas.microsoft.com/office/drawing/2014/main" id="{C00BAD82-9106-4CB5-ACD8-805C1EDBD486}"/>
                  </a:ext>
                </a:extLst>
              </p:cNvPr>
              <p:cNvSpPr txBox="1">
                <a:spLocks noChangeArrowheads="1"/>
              </p:cNvSpPr>
              <p:nvPr/>
            </p:nvSpPr>
            <p:spPr bwMode="auto">
              <a:xfrm>
                <a:off x="4648200" y="2209800"/>
                <a:ext cx="4191000"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pPr>
                <a:r>
                  <a:rPr lang="en-US" altLang="en-US" sz="1800" i="1" dirty="0">
                    <a:latin typeface="Arial Unicode MS" pitchFamily="34" charset="-128"/>
                    <a:ea typeface="Arial Unicode MS" pitchFamily="34" charset="-128"/>
                  </a:rPr>
                  <a:t>void </a:t>
                </a:r>
                <a:r>
                  <a:rPr lang="en-US" altLang="en-US" sz="1800" i="1" dirty="0" err="1">
                    <a:latin typeface="Arial Unicode MS" pitchFamily="34" charset="-128"/>
                    <a:ea typeface="Arial Unicode MS" pitchFamily="34" charset="-128"/>
                  </a:rPr>
                  <a:t>printOwing</a:t>
                </a:r>
                <a:r>
                  <a:rPr lang="en-US" altLang="en-US" sz="1800" i="1" dirty="0">
                    <a:latin typeface="Arial Unicode MS" pitchFamily="34" charset="-128"/>
                    <a:ea typeface="Arial Unicode MS" pitchFamily="34" charset="-128"/>
                  </a:rPr>
                  <a:t>() {		</a:t>
                </a:r>
                <a:r>
                  <a:rPr lang="en-US" altLang="en-US" sz="1800" i="1" dirty="0" err="1">
                    <a:latin typeface="Arial Unicode MS" pitchFamily="34" charset="-128"/>
                    <a:ea typeface="Arial Unicode MS" pitchFamily="34" charset="-128"/>
                  </a:rPr>
                  <a:t>printBanner</a:t>
                </a:r>
                <a:r>
                  <a:rPr lang="en-US" altLang="en-US" sz="1800" i="1" dirty="0">
                    <a:latin typeface="Arial Unicode MS" pitchFamily="34" charset="-128"/>
                    <a:ea typeface="Arial Unicode MS" pitchFamily="34" charset="-128"/>
                  </a:rPr>
                  <a:t>();		</a:t>
                </a:r>
                <a:r>
                  <a:rPr lang="en-US" altLang="en-US" sz="1800" i="1" dirty="0" err="1">
                    <a:latin typeface="Arial Unicode MS" pitchFamily="34" charset="-128"/>
                    <a:ea typeface="Arial Unicode MS" pitchFamily="34" charset="-128"/>
                  </a:rPr>
                  <a:t>printDetails</a:t>
                </a:r>
                <a:r>
                  <a:rPr lang="en-US" altLang="en-US" sz="1800" i="1" dirty="0">
                    <a:latin typeface="Arial Unicode MS" pitchFamily="34" charset="-128"/>
                    <a:ea typeface="Arial Unicode MS" pitchFamily="34" charset="-128"/>
                  </a:rPr>
                  <a:t>(</a:t>
                </a:r>
                <a:r>
                  <a:rPr lang="en-US" altLang="en-US" sz="1800" i="1" dirty="0" err="1">
                    <a:latin typeface="Arial Unicode MS" pitchFamily="34" charset="-128"/>
                    <a:ea typeface="Arial Unicode MS" pitchFamily="34" charset="-128"/>
                  </a:rPr>
                  <a:t>getOutstanding</a:t>
                </a:r>
                <a:r>
                  <a:rPr lang="en-US" altLang="en-US" sz="1800" i="1" dirty="0">
                    <a:latin typeface="Arial Unicode MS" pitchFamily="34" charset="-128"/>
                    <a:ea typeface="Arial Unicode MS" pitchFamily="34" charset="-128"/>
                  </a:rPr>
                  <a:t>());</a:t>
                </a:r>
                <a:br>
                  <a:rPr lang="en-US" altLang="en-US" sz="1800" i="1" dirty="0">
                    <a:latin typeface="Arial Unicode MS" pitchFamily="34" charset="-128"/>
                    <a:ea typeface="Arial Unicode MS" pitchFamily="34" charset="-128"/>
                  </a:rPr>
                </a:br>
                <a:r>
                  <a:rPr lang="en-US" altLang="en-US" sz="1800" i="1" dirty="0">
                    <a:latin typeface="Arial Unicode MS" pitchFamily="34" charset="-128"/>
                    <a:ea typeface="Arial Unicode MS" pitchFamily="34" charset="-128"/>
                  </a:rPr>
                  <a:t>}</a:t>
                </a:r>
                <a:r>
                  <a:rPr lang="en-US" altLang="en-US" i="1" dirty="0"/>
                  <a:t> </a:t>
                </a:r>
              </a:p>
            </p:txBody>
          </p:sp>
          <p:sp>
            <p:nvSpPr>
              <p:cNvPr id="8" name="Text Box 6">
                <a:extLst>
                  <a:ext uri="{FF2B5EF4-FFF2-40B4-BE49-F238E27FC236}">
                    <a16:creationId xmlns:a16="http://schemas.microsoft.com/office/drawing/2014/main" id="{08189ABF-6DB9-4FAA-A495-3C92EC6B148D}"/>
                  </a:ext>
                </a:extLst>
              </p:cNvPr>
              <p:cNvSpPr txBox="1">
                <a:spLocks noChangeArrowheads="1"/>
              </p:cNvSpPr>
              <p:nvPr/>
            </p:nvSpPr>
            <p:spPr bwMode="auto">
              <a:xfrm>
                <a:off x="4648200" y="3581400"/>
                <a:ext cx="4267200" cy="2014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spcBef>
                    <a:spcPct val="50000"/>
                  </a:spcBef>
                </a:pPr>
                <a:r>
                  <a:rPr lang="en-US" altLang="en-US" sz="1800" i="1" dirty="0">
                    <a:solidFill>
                      <a:srgbClr val="FF0000"/>
                    </a:solidFill>
                    <a:latin typeface="Arial Unicode MS" pitchFamily="34" charset="-128"/>
                    <a:ea typeface="Arial Unicode MS" pitchFamily="34" charset="-128"/>
                  </a:rPr>
                  <a:t>void </a:t>
                </a:r>
                <a:r>
                  <a:rPr lang="en-US" altLang="en-US" sz="1800" i="1" dirty="0" err="1">
                    <a:solidFill>
                      <a:srgbClr val="FF0000"/>
                    </a:solidFill>
                    <a:latin typeface="Arial Unicode MS" pitchFamily="34" charset="-128"/>
                    <a:ea typeface="Arial Unicode MS" pitchFamily="34" charset="-128"/>
                  </a:rPr>
                  <a:t>printDetails</a:t>
                </a:r>
                <a:r>
                  <a:rPr lang="en-US" altLang="en-US" sz="1800" i="1" dirty="0">
                    <a:solidFill>
                      <a:srgbClr val="FF0000"/>
                    </a:solidFill>
                    <a:latin typeface="Arial Unicode MS" pitchFamily="34" charset="-128"/>
                    <a:ea typeface="Arial Unicode MS" pitchFamily="34" charset="-128"/>
                  </a:rPr>
                  <a:t> (double outstanding) {</a:t>
                </a:r>
              </a:p>
              <a:p>
                <a:pPr>
                  <a:spcBef>
                    <a:spcPct val="50000"/>
                  </a:spcBef>
                </a:pPr>
                <a:r>
                  <a:rPr lang="en-US" altLang="en-US" sz="1800" i="1" dirty="0">
                    <a:solidFill>
                      <a:srgbClr val="FF0000"/>
                    </a:solidFill>
                    <a:latin typeface="Arial Unicode MS" pitchFamily="34" charset="-128"/>
                    <a:ea typeface="Arial Unicode MS" pitchFamily="34" charset="-128"/>
                  </a:rPr>
                  <a:t>  </a:t>
                </a:r>
                <a:r>
                  <a:rPr lang="en-US" altLang="en-US" sz="1800" i="1" dirty="0" err="1">
                    <a:solidFill>
                      <a:srgbClr val="FF0000"/>
                    </a:solidFill>
                    <a:latin typeface="Arial Unicode MS" pitchFamily="34" charset="-128"/>
                    <a:ea typeface="Arial Unicode MS" pitchFamily="34" charset="-128"/>
                  </a:rPr>
                  <a:t>System.out.println</a:t>
                </a:r>
                <a:r>
                  <a:rPr lang="en-US" altLang="en-US" sz="1800" i="1" dirty="0">
                    <a:solidFill>
                      <a:srgbClr val="FF0000"/>
                    </a:solidFill>
                    <a:latin typeface="Arial Unicode MS" pitchFamily="34" charset="-128"/>
                    <a:ea typeface="Arial Unicode MS" pitchFamily="34" charset="-128"/>
                  </a:rPr>
                  <a:t> ("name:" + _name);</a:t>
                </a:r>
              </a:p>
              <a:p>
                <a:pPr>
                  <a:spcBef>
                    <a:spcPct val="50000"/>
                  </a:spcBef>
                </a:pPr>
                <a:r>
                  <a:rPr lang="en-US" altLang="en-US" sz="1800" i="1" dirty="0">
                    <a:solidFill>
                      <a:srgbClr val="FF0000"/>
                    </a:solidFill>
                    <a:latin typeface="Arial Unicode MS" pitchFamily="34" charset="-128"/>
                    <a:ea typeface="Arial Unicode MS" pitchFamily="34" charset="-128"/>
                  </a:rPr>
                  <a:t>  </a:t>
                </a:r>
                <a:r>
                  <a:rPr lang="en-US" altLang="en-US" sz="1800" i="1" dirty="0" err="1">
                    <a:solidFill>
                      <a:srgbClr val="FF0000"/>
                    </a:solidFill>
                    <a:latin typeface="Arial Unicode MS" pitchFamily="34" charset="-128"/>
                    <a:ea typeface="Arial Unicode MS" pitchFamily="34" charset="-128"/>
                  </a:rPr>
                  <a:t>System.out.println</a:t>
                </a:r>
                <a:r>
                  <a:rPr lang="en-US" altLang="en-US" sz="1800" i="1" dirty="0">
                    <a:solidFill>
                      <a:srgbClr val="FF0000"/>
                    </a:solidFill>
                    <a:latin typeface="Arial Unicode MS" pitchFamily="34" charset="-128"/>
                    <a:ea typeface="Arial Unicode MS" pitchFamily="34" charset="-128"/>
                  </a:rPr>
                  <a:t> ("amount:" +   outstanding);</a:t>
                </a:r>
              </a:p>
              <a:p>
                <a:pPr>
                  <a:spcBef>
                    <a:spcPct val="50000"/>
                  </a:spcBef>
                </a:pPr>
                <a:r>
                  <a:rPr lang="en-US" altLang="en-US" sz="1800" i="1" dirty="0">
                    <a:solidFill>
                      <a:srgbClr val="FF0000"/>
                    </a:solidFill>
                    <a:cs typeface="Times New Roman" panose="02020603050405020304" pitchFamily="18" charset="0"/>
                  </a:rPr>
                  <a:t>}</a:t>
                </a:r>
                <a:r>
                  <a:rPr lang="en-US" altLang="en-US" dirty="0">
                    <a:solidFill>
                      <a:srgbClr val="FF0000"/>
                    </a:solidFill>
                  </a:rPr>
                  <a:t> </a:t>
                </a:r>
              </a:p>
            </p:txBody>
          </p:sp>
        </p:grpSp>
      </p:grpSp>
      <p:sp>
        <p:nvSpPr>
          <p:cNvPr id="10" name="TextBox 9">
            <a:extLst>
              <a:ext uri="{FF2B5EF4-FFF2-40B4-BE49-F238E27FC236}">
                <a16:creationId xmlns:a16="http://schemas.microsoft.com/office/drawing/2014/main" id="{1DA056E5-13CB-449C-838E-8F8FB19F2DB9}"/>
              </a:ext>
            </a:extLst>
          </p:cNvPr>
          <p:cNvSpPr txBox="1"/>
          <p:nvPr/>
        </p:nvSpPr>
        <p:spPr>
          <a:xfrm>
            <a:off x="1951156" y="1281325"/>
            <a:ext cx="8289689" cy="1015663"/>
          </a:xfrm>
          <a:prstGeom prst="rect">
            <a:avLst/>
          </a:prstGeom>
          <a:noFill/>
        </p:spPr>
        <p:txBody>
          <a:bodyPr wrap="square" rtlCol="0">
            <a:spAutoFit/>
          </a:bodyPr>
          <a:lstStyle/>
          <a:p>
            <a:r>
              <a:rPr lang="vi-VN" sz="2000" dirty="0"/>
              <a:t>Nếu bạn phải mất công nhìn một đoạn code để hiểu nó đang làm gì, thì bạn nên tách nó thành một hàm/phương thức và đặt tên theo “cái gì” (what) nó làm.</a:t>
            </a:r>
          </a:p>
        </p:txBody>
      </p:sp>
      <p:sp>
        <p:nvSpPr>
          <p:cNvPr id="3" name="Date Placeholder 2">
            <a:extLst>
              <a:ext uri="{FF2B5EF4-FFF2-40B4-BE49-F238E27FC236}">
                <a16:creationId xmlns:a16="http://schemas.microsoft.com/office/drawing/2014/main" id="{818D89B9-5F2B-0593-4250-49F691E0833B}"/>
              </a:ext>
            </a:extLst>
          </p:cNvPr>
          <p:cNvSpPr>
            <a:spLocks noGrp="1"/>
          </p:cNvSpPr>
          <p:nvPr>
            <p:ph type="dt" sz="half" idx="10"/>
          </p:nvPr>
        </p:nvSpPr>
        <p:spPr/>
        <p:txBody>
          <a:bodyPr/>
          <a:lstStyle/>
          <a:p>
            <a:fld id="{2C1A7D70-7AC9-43CA-873E-E5B216A96F6C}" type="datetime1">
              <a:rPr lang="nb-NO" smtClean="0"/>
              <a:t>05.10.2026</a:t>
            </a:fld>
            <a:endParaRPr lang="en-US" dirty="0"/>
          </a:p>
        </p:txBody>
      </p:sp>
      <p:sp>
        <p:nvSpPr>
          <p:cNvPr id="11" name="Footer Placeholder 10">
            <a:extLst>
              <a:ext uri="{FF2B5EF4-FFF2-40B4-BE49-F238E27FC236}">
                <a16:creationId xmlns:a16="http://schemas.microsoft.com/office/drawing/2014/main" id="{2516B59A-AF99-BA78-D1F3-3F5E5D997700}"/>
              </a:ext>
            </a:extLst>
          </p:cNvPr>
          <p:cNvSpPr>
            <a:spLocks noGrp="1"/>
          </p:cNvSpPr>
          <p:nvPr>
            <p:ph type="ftr" sz="quarter" idx="11"/>
          </p:nvPr>
        </p:nvSpPr>
        <p:spPr/>
        <p:txBody>
          <a:bodyPr/>
          <a:lstStyle/>
          <a:p>
            <a:r>
              <a:rPr lang="vi-VN"/>
              <a:t>Chương 7.3. Tìm hiểu thêm về triển khai</a:t>
            </a:r>
          </a:p>
        </p:txBody>
      </p:sp>
      <p:sp>
        <p:nvSpPr>
          <p:cNvPr id="12" name="Slide Number Placeholder 11">
            <a:extLst>
              <a:ext uri="{FF2B5EF4-FFF2-40B4-BE49-F238E27FC236}">
                <a16:creationId xmlns:a16="http://schemas.microsoft.com/office/drawing/2014/main" id="{ED381017-E8E9-E1C0-9F9D-BEA69FD2AD49}"/>
              </a:ext>
            </a:extLst>
          </p:cNvPr>
          <p:cNvSpPr>
            <a:spLocks noGrp="1"/>
          </p:cNvSpPr>
          <p:nvPr>
            <p:ph type="sldNum" sz="quarter" idx="12"/>
          </p:nvPr>
        </p:nvSpPr>
        <p:spPr/>
        <p:txBody>
          <a:bodyPr/>
          <a:lstStyle/>
          <a:p>
            <a:fld id="{EC33B370-F672-B743-B3AF-248A63C17270}" type="slidenum">
              <a:rPr lang="en-US" smtClean="0"/>
              <a:pPr/>
              <a:t>28</a:t>
            </a:fld>
            <a:endParaRPr lang="en-US"/>
          </a:p>
        </p:txBody>
      </p:sp>
    </p:spTree>
    <p:extLst>
      <p:ext uri="{BB962C8B-B14F-4D97-AF65-F5344CB8AC3E}">
        <p14:creationId xmlns:p14="http://schemas.microsoft.com/office/powerpoint/2010/main" val="29332953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A0369-AD21-4B22-BCD2-8CE1193AAE40}"/>
              </a:ext>
            </a:extLst>
          </p:cNvPr>
          <p:cNvSpPr>
            <a:spLocks noGrp="1"/>
          </p:cNvSpPr>
          <p:nvPr>
            <p:ph type="title"/>
          </p:nvPr>
        </p:nvSpPr>
        <p:spPr/>
        <p:txBody>
          <a:bodyPr/>
          <a:lstStyle/>
          <a:p>
            <a:r>
              <a:rPr lang="vi-VN" altLang="en-US"/>
              <a:t>Giảm kích thước – rút gọn danh sách tham số</a:t>
            </a:r>
            <a:endParaRPr lang="en-US"/>
          </a:p>
        </p:txBody>
      </p:sp>
      <p:sp>
        <p:nvSpPr>
          <p:cNvPr id="3" name="Content Placeholder 2">
            <a:extLst>
              <a:ext uri="{FF2B5EF4-FFF2-40B4-BE49-F238E27FC236}">
                <a16:creationId xmlns:a16="http://schemas.microsoft.com/office/drawing/2014/main" id="{AAD5F90D-AA83-4B4D-A3ED-CAA8D9CDD0F5}"/>
              </a:ext>
            </a:extLst>
          </p:cNvPr>
          <p:cNvSpPr>
            <a:spLocks noGrp="1"/>
          </p:cNvSpPr>
          <p:nvPr>
            <p:ph idx="1"/>
          </p:nvPr>
        </p:nvSpPr>
        <p:spPr/>
        <p:txBody>
          <a:bodyPr/>
          <a:lstStyle/>
          <a:p>
            <a:pPr>
              <a:lnSpc>
                <a:spcPct val="90000"/>
              </a:lnSpc>
              <a:spcBef>
                <a:spcPct val="0"/>
              </a:spcBef>
              <a:buClr>
                <a:schemeClr val="accent2"/>
              </a:buClr>
            </a:pPr>
            <a:r>
              <a:rPr lang="vi-VN" altLang="en-US" b="1"/>
              <a:t>Long Parameter List (Danh sách tham số dài)</a:t>
            </a:r>
          </a:p>
          <a:p>
            <a:pPr lvl="1">
              <a:lnSpc>
                <a:spcPct val="90000"/>
              </a:lnSpc>
              <a:buClr>
                <a:schemeClr val="accent2"/>
              </a:buClr>
            </a:pPr>
            <a:r>
              <a:rPr lang="vi-VN" altLang="en-US" sz="2400"/>
              <a:t>Vd: Introduce Parameter Object</a:t>
            </a:r>
          </a:p>
          <a:p>
            <a:endParaRPr lang="en-US"/>
          </a:p>
        </p:txBody>
      </p:sp>
      <p:pic>
        <p:nvPicPr>
          <p:cNvPr id="4" name="Picture 3">
            <a:extLst>
              <a:ext uri="{FF2B5EF4-FFF2-40B4-BE49-F238E27FC236}">
                <a16:creationId xmlns:a16="http://schemas.microsoft.com/office/drawing/2014/main" id="{CE132473-E2DD-4479-8E6B-B14924F884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9577" y="3212976"/>
            <a:ext cx="7219273" cy="1685546"/>
          </a:xfrm>
          <a:prstGeom prst="rect">
            <a:avLst/>
          </a:prstGeom>
        </p:spPr>
      </p:pic>
      <p:sp>
        <p:nvSpPr>
          <p:cNvPr id="5" name="Date Placeholder 4">
            <a:extLst>
              <a:ext uri="{FF2B5EF4-FFF2-40B4-BE49-F238E27FC236}">
                <a16:creationId xmlns:a16="http://schemas.microsoft.com/office/drawing/2014/main" id="{18923BB6-3481-E1C3-D3B8-0F60BDB2C07C}"/>
              </a:ext>
            </a:extLst>
          </p:cNvPr>
          <p:cNvSpPr>
            <a:spLocks noGrp="1"/>
          </p:cNvSpPr>
          <p:nvPr>
            <p:ph type="dt" sz="half" idx="10"/>
          </p:nvPr>
        </p:nvSpPr>
        <p:spPr/>
        <p:txBody>
          <a:bodyPr/>
          <a:lstStyle/>
          <a:p>
            <a:fld id="{934E6F93-B17C-4396-AB4F-D5E0BBD9640E}" type="datetime1">
              <a:rPr lang="nb-NO" smtClean="0"/>
              <a:t>05.10.2026</a:t>
            </a:fld>
            <a:endParaRPr lang="en-US" dirty="0"/>
          </a:p>
        </p:txBody>
      </p:sp>
      <p:sp>
        <p:nvSpPr>
          <p:cNvPr id="6" name="Footer Placeholder 5">
            <a:extLst>
              <a:ext uri="{FF2B5EF4-FFF2-40B4-BE49-F238E27FC236}">
                <a16:creationId xmlns:a16="http://schemas.microsoft.com/office/drawing/2014/main" id="{539BBDCF-AB70-170F-C0E2-D2AA02A21524}"/>
              </a:ext>
            </a:extLst>
          </p:cNvPr>
          <p:cNvSpPr>
            <a:spLocks noGrp="1"/>
          </p:cNvSpPr>
          <p:nvPr>
            <p:ph type="ftr" sz="quarter" idx="11"/>
          </p:nvPr>
        </p:nvSpPr>
        <p:spPr/>
        <p:txBody>
          <a:bodyPr/>
          <a:lstStyle/>
          <a:p>
            <a:r>
              <a:rPr lang="vi-VN"/>
              <a:t>Chương 7.3. Tìm hiểu thêm về triển khai</a:t>
            </a:r>
          </a:p>
        </p:txBody>
      </p:sp>
      <p:sp>
        <p:nvSpPr>
          <p:cNvPr id="7" name="Slide Number Placeholder 6">
            <a:extLst>
              <a:ext uri="{FF2B5EF4-FFF2-40B4-BE49-F238E27FC236}">
                <a16:creationId xmlns:a16="http://schemas.microsoft.com/office/drawing/2014/main" id="{C3446842-075D-EB98-A918-EF6348644334}"/>
              </a:ext>
            </a:extLst>
          </p:cNvPr>
          <p:cNvSpPr>
            <a:spLocks noGrp="1"/>
          </p:cNvSpPr>
          <p:nvPr>
            <p:ph type="sldNum" sz="quarter" idx="12"/>
          </p:nvPr>
        </p:nvSpPr>
        <p:spPr/>
        <p:txBody>
          <a:bodyPr/>
          <a:lstStyle/>
          <a:p>
            <a:fld id="{EC33B370-F672-B743-B3AF-248A63C17270}" type="slidenum">
              <a:rPr lang="en-US" smtClean="0"/>
              <a:pPr/>
              <a:t>29</a:t>
            </a:fld>
            <a:endParaRPr lang="en-US"/>
          </a:p>
        </p:txBody>
      </p:sp>
    </p:spTree>
    <p:extLst>
      <p:ext uri="{BB962C8B-B14F-4D97-AF65-F5344CB8AC3E}">
        <p14:creationId xmlns:p14="http://schemas.microsoft.com/office/powerpoint/2010/main" val="22934110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A9E7A-B5FA-4582-B001-EC3898127E8D}"/>
              </a:ext>
            </a:extLst>
          </p:cNvPr>
          <p:cNvSpPr>
            <a:spLocks noGrp="1"/>
          </p:cNvSpPr>
          <p:nvPr>
            <p:ph type="title"/>
          </p:nvPr>
        </p:nvSpPr>
        <p:spPr/>
        <p:txBody>
          <a:bodyPr/>
          <a:lstStyle/>
          <a:p>
            <a:pPr>
              <a:lnSpc>
                <a:spcPct val="90000"/>
              </a:lnSpc>
              <a:buClr>
                <a:schemeClr val="accent2"/>
              </a:buClr>
            </a:pPr>
            <a:r>
              <a:rPr lang="vi-VN" altLang="en-US" dirty="0"/>
              <a:t>Divergent Change</a:t>
            </a:r>
          </a:p>
        </p:txBody>
      </p:sp>
      <p:sp>
        <p:nvSpPr>
          <p:cNvPr id="3" name="Content Placeholder 2">
            <a:extLst>
              <a:ext uri="{FF2B5EF4-FFF2-40B4-BE49-F238E27FC236}">
                <a16:creationId xmlns:a16="http://schemas.microsoft.com/office/drawing/2014/main" id="{A3F84E9E-D847-4052-8D4F-813B55A6AC8F}"/>
              </a:ext>
            </a:extLst>
          </p:cNvPr>
          <p:cNvSpPr>
            <a:spLocks noGrp="1"/>
          </p:cNvSpPr>
          <p:nvPr>
            <p:ph idx="1"/>
          </p:nvPr>
        </p:nvSpPr>
        <p:spPr>
          <a:xfrm>
            <a:off x="1981200" y="1600200"/>
            <a:ext cx="8229600" cy="4493096"/>
          </a:xfrm>
        </p:spPr>
        <p:txBody>
          <a:bodyPr>
            <a:normAutofit/>
          </a:bodyPr>
          <a:lstStyle/>
          <a:p>
            <a:pPr>
              <a:lnSpc>
                <a:spcPct val="90000"/>
              </a:lnSpc>
              <a:spcBef>
                <a:spcPct val="0"/>
              </a:spcBef>
              <a:buClr>
                <a:schemeClr val="accent2"/>
              </a:buClr>
            </a:pPr>
            <a:r>
              <a:rPr lang="vi-VN" altLang="en-US" b="1" dirty="0"/>
              <a:t>Code smell</a:t>
            </a:r>
          </a:p>
          <a:p>
            <a:pPr lvl="1">
              <a:lnSpc>
                <a:spcPct val="90000"/>
              </a:lnSpc>
              <a:buClr>
                <a:schemeClr val="accent2"/>
              </a:buClr>
            </a:pPr>
            <a:r>
              <a:rPr lang="vi-VN" sz="2400" dirty="0"/>
              <a:t>Một module thường bị thay đổi theo nhiều cách khác nhau vì những lý do khác nhau.</a:t>
            </a:r>
            <a:endParaRPr lang="en-US" altLang="en-US" sz="2400" dirty="0"/>
          </a:p>
          <a:p>
            <a:pPr lvl="1">
              <a:lnSpc>
                <a:spcPct val="90000"/>
              </a:lnSpc>
              <a:buClr>
                <a:schemeClr val="accent2"/>
              </a:buClr>
            </a:pPr>
            <a:r>
              <a:rPr lang="vi-VN" altLang="en-US" sz="2400" dirty="0"/>
              <a:t>Lớp có nhiều hơn một trách nhiệm riêng biệt nên có nhiều hơn một lý do để thay đổi</a:t>
            </a:r>
          </a:p>
          <a:p>
            <a:pPr lvl="1">
              <a:lnSpc>
                <a:spcPct val="90000"/>
              </a:lnSpc>
              <a:buClr>
                <a:schemeClr val="accent2"/>
              </a:buClr>
            </a:pPr>
            <a:r>
              <a:rPr lang="vi-VN" altLang="en-US" sz="2400" dirty="0"/>
              <a:t>Vi phạm nguyên lý thiết kế đơn trách nhiệm (single responsibility)</a:t>
            </a:r>
          </a:p>
          <a:p>
            <a:pPr>
              <a:lnSpc>
                <a:spcPct val="90000"/>
              </a:lnSpc>
              <a:buClr>
                <a:schemeClr val="accent2"/>
              </a:buClr>
            </a:pPr>
            <a:r>
              <a:rPr lang="vi-VN" altLang="en-US" sz="2800" b="1" dirty="0"/>
              <a:t>Refactoring</a:t>
            </a:r>
          </a:p>
          <a:p>
            <a:pPr lvl="1">
              <a:lnSpc>
                <a:spcPct val="90000"/>
              </a:lnSpc>
              <a:buClr>
                <a:schemeClr val="accent2"/>
              </a:buClr>
            </a:pPr>
            <a:r>
              <a:rPr lang="vi-VN" altLang="en-US" sz="2400" dirty="0"/>
              <a:t>Bạn xác định mọi thứ thay đổi vì một nguyên nhân cụ thể và gom chúng lại với nhau</a:t>
            </a:r>
            <a:endParaRPr lang="en-US" altLang="en-US" b="1" dirty="0"/>
          </a:p>
          <a:p>
            <a:pPr marL="0" indent="0">
              <a:buNone/>
            </a:pPr>
            <a:endParaRPr lang="en-US" dirty="0"/>
          </a:p>
        </p:txBody>
      </p:sp>
      <p:sp>
        <p:nvSpPr>
          <p:cNvPr id="4" name="Date Placeholder 3">
            <a:extLst>
              <a:ext uri="{FF2B5EF4-FFF2-40B4-BE49-F238E27FC236}">
                <a16:creationId xmlns:a16="http://schemas.microsoft.com/office/drawing/2014/main" id="{CCD6D587-12B2-07FF-E158-39A6CCF836D0}"/>
              </a:ext>
            </a:extLst>
          </p:cNvPr>
          <p:cNvSpPr>
            <a:spLocks noGrp="1"/>
          </p:cNvSpPr>
          <p:nvPr>
            <p:ph type="dt" sz="half" idx="10"/>
          </p:nvPr>
        </p:nvSpPr>
        <p:spPr/>
        <p:txBody>
          <a:bodyPr/>
          <a:lstStyle/>
          <a:p>
            <a:fld id="{16217CDC-60E5-480F-B542-779037833443}" type="datetime1">
              <a:rPr lang="nb-NO" smtClean="0"/>
              <a:t>05.10.2026</a:t>
            </a:fld>
            <a:endParaRPr lang="en-US" dirty="0"/>
          </a:p>
        </p:txBody>
      </p:sp>
      <p:sp>
        <p:nvSpPr>
          <p:cNvPr id="5" name="Footer Placeholder 4">
            <a:extLst>
              <a:ext uri="{FF2B5EF4-FFF2-40B4-BE49-F238E27FC236}">
                <a16:creationId xmlns:a16="http://schemas.microsoft.com/office/drawing/2014/main" id="{B6885BC1-0C48-18FE-EE8B-4B739B691670}"/>
              </a:ext>
            </a:extLst>
          </p:cNvPr>
          <p:cNvSpPr>
            <a:spLocks noGrp="1"/>
          </p:cNvSpPr>
          <p:nvPr>
            <p:ph type="ftr" sz="quarter" idx="11"/>
          </p:nvPr>
        </p:nvSpPr>
        <p:spPr/>
        <p:txBody>
          <a:bodyPr/>
          <a:lstStyle/>
          <a:p>
            <a:r>
              <a:rPr lang="vi-VN"/>
              <a:t>Chương 7.3. Tìm hiểu thêm về triển khai</a:t>
            </a:r>
          </a:p>
        </p:txBody>
      </p:sp>
      <p:sp>
        <p:nvSpPr>
          <p:cNvPr id="6" name="Slide Number Placeholder 5">
            <a:extLst>
              <a:ext uri="{FF2B5EF4-FFF2-40B4-BE49-F238E27FC236}">
                <a16:creationId xmlns:a16="http://schemas.microsoft.com/office/drawing/2014/main" id="{8D1CAD94-4106-C07B-B5FB-A8359E1A0218}"/>
              </a:ext>
            </a:extLst>
          </p:cNvPr>
          <p:cNvSpPr>
            <a:spLocks noGrp="1"/>
          </p:cNvSpPr>
          <p:nvPr>
            <p:ph type="sldNum" sz="quarter" idx="12"/>
          </p:nvPr>
        </p:nvSpPr>
        <p:spPr/>
        <p:txBody>
          <a:bodyPr/>
          <a:lstStyle/>
          <a:p>
            <a:fld id="{EC33B370-F672-B743-B3AF-248A63C17270}" type="slidenum">
              <a:rPr lang="en-US" smtClean="0"/>
              <a:pPr/>
              <a:t>30</a:t>
            </a:fld>
            <a:endParaRPr lang="en-US"/>
          </a:p>
        </p:txBody>
      </p:sp>
    </p:spTree>
    <p:extLst>
      <p:ext uri="{BB962C8B-B14F-4D97-AF65-F5344CB8AC3E}">
        <p14:creationId xmlns:p14="http://schemas.microsoft.com/office/powerpoint/2010/main" val="20161553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813D5-B5EF-4594-A1B3-A2CF1206C8B9}"/>
              </a:ext>
            </a:extLst>
          </p:cNvPr>
          <p:cNvSpPr>
            <a:spLocks noGrp="1"/>
          </p:cNvSpPr>
          <p:nvPr>
            <p:ph type="title"/>
          </p:nvPr>
        </p:nvSpPr>
        <p:spPr/>
        <p:txBody>
          <a:bodyPr/>
          <a:lstStyle/>
          <a:p>
            <a:r>
              <a:rPr lang="vi-VN"/>
              <a:t>Tăng cohesion</a:t>
            </a:r>
          </a:p>
        </p:txBody>
      </p:sp>
      <p:sp>
        <p:nvSpPr>
          <p:cNvPr id="3" name="Content Placeholder 2">
            <a:extLst>
              <a:ext uri="{FF2B5EF4-FFF2-40B4-BE49-F238E27FC236}">
                <a16:creationId xmlns:a16="http://schemas.microsoft.com/office/drawing/2014/main" id="{15137D5F-C6B7-474F-9524-D473E4D69598}"/>
              </a:ext>
            </a:extLst>
          </p:cNvPr>
          <p:cNvSpPr>
            <a:spLocks noGrp="1"/>
          </p:cNvSpPr>
          <p:nvPr>
            <p:ph idx="1"/>
          </p:nvPr>
        </p:nvSpPr>
        <p:spPr>
          <a:xfrm>
            <a:off x="1981200" y="1600202"/>
            <a:ext cx="8229600" cy="1972815"/>
          </a:xfrm>
        </p:spPr>
        <p:txBody>
          <a:bodyPr>
            <a:normAutofit lnSpcReduction="10000"/>
          </a:bodyPr>
          <a:lstStyle/>
          <a:p>
            <a:pPr>
              <a:lnSpc>
                <a:spcPct val="90000"/>
              </a:lnSpc>
              <a:spcBef>
                <a:spcPct val="0"/>
              </a:spcBef>
              <a:buClr>
                <a:schemeClr val="accent2"/>
              </a:buClr>
            </a:pPr>
            <a:r>
              <a:rPr lang="vi-VN" b="1"/>
              <a:t>Feature envy</a:t>
            </a:r>
          </a:p>
          <a:p>
            <a:pPr lvl="1">
              <a:lnSpc>
                <a:spcPct val="90000"/>
              </a:lnSpc>
              <a:buClr>
                <a:schemeClr val="accent2"/>
              </a:buClr>
            </a:pPr>
            <a:r>
              <a:rPr lang="vi-VN" sz="2400"/>
              <a:t>Một hàm trong module này dành nhiều thời gian giao tiếp với các hàm hoặc dữ liệu trong module khác hơn là trong chính module của nó.</a:t>
            </a:r>
          </a:p>
          <a:p>
            <a:pPr lvl="1">
              <a:lnSpc>
                <a:spcPct val="90000"/>
              </a:lnSpc>
              <a:buClr>
                <a:schemeClr val="accent2"/>
              </a:buClr>
            </a:pPr>
            <a:r>
              <a:rPr lang="vi-VN" sz="2400"/>
              <a:t>Chuyển hàm sang để cho nó một “ngôi nhà mơ ước”</a:t>
            </a:r>
          </a:p>
          <a:p>
            <a:pPr marL="457200" lvl="1" indent="0">
              <a:buClr>
                <a:schemeClr val="accent2"/>
              </a:buClr>
              <a:buNone/>
            </a:pPr>
            <a:endParaRPr lang="en-US" sz="2400"/>
          </a:p>
          <a:p>
            <a:pPr marL="457200" lvl="1" indent="0">
              <a:buClr>
                <a:schemeClr val="accent2"/>
              </a:buClr>
              <a:buNone/>
            </a:pPr>
            <a:endParaRPr lang="en-US" sz="2400" b="1"/>
          </a:p>
        </p:txBody>
      </p:sp>
      <p:pic>
        <p:nvPicPr>
          <p:cNvPr id="10" name="Picture 9">
            <a:extLst>
              <a:ext uri="{FF2B5EF4-FFF2-40B4-BE49-F238E27FC236}">
                <a16:creationId xmlns:a16="http://schemas.microsoft.com/office/drawing/2014/main" id="{EDD1DFA2-E18F-40E0-8380-82036071D90C}"/>
              </a:ext>
            </a:extLst>
          </p:cNvPr>
          <p:cNvPicPr>
            <a:picLocks noChangeAspect="1"/>
          </p:cNvPicPr>
          <p:nvPr/>
        </p:nvPicPr>
        <p:blipFill>
          <a:blip r:embed="rId3"/>
          <a:stretch>
            <a:fillRect/>
          </a:stretch>
        </p:blipFill>
        <p:spPr>
          <a:xfrm>
            <a:off x="1630290" y="3597654"/>
            <a:ext cx="4470187" cy="2794361"/>
          </a:xfrm>
          <a:prstGeom prst="rect">
            <a:avLst/>
          </a:prstGeom>
        </p:spPr>
      </p:pic>
      <p:grpSp>
        <p:nvGrpSpPr>
          <p:cNvPr id="13" name="Group 12">
            <a:extLst>
              <a:ext uri="{FF2B5EF4-FFF2-40B4-BE49-F238E27FC236}">
                <a16:creationId xmlns:a16="http://schemas.microsoft.com/office/drawing/2014/main" id="{774EFB6D-3661-413C-8C8D-3107C319C82C}"/>
              </a:ext>
            </a:extLst>
          </p:cNvPr>
          <p:cNvGrpSpPr/>
          <p:nvPr/>
        </p:nvGrpSpPr>
        <p:grpSpPr>
          <a:xfrm>
            <a:off x="5843973" y="3803009"/>
            <a:ext cx="4470187" cy="2191140"/>
            <a:chOff x="4319972" y="3803009"/>
            <a:chExt cx="4470187" cy="2191140"/>
          </a:xfrm>
        </p:grpSpPr>
        <p:sp>
          <p:nvSpPr>
            <p:cNvPr id="11" name="Arrow: Right 10">
              <a:extLst>
                <a:ext uri="{FF2B5EF4-FFF2-40B4-BE49-F238E27FC236}">
                  <a16:creationId xmlns:a16="http://schemas.microsoft.com/office/drawing/2014/main" id="{8E5D43DF-93EB-4069-BE35-D4C226F02442}"/>
                </a:ext>
              </a:extLst>
            </p:cNvPr>
            <p:cNvSpPr/>
            <p:nvPr/>
          </p:nvSpPr>
          <p:spPr>
            <a:xfrm>
              <a:off x="4319972" y="4725144"/>
              <a:ext cx="504056" cy="43204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5932A522-0332-47AC-8598-E52B6A43ED9D}"/>
                </a:ext>
              </a:extLst>
            </p:cNvPr>
            <p:cNvPicPr>
              <a:picLocks noChangeAspect="1"/>
            </p:cNvPicPr>
            <p:nvPr/>
          </p:nvPicPr>
          <p:blipFill>
            <a:blip r:embed="rId4"/>
            <a:stretch>
              <a:fillRect/>
            </a:stretch>
          </p:blipFill>
          <p:spPr>
            <a:xfrm>
              <a:off x="4811204" y="3803009"/>
              <a:ext cx="3978955" cy="2191140"/>
            </a:xfrm>
            <a:prstGeom prst="rect">
              <a:avLst/>
            </a:prstGeom>
          </p:spPr>
        </p:pic>
      </p:grpSp>
      <p:sp>
        <p:nvSpPr>
          <p:cNvPr id="14" name="Rectangle 13">
            <a:extLst>
              <a:ext uri="{FF2B5EF4-FFF2-40B4-BE49-F238E27FC236}">
                <a16:creationId xmlns:a16="http://schemas.microsoft.com/office/drawing/2014/main" id="{5FFA6498-7369-4E5F-90A2-D3117A7C2042}"/>
              </a:ext>
            </a:extLst>
          </p:cNvPr>
          <p:cNvSpPr/>
          <p:nvPr/>
        </p:nvSpPr>
        <p:spPr>
          <a:xfrm>
            <a:off x="2011787" y="6047319"/>
            <a:ext cx="8412109" cy="369332"/>
          </a:xfrm>
          <a:prstGeom prst="rect">
            <a:avLst/>
          </a:prstGeom>
        </p:spPr>
        <p:txBody>
          <a:bodyPr wrap="square">
            <a:spAutoFit/>
          </a:bodyPr>
          <a:lstStyle/>
          <a:p>
            <a:r>
              <a:rPr lang="en-US" dirty="0"/>
              <a:t>https://</a:t>
            </a:r>
            <a:r>
              <a:rPr lang="en-US" dirty="0" err="1"/>
              <a:t>waog.wordpress.com</a:t>
            </a:r>
            <a:r>
              <a:rPr lang="en-US" dirty="0"/>
              <a:t>/2014/08/25/code-smell-feature-envy/</a:t>
            </a:r>
          </a:p>
        </p:txBody>
      </p:sp>
      <p:sp>
        <p:nvSpPr>
          <p:cNvPr id="4" name="Date Placeholder 3">
            <a:extLst>
              <a:ext uri="{FF2B5EF4-FFF2-40B4-BE49-F238E27FC236}">
                <a16:creationId xmlns:a16="http://schemas.microsoft.com/office/drawing/2014/main" id="{2F9978C2-D57D-8C8D-3032-ADA4E226AA27}"/>
              </a:ext>
            </a:extLst>
          </p:cNvPr>
          <p:cNvSpPr>
            <a:spLocks noGrp="1"/>
          </p:cNvSpPr>
          <p:nvPr>
            <p:ph type="dt" sz="half" idx="10"/>
          </p:nvPr>
        </p:nvSpPr>
        <p:spPr/>
        <p:txBody>
          <a:bodyPr/>
          <a:lstStyle/>
          <a:p>
            <a:fld id="{8F1443D1-1579-4A4B-B12E-7B4FC0880465}" type="datetime1">
              <a:rPr lang="nb-NO" smtClean="0"/>
              <a:t>05.10.2026</a:t>
            </a:fld>
            <a:endParaRPr lang="en-US" dirty="0"/>
          </a:p>
        </p:txBody>
      </p:sp>
      <p:sp>
        <p:nvSpPr>
          <p:cNvPr id="5" name="Footer Placeholder 4">
            <a:extLst>
              <a:ext uri="{FF2B5EF4-FFF2-40B4-BE49-F238E27FC236}">
                <a16:creationId xmlns:a16="http://schemas.microsoft.com/office/drawing/2014/main" id="{A5245589-5899-5E99-60BF-846DEBCC977B}"/>
              </a:ext>
            </a:extLst>
          </p:cNvPr>
          <p:cNvSpPr>
            <a:spLocks noGrp="1"/>
          </p:cNvSpPr>
          <p:nvPr>
            <p:ph type="ftr" sz="quarter" idx="11"/>
          </p:nvPr>
        </p:nvSpPr>
        <p:spPr/>
        <p:txBody>
          <a:bodyPr/>
          <a:lstStyle/>
          <a:p>
            <a:r>
              <a:rPr lang="vi-VN"/>
              <a:t>Chương 7.3. Tìm hiểu thêm về triển khai</a:t>
            </a:r>
          </a:p>
        </p:txBody>
      </p:sp>
      <p:sp>
        <p:nvSpPr>
          <p:cNvPr id="6" name="Slide Number Placeholder 5">
            <a:extLst>
              <a:ext uri="{FF2B5EF4-FFF2-40B4-BE49-F238E27FC236}">
                <a16:creationId xmlns:a16="http://schemas.microsoft.com/office/drawing/2014/main" id="{186A6044-A3A0-D6FA-2070-7F1502FC5BF3}"/>
              </a:ext>
            </a:extLst>
          </p:cNvPr>
          <p:cNvSpPr>
            <a:spLocks noGrp="1"/>
          </p:cNvSpPr>
          <p:nvPr>
            <p:ph type="sldNum" sz="quarter" idx="12"/>
          </p:nvPr>
        </p:nvSpPr>
        <p:spPr/>
        <p:txBody>
          <a:bodyPr/>
          <a:lstStyle/>
          <a:p>
            <a:fld id="{EC33B370-F672-B743-B3AF-248A63C17270}" type="slidenum">
              <a:rPr lang="en-US" smtClean="0"/>
              <a:pPr/>
              <a:t>31</a:t>
            </a:fld>
            <a:endParaRPr lang="en-US"/>
          </a:p>
        </p:txBody>
      </p:sp>
    </p:spTree>
    <p:extLst>
      <p:ext uri="{BB962C8B-B14F-4D97-AF65-F5344CB8AC3E}">
        <p14:creationId xmlns:p14="http://schemas.microsoft.com/office/powerpoint/2010/main" val="14436803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813D5-B5EF-4594-A1B3-A2CF1206C8B9}"/>
              </a:ext>
            </a:extLst>
          </p:cNvPr>
          <p:cNvSpPr>
            <a:spLocks noGrp="1"/>
          </p:cNvSpPr>
          <p:nvPr>
            <p:ph type="title"/>
          </p:nvPr>
        </p:nvSpPr>
        <p:spPr/>
        <p:txBody>
          <a:bodyPr/>
          <a:lstStyle/>
          <a:p>
            <a:r>
              <a:rPr lang="vi-VN"/>
              <a:t>Tăng cohesion (tiếp)</a:t>
            </a:r>
          </a:p>
        </p:txBody>
      </p:sp>
      <p:sp>
        <p:nvSpPr>
          <p:cNvPr id="4" name="Rectangle 3">
            <a:extLst>
              <a:ext uri="{FF2B5EF4-FFF2-40B4-BE49-F238E27FC236}">
                <a16:creationId xmlns:a16="http://schemas.microsoft.com/office/drawing/2014/main" id="{02B2FB16-CD19-43D9-A2DD-7B0FC5185C27}"/>
              </a:ext>
            </a:extLst>
          </p:cNvPr>
          <p:cNvSpPr/>
          <p:nvPr/>
        </p:nvSpPr>
        <p:spPr>
          <a:xfrm>
            <a:off x="1703512" y="3789040"/>
            <a:ext cx="4104456" cy="1008112"/>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r>
              <a:rPr lang="en-US">
                <a:solidFill>
                  <a:schemeClr val="tx1"/>
                </a:solidFill>
              </a:rPr>
              <a:t>int low = </a:t>
            </a:r>
            <a:r>
              <a:rPr lang="en-US" err="1">
                <a:solidFill>
                  <a:srgbClr val="FF0000"/>
                </a:solidFill>
              </a:rPr>
              <a:t>daysTempRange</a:t>
            </a:r>
            <a:r>
              <a:rPr lang="en-US">
                <a:solidFill>
                  <a:srgbClr val="FF0000"/>
                </a:solidFill>
              </a:rPr>
              <a:t>().</a:t>
            </a:r>
            <a:r>
              <a:rPr lang="en-US" err="1">
                <a:solidFill>
                  <a:srgbClr val="FF0000"/>
                </a:solidFill>
              </a:rPr>
              <a:t>getLow</a:t>
            </a:r>
            <a:r>
              <a:rPr lang="en-US">
                <a:solidFill>
                  <a:srgbClr val="FF0000"/>
                </a:solidFill>
              </a:rPr>
              <a:t>();</a:t>
            </a:r>
          </a:p>
          <a:p>
            <a:r>
              <a:rPr lang="en-US">
                <a:solidFill>
                  <a:schemeClr val="tx1"/>
                </a:solidFill>
              </a:rPr>
              <a:t>int high = </a:t>
            </a:r>
            <a:r>
              <a:rPr lang="en-US" err="1">
                <a:solidFill>
                  <a:srgbClr val="FF0000"/>
                </a:solidFill>
              </a:rPr>
              <a:t>daysTempRange</a:t>
            </a:r>
            <a:r>
              <a:rPr lang="en-US">
                <a:solidFill>
                  <a:srgbClr val="FF0000"/>
                </a:solidFill>
              </a:rPr>
              <a:t>().</a:t>
            </a:r>
            <a:r>
              <a:rPr lang="en-US" err="1">
                <a:solidFill>
                  <a:srgbClr val="FF0000"/>
                </a:solidFill>
              </a:rPr>
              <a:t>getHigh</a:t>
            </a:r>
            <a:r>
              <a:rPr lang="en-US">
                <a:solidFill>
                  <a:srgbClr val="FF0000"/>
                </a:solidFill>
              </a:rPr>
              <a:t>();</a:t>
            </a:r>
          </a:p>
          <a:p>
            <a:r>
              <a:rPr lang="en-US" err="1">
                <a:solidFill>
                  <a:schemeClr val="tx1"/>
                </a:solidFill>
              </a:rPr>
              <a:t>withinPlan</a:t>
            </a:r>
            <a:r>
              <a:rPr lang="en-US">
                <a:solidFill>
                  <a:schemeClr val="tx1"/>
                </a:solidFill>
              </a:rPr>
              <a:t> = </a:t>
            </a:r>
            <a:r>
              <a:rPr lang="en-US" err="1">
                <a:solidFill>
                  <a:schemeClr val="tx1"/>
                </a:solidFill>
              </a:rPr>
              <a:t>plan.withinRange</a:t>
            </a:r>
            <a:r>
              <a:rPr lang="en-US">
                <a:solidFill>
                  <a:schemeClr val="tx1"/>
                </a:solidFill>
              </a:rPr>
              <a:t>(low, high);</a:t>
            </a:r>
          </a:p>
        </p:txBody>
      </p:sp>
      <p:grpSp>
        <p:nvGrpSpPr>
          <p:cNvPr id="8" name="Group 7">
            <a:extLst>
              <a:ext uri="{FF2B5EF4-FFF2-40B4-BE49-F238E27FC236}">
                <a16:creationId xmlns:a16="http://schemas.microsoft.com/office/drawing/2014/main" id="{B7103D37-B985-453F-8171-7A874389C2B8}"/>
              </a:ext>
            </a:extLst>
          </p:cNvPr>
          <p:cNvGrpSpPr/>
          <p:nvPr/>
        </p:nvGrpSpPr>
        <p:grpSpPr>
          <a:xfrm>
            <a:off x="5807968" y="3796262"/>
            <a:ext cx="4608512" cy="1008112"/>
            <a:chOff x="4283968" y="5445224"/>
            <a:chExt cx="4608512" cy="1008112"/>
          </a:xfrm>
        </p:grpSpPr>
        <p:sp>
          <p:nvSpPr>
            <p:cNvPr id="5" name="Arrow: Right 4">
              <a:extLst>
                <a:ext uri="{FF2B5EF4-FFF2-40B4-BE49-F238E27FC236}">
                  <a16:creationId xmlns:a16="http://schemas.microsoft.com/office/drawing/2014/main" id="{311FC723-AB42-4685-8D85-6791781CE8F1}"/>
                </a:ext>
              </a:extLst>
            </p:cNvPr>
            <p:cNvSpPr/>
            <p:nvPr/>
          </p:nvSpPr>
          <p:spPr>
            <a:xfrm>
              <a:off x="4283968" y="5733256"/>
              <a:ext cx="504056" cy="43204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BC628C4-8752-40A3-916A-14D33AA7CF83}"/>
                </a:ext>
              </a:extLst>
            </p:cNvPr>
            <p:cNvSpPr/>
            <p:nvPr/>
          </p:nvSpPr>
          <p:spPr>
            <a:xfrm>
              <a:off x="4788024" y="5445224"/>
              <a:ext cx="4104456" cy="1008112"/>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r>
                <a:rPr lang="en-US" dirty="0" err="1">
                  <a:solidFill>
                    <a:schemeClr val="tx1"/>
                  </a:solidFill>
                </a:rPr>
                <a:t>withinPlan</a:t>
              </a:r>
              <a:r>
                <a:rPr lang="en-US" dirty="0">
                  <a:solidFill>
                    <a:schemeClr val="tx1"/>
                  </a:solidFill>
                </a:rPr>
                <a:t> = </a:t>
              </a:r>
              <a:r>
                <a:rPr lang="en-US" dirty="0" err="1">
                  <a:solidFill>
                    <a:schemeClr val="tx1"/>
                  </a:solidFill>
                </a:rPr>
                <a:t>plan.withinRange</a:t>
              </a:r>
              <a:r>
                <a:rPr lang="en-US" dirty="0">
                  <a:solidFill>
                    <a:schemeClr val="tx1"/>
                  </a:solidFill>
                </a:rPr>
                <a:t>(</a:t>
              </a:r>
              <a:r>
                <a:rPr lang="en-US" dirty="0" err="1">
                  <a:solidFill>
                    <a:srgbClr val="FF0000"/>
                  </a:solidFill>
                </a:rPr>
                <a:t>daysTempRange</a:t>
              </a:r>
              <a:r>
                <a:rPr lang="en-US" dirty="0">
                  <a:solidFill>
                    <a:srgbClr val="FF0000"/>
                  </a:solidFill>
                </a:rPr>
                <a:t>()</a:t>
              </a:r>
              <a:r>
                <a:rPr lang="en-US" dirty="0">
                  <a:solidFill>
                    <a:schemeClr val="tx1"/>
                  </a:solidFill>
                </a:rPr>
                <a:t>);</a:t>
              </a:r>
            </a:p>
          </p:txBody>
        </p:sp>
      </p:grpSp>
      <p:sp>
        <p:nvSpPr>
          <p:cNvPr id="7" name="Rectangle 6">
            <a:extLst>
              <a:ext uri="{FF2B5EF4-FFF2-40B4-BE49-F238E27FC236}">
                <a16:creationId xmlns:a16="http://schemas.microsoft.com/office/drawing/2014/main" id="{1BBC4C4F-5DC5-4105-B5C9-E05B951B6814}"/>
              </a:ext>
            </a:extLst>
          </p:cNvPr>
          <p:cNvSpPr/>
          <p:nvPr/>
        </p:nvSpPr>
        <p:spPr>
          <a:xfrm>
            <a:off x="2001148" y="1743923"/>
            <a:ext cx="8280920" cy="1569660"/>
          </a:xfrm>
          <a:prstGeom prst="rect">
            <a:avLst/>
          </a:prstGeom>
        </p:spPr>
        <p:txBody>
          <a:bodyPr wrap="square">
            <a:spAutoFit/>
          </a:bodyPr>
          <a:lstStyle/>
          <a:p>
            <a:pPr marL="342900" indent="-342900">
              <a:lnSpc>
                <a:spcPct val="90000"/>
              </a:lnSpc>
              <a:buClr>
                <a:schemeClr val="accent2"/>
              </a:buClr>
              <a:buFont typeface="Arial" panose="020B0604020202020204" pitchFamily="34" charset="0"/>
              <a:buChar char="•"/>
            </a:pPr>
            <a:r>
              <a:rPr lang="vi-VN" sz="2400" b="1">
                <a:latin typeface="Arial"/>
                <a:cs typeface="Arial"/>
              </a:rPr>
              <a:t>Data clumps</a:t>
            </a:r>
          </a:p>
          <a:p>
            <a:pPr marL="742950" lvl="1" indent="-285750">
              <a:lnSpc>
                <a:spcPct val="90000"/>
              </a:lnSpc>
              <a:spcBef>
                <a:spcPct val="20000"/>
              </a:spcBef>
              <a:buClr>
                <a:schemeClr val="accent2"/>
              </a:buClr>
              <a:buFont typeface="Arial" panose="020B0604020202020204" pitchFamily="34" charset="0"/>
              <a:buChar char="–"/>
            </a:pPr>
            <a:r>
              <a:rPr lang="vi-VN" sz="2400">
                <a:latin typeface="Arial"/>
                <a:cs typeface="Arial"/>
              </a:rPr>
              <a:t>Các cụm dữ liệu thường đi cùng nhau</a:t>
            </a:r>
          </a:p>
          <a:p>
            <a:pPr marL="742950" lvl="1" indent="-285750">
              <a:lnSpc>
                <a:spcPct val="90000"/>
              </a:lnSpc>
              <a:spcBef>
                <a:spcPct val="20000"/>
              </a:spcBef>
              <a:buClr>
                <a:schemeClr val="accent2"/>
              </a:buClr>
              <a:buFont typeface="Arial" panose="020B0604020202020204" pitchFamily="34" charset="0"/>
              <a:buChar char="–"/>
            </a:pPr>
            <a:r>
              <a:rPr lang="vi-VN" sz="2400">
                <a:latin typeface="Arial"/>
                <a:cs typeface="Arial"/>
              </a:rPr>
              <a:t>Hợp nhất dữ liệu lại với nhau, ví dụ: Introduce Parameter Object hoặc Preserve Whole Object</a:t>
            </a:r>
            <a:endParaRPr lang="en-US" altLang="en-US" sz="2400">
              <a:latin typeface="Arial"/>
              <a:cs typeface="Arial"/>
            </a:endParaRPr>
          </a:p>
        </p:txBody>
      </p:sp>
      <p:sp>
        <p:nvSpPr>
          <p:cNvPr id="3" name="Date Placeholder 2">
            <a:extLst>
              <a:ext uri="{FF2B5EF4-FFF2-40B4-BE49-F238E27FC236}">
                <a16:creationId xmlns:a16="http://schemas.microsoft.com/office/drawing/2014/main" id="{BB3386F7-1407-7C62-2762-A05A1C0C214E}"/>
              </a:ext>
            </a:extLst>
          </p:cNvPr>
          <p:cNvSpPr>
            <a:spLocks noGrp="1"/>
          </p:cNvSpPr>
          <p:nvPr>
            <p:ph type="dt" sz="half" idx="10"/>
          </p:nvPr>
        </p:nvSpPr>
        <p:spPr/>
        <p:txBody>
          <a:bodyPr/>
          <a:lstStyle/>
          <a:p>
            <a:fld id="{43258E2F-8DA4-43DE-BB58-47E2083180AC}" type="datetime1">
              <a:rPr lang="nb-NO" smtClean="0"/>
              <a:t>05.10.2026</a:t>
            </a:fld>
            <a:endParaRPr lang="en-US" dirty="0"/>
          </a:p>
        </p:txBody>
      </p:sp>
      <p:sp>
        <p:nvSpPr>
          <p:cNvPr id="9" name="Footer Placeholder 8">
            <a:extLst>
              <a:ext uri="{FF2B5EF4-FFF2-40B4-BE49-F238E27FC236}">
                <a16:creationId xmlns:a16="http://schemas.microsoft.com/office/drawing/2014/main" id="{3EAC6DAD-DCB7-6B40-055B-4B9921D54BC2}"/>
              </a:ext>
            </a:extLst>
          </p:cNvPr>
          <p:cNvSpPr>
            <a:spLocks noGrp="1"/>
          </p:cNvSpPr>
          <p:nvPr>
            <p:ph type="ftr" sz="quarter" idx="11"/>
          </p:nvPr>
        </p:nvSpPr>
        <p:spPr/>
        <p:txBody>
          <a:bodyPr/>
          <a:lstStyle/>
          <a:p>
            <a:r>
              <a:rPr lang="vi-VN"/>
              <a:t>Chương 7.3. Tìm hiểu thêm về triển khai</a:t>
            </a:r>
          </a:p>
        </p:txBody>
      </p:sp>
      <p:sp>
        <p:nvSpPr>
          <p:cNvPr id="10" name="Slide Number Placeholder 9">
            <a:extLst>
              <a:ext uri="{FF2B5EF4-FFF2-40B4-BE49-F238E27FC236}">
                <a16:creationId xmlns:a16="http://schemas.microsoft.com/office/drawing/2014/main" id="{745758EF-5FBF-11D9-1858-287F652F6209}"/>
              </a:ext>
            </a:extLst>
          </p:cNvPr>
          <p:cNvSpPr>
            <a:spLocks noGrp="1"/>
          </p:cNvSpPr>
          <p:nvPr>
            <p:ph type="sldNum" sz="quarter" idx="12"/>
          </p:nvPr>
        </p:nvSpPr>
        <p:spPr/>
        <p:txBody>
          <a:bodyPr/>
          <a:lstStyle/>
          <a:p>
            <a:fld id="{EC33B370-F672-B743-B3AF-248A63C17270}" type="slidenum">
              <a:rPr lang="en-US" smtClean="0"/>
              <a:pPr/>
              <a:t>32</a:t>
            </a:fld>
            <a:endParaRPr lang="en-US"/>
          </a:p>
        </p:txBody>
      </p:sp>
    </p:spTree>
    <p:extLst>
      <p:ext uri="{BB962C8B-B14F-4D97-AF65-F5344CB8AC3E}">
        <p14:creationId xmlns:p14="http://schemas.microsoft.com/office/powerpoint/2010/main" val="5492427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0AC4B-7A35-43D3-9C28-9C4AA11ACF14}"/>
              </a:ext>
            </a:extLst>
          </p:cNvPr>
          <p:cNvSpPr>
            <a:spLocks noGrp="1"/>
          </p:cNvSpPr>
          <p:nvPr>
            <p:ph type="title"/>
          </p:nvPr>
        </p:nvSpPr>
        <p:spPr/>
        <p:txBody>
          <a:bodyPr/>
          <a:lstStyle/>
          <a:p>
            <a:r>
              <a:rPr lang="vi-VN" altLang="en-US"/>
              <a:t>Primitive Obsession</a:t>
            </a:r>
            <a:endParaRPr lang="en-US"/>
          </a:p>
        </p:txBody>
      </p:sp>
      <p:sp>
        <p:nvSpPr>
          <p:cNvPr id="3" name="Content Placeholder 2">
            <a:extLst>
              <a:ext uri="{FF2B5EF4-FFF2-40B4-BE49-F238E27FC236}">
                <a16:creationId xmlns:a16="http://schemas.microsoft.com/office/drawing/2014/main" id="{F47682E6-397E-4F23-B704-28DD0DBF2510}"/>
              </a:ext>
            </a:extLst>
          </p:cNvPr>
          <p:cNvSpPr>
            <a:spLocks noGrp="1"/>
          </p:cNvSpPr>
          <p:nvPr>
            <p:ph idx="1"/>
          </p:nvPr>
        </p:nvSpPr>
        <p:spPr/>
        <p:txBody>
          <a:bodyPr/>
          <a:lstStyle/>
          <a:p>
            <a:r>
              <a:rPr lang="vi-VN"/>
              <a:t>Trường nguyên thủy (primitive) là các khối xây dựng cơ bản có sẵn của ngôn ngữ, ví dụ: int, string hoặc hằng số</a:t>
            </a:r>
          </a:p>
          <a:p>
            <a:endParaRPr lang="en-US"/>
          </a:p>
          <a:p>
            <a:r>
              <a:rPr lang="vi-VN"/>
              <a:t>Primitive Obsession xảy ra khi code dựa quá nhiều vào kiểu nguyên thủy và dùng kiểu nguyên thủy để biểu diễn một đối tượng trong miền nghiệp vụ</a:t>
            </a:r>
          </a:p>
        </p:txBody>
      </p:sp>
      <p:sp>
        <p:nvSpPr>
          <p:cNvPr id="4" name="Date Placeholder 3">
            <a:extLst>
              <a:ext uri="{FF2B5EF4-FFF2-40B4-BE49-F238E27FC236}">
                <a16:creationId xmlns:a16="http://schemas.microsoft.com/office/drawing/2014/main" id="{240FE55F-A70E-B8A9-B06E-45EE97D4FCA5}"/>
              </a:ext>
            </a:extLst>
          </p:cNvPr>
          <p:cNvSpPr>
            <a:spLocks noGrp="1"/>
          </p:cNvSpPr>
          <p:nvPr>
            <p:ph type="dt" sz="half" idx="10"/>
          </p:nvPr>
        </p:nvSpPr>
        <p:spPr/>
        <p:txBody>
          <a:bodyPr/>
          <a:lstStyle/>
          <a:p>
            <a:fld id="{41CABC01-5AE6-4EB4-BE05-07FBC6FC9053}" type="datetime1">
              <a:rPr lang="nb-NO" smtClean="0"/>
              <a:t>05.10.2026</a:t>
            </a:fld>
            <a:endParaRPr lang="en-US" dirty="0"/>
          </a:p>
        </p:txBody>
      </p:sp>
      <p:sp>
        <p:nvSpPr>
          <p:cNvPr id="5" name="Footer Placeholder 4">
            <a:extLst>
              <a:ext uri="{FF2B5EF4-FFF2-40B4-BE49-F238E27FC236}">
                <a16:creationId xmlns:a16="http://schemas.microsoft.com/office/drawing/2014/main" id="{3F4676AC-7C70-2430-F77E-D5E430874458}"/>
              </a:ext>
            </a:extLst>
          </p:cNvPr>
          <p:cNvSpPr>
            <a:spLocks noGrp="1"/>
          </p:cNvSpPr>
          <p:nvPr>
            <p:ph type="ftr" sz="quarter" idx="11"/>
          </p:nvPr>
        </p:nvSpPr>
        <p:spPr/>
        <p:txBody>
          <a:bodyPr/>
          <a:lstStyle/>
          <a:p>
            <a:r>
              <a:rPr lang="vi-VN"/>
              <a:t>Chương 7.3. Tìm hiểu thêm về triển khai</a:t>
            </a:r>
          </a:p>
        </p:txBody>
      </p:sp>
      <p:sp>
        <p:nvSpPr>
          <p:cNvPr id="6" name="Slide Number Placeholder 5">
            <a:extLst>
              <a:ext uri="{FF2B5EF4-FFF2-40B4-BE49-F238E27FC236}">
                <a16:creationId xmlns:a16="http://schemas.microsoft.com/office/drawing/2014/main" id="{21782EED-061D-9FF0-C7F0-1FB4DBC8E5A6}"/>
              </a:ext>
            </a:extLst>
          </p:cNvPr>
          <p:cNvSpPr>
            <a:spLocks noGrp="1"/>
          </p:cNvSpPr>
          <p:nvPr>
            <p:ph type="sldNum" sz="quarter" idx="12"/>
          </p:nvPr>
        </p:nvSpPr>
        <p:spPr/>
        <p:txBody>
          <a:bodyPr/>
          <a:lstStyle/>
          <a:p>
            <a:fld id="{EC33B370-F672-B743-B3AF-248A63C17270}" type="slidenum">
              <a:rPr lang="en-US" smtClean="0"/>
              <a:pPr/>
              <a:t>33</a:t>
            </a:fld>
            <a:endParaRPr lang="en-US"/>
          </a:p>
        </p:txBody>
      </p:sp>
    </p:spTree>
    <p:extLst>
      <p:ext uri="{BB962C8B-B14F-4D97-AF65-F5344CB8AC3E}">
        <p14:creationId xmlns:p14="http://schemas.microsoft.com/office/powerpoint/2010/main" val="4273794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A screenshot of a cell phone&#10;&#10;Description automatically generated">
            <a:extLst>
              <a:ext uri="{FF2B5EF4-FFF2-40B4-BE49-F238E27FC236}">
                <a16:creationId xmlns:a16="http://schemas.microsoft.com/office/drawing/2014/main" id="{67AE710F-1F06-41E7-8548-7AE33BDC87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9526" y="60391"/>
            <a:ext cx="8460940" cy="6092766"/>
          </a:xfrm>
          <a:prstGeom prst="rect">
            <a:avLst/>
          </a:prstGeom>
        </p:spPr>
      </p:pic>
      <p:sp>
        <p:nvSpPr>
          <p:cNvPr id="4" name="Rectangle 3">
            <a:extLst>
              <a:ext uri="{FF2B5EF4-FFF2-40B4-BE49-F238E27FC236}">
                <a16:creationId xmlns:a16="http://schemas.microsoft.com/office/drawing/2014/main" id="{789781DC-8263-4BAA-ACAE-55C95F304DF6}"/>
              </a:ext>
            </a:extLst>
          </p:cNvPr>
          <p:cNvSpPr/>
          <p:nvPr/>
        </p:nvSpPr>
        <p:spPr>
          <a:xfrm>
            <a:off x="6023992" y="302257"/>
            <a:ext cx="4104456" cy="129614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vi-VN"/>
              <a:t>Địa chỉ được định nghĩa là một mảng.</a:t>
            </a:r>
          </a:p>
          <a:p>
            <a:pPr algn="ctr"/>
            <a:r>
              <a:rPr lang="vi-VN"/>
              <a:t>Mỗi lần cần địa chỉ, chúng ta phải viết cứng (hard code) nó</a:t>
            </a:r>
          </a:p>
        </p:txBody>
      </p:sp>
      <p:cxnSp>
        <p:nvCxnSpPr>
          <p:cNvPr id="6" name="Straight Arrow Connector 5">
            <a:extLst>
              <a:ext uri="{FF2B5EF4-FFF2-40B4-BE49-F238E27FC236}">
                <a16:creationId xmlns:a16="http://schemas.microsoft.com/office/drawing/2014/main" id="{E0CA48CF-671C-44A2-B225-CE08B1EC6FD5}"/>
              </a:ext>
            </a:extLst>
          </p:cNvPr>
          <p:cNvCxnSpPr/>
          <p:nvPr/>
        </p:nvCxnSpPr>
        <p:spPr>
          <a:xfrm flipH="1">
            <a:off x="4611294" y="704843"/>
            <a:ext cx="1386154" cy="3600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B9DEF73C-6A6C-4285-BC1B-1FF89E510828}"/>
              </a:ext>
            </a:extLst>
          </p:cNvPr>
          <p:cNvCxnSpPr>
            <a:stCxn id="4" idx="1"/>
          </p:cNvCxnSpPr>
          <p:nvPr/>
        </p:nvCxnSpPr>
        <p:spPr>
          <a:xfrm flipH="1">
            <a:off x="4349806" y="950329"/>
            <a:ext cx="1674186" cy="25145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BD73F6CF-363C-4DC1-B194-C2DFB815730D}"/>
              </a:ext>
            </a:extLst>
          </p:cNvPr>
          <p:cNvSpPr/>
          <p:nvPr/>
        </p:nvSpPr>
        <p:spPr>
          <a:xfrm>
            <a:off x="1807822" y="6176906"/>
            <a:ext cx="8860178" cy="369332"/>
          </a:xfrm>
          <a:prstGeom prst="rect">
            <a:avLst/>
          </a:prstGeom>
        </p:spPr>
        <p:txBody>
          <a:bodyPr wrap="square">
            <a:spAutoFit/>
          </a:bodyPr>
          <a:lstStyle/>
          <a:p>
            <a:r>
              <a:rPr lang="en-US"/>
              <a:t>https://codeburst.io/write-clean-code-and-get-rid-of-code-smells-aea271f30318</a:t>
            </a:r>
          </a:p>
        </p:txBody>
      </p:sp>
      <p:sp>
        <p:nvSpPr>
          <p:cNvPr id="2" name="Date Placeholder 1">
            <a:extLst>
              <a:ext uri="{FF2B5EF4-FFF2-40B4-BE49-F238E27FC236}">
                <a16:creationId xmlns:a16="http://schemas.microsoft.com/office/drawing/2014/main" id="{AA15BE44-661F-EDE8-7F93-8729A24B5F18}"/>
              </a:ext>
            </a:extLst>
          </p:cNvPr>
          <p:cNvSpPr>
            <a:spLocks noGrp="1"/>
          </p:cNvSpPr>
          <p:nvPr>
            <p:ph type="dt" sz="half" idx="10"/>
          </p:nvPr>
        </p:nvSpPr>
        <p:spPr/>
        <p:txBody>
          <a:bodyPr/>
          <a:lstStyle/>
          <a:p>
            <a:fld id="{27D773C7-1711-4CED-9ADD-F7EC06FA7D39}" type="datetime1">
              <a:rPr lang="nb-NO" smtClean="0"/>
              <a:t>05.10.2026</a:t>
            </a:fld>
            <a:endParaRPr lang="en-US" dirty="0"/>
          </a:p>
        </p:txBody>
      </p:sp>
      <p:sp>
        <p:nvSpPr>
          <p:cNvPr id="5" name="Footer Placeholder 4">
            <a:extLst>
              <a:ext uri="{FF2B5EF4-FFF2-40B4-BE49-F238E27FC236}">
                <a16:creationId xmlns:a16="http://schemas.microsoft.com/office/drawing/2014/main" id="{26A0C11C-325E-6E93-8950-4F6FDDBC25A4}"/>
              </a:ext>
            </a:extLst>
          </p:cNvPr>
          <p:cNvSpPr>
            <a:spLocks noGrp="1"/>
          </p:cNvSpPr>
          <p:nvPr>
            <p:ph type="ftr" sz="quarter" idx="11"/>
          </p:nvPr>
        </p:nvSpPr>
        <p:spPr/>
        <p:txBody>
          <a:bodyPr/>
          <a:lstStyle/>
          <a:p>
            <a:r>
              <a:rPr lang="vi-VN"/>
              <a:t>Chương 7.3. Tìm hiểu thêm về triển khai</a:t>
            </a:r>
          </a:p>
        </p:txBody>
      </p:sp>
      <p:sp>
        <p:nvSpPr>
          <p:cNvPr id="7" name="Slide Number Placeholder 6">
            <a:extLst>
              <a:ext uri="{FF2B5EF4-FFF2-40B4-BE49-F238E27FC236}">
                <a16:creationId xmlns:a16="http://schemas.microsoft.com/office/drawing/2014/main" id="{95C24290-8A5F-06C6-23D1-82FD76FEB786}"/>
              </a:ext>
            </a:extLst>
          </p:cNvPr>
          <p:cNvSpPr>
            <a:spLocks noGrp="1"/>
          </p:cNvSpPr>
          <p:nvPr>
            <p:ph type="sldNum" sz="quarter" idx="12"/>
          </p:nvPr>
        </p:nvSpPr>
        <p:spPr/>
        <p:txBody>
          <a:bodyPr/>
          <a:lstStyle/>
          <a:p>
            <a:fld id="{EC33B370-F672-B743-B3AF-248A63C17270}" type="slidenum">
              <a:rPr lang="en-US" smtClean="0"/>
              <a:pPr/>
              <a:t>34</a:t>
            </a:fld>
            <a:endParaRPr lang="en-US"/>
          </a:p>
        </p:txBody>
      </p:sp>
    </p:spTree>
    <p:extLst>
      <p:ext uri="{BB962C8B-B14F-4D97-AF65-F5344CB8AC3E}">
        <p14:creationId xmlns:p14="http://schemas.microsoft.com/office/powerpoint/2010/main" val="15175429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A screenshot of a cell phone&#10;&#10;Description automatically generated">
            <a:extLst>
              <a:ext uri="{FF2B5EF4-FFF2-40B4-BE49-F238E27FC236}">
                <a16:creationId xmlns:a16="http://schemas.microsoft.com/office/drawing/2014/main" id="{86FC9953-8335-4E49-AAF6-36209B4A70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3512" y="332657"/>
            <a:ext cx="8568952" cy="5656169"/>
          </a:xfrm>
          <a:prstGeom prst="rect">
            <a:avLst/>
          </a:prstGeom>
        </p:spPr>
      </p:pic>
      <p:sp>
        <p:nvSpPr>
          <p:cNvPr id="4" name="Rectangle 3">
            <a:extLst>
              <a:ext uri="{FF2B5EF4-FFF2-40B4-BE49-F238E27FC236}">
                <a16:creationId xmlns:a16="http://schemas.microsoft.com/office/drawing/2014/main" id="{F396C8AA-2697-4FE7-A8BA-A7EFFE436591}"/>
              </a:ext>
            </a:extLst>
          </p:cNvPr>
          <p:cNvSpPr/>
          <p:nvPr/>
        </p:nvSpPr>
        <p:spPr>
          <a:xfrm>
            <a:off x="1807822" y="6154432"/>
            <a:ext cx="8860178" cy="369332"/>
          </a:xfrm>
          <a:prstGeom prst="rect">
            <a:avLst/>
          </a:prstGeom>
        </p:spPr>
        <p:txBody>
          <a:bodyPr wrap="square">
            <a:spAutoFit/>
          </a:bodyPr>
          <a:lstStyle/>
          <a:p>
            <a:r>
              <a:rPr lang="en-US"/>
              <a:t>https://codeburst.io/write-clean-code-and-get-rid-of-code-smells-aea271f30318</a:t>
            </a:r>
          </a:p>
        </p:txBody>
      </p:sp>
      <p:sp>
        <p:nvSpPr>
          <p:cNvPr id="5" name="Rectangle 4">
            <a:extLst>
              <a:ext uri="{FF2B5EF4-FFF2-40B4-BE49-F238E27FC236}">
                <a16:creationId xmlns:a16="http://schemas.microsoft.com/office/drawing/2014/main" id="{B20342EB-88DA-4151-8E14-7C5FABB93D86}"/>
              </a:ext>
            </a:extLst>
          </p:cNvPr>
          <p:cNvSpPr/>
          <p:nvPr/>
        </p:nvSpPr>
        <p:spPr>
          <a:xfrm>
            <a:off x="6023697" y="620688"/>
            <a:ext cx="4104456" cy="129614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vi-VN"/>
              <a:t>Chúng ta tạo một lớp mới tên là Address</a:t>
            </a:r>
          </a:p>
          <a:p>
            <a:pPr algn="ctr"/>
            <a:r>
              <a:rPr lang="vi-VN"/>
              <a:t>Mỗi lần cần thêm/sửa địa chỉ, chúng ta chỉ cần tác động vào lớp Address</a:t>
            </a:r>
          </a:p>
        </p:txBody>
      </p:sp>
      <p:cxnSp>
        <p:nvCxnSpPr>
          <p:cNvPr id="7" name="Straight Arrow Connector 6">
            <a:extLst>
              <a:ext uri="{FF2B5EF4-FFF2-40B4-BE49-F238E27FC236}">
                <a16:creationId xmlns:a16="http://schemas.microsoft.com/office/drawing/2014/main" id="{A1187A75-E836-4381-8101-F7EC06F08957}"/>
              </a:ext>
            </a:extLst>
          </p:cNvPr>
          <p:cNvCxnSpPr/>
          <p:nvPr/>
        </p:nvCxnSpPr>
        <p:spPr>
          <a:xfrm flipH="1" flipV="1">
            <a:off x="2999656" y="548680"/>
            <a:ext cx="2988332" cy="7200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 name="Date Placeholder 1">
            <a:extLst>
              <a:ext uri="{FF2B5EF4-FFF2-40B4-BE49-F238E27FC236}">
                <a16:creationId xmlns:a16="http://schemas.microsoft.com/office/drawing/2014/main" id="{8FD6B98F-2B42-D05B-1815-75A1C32A3481}"/>
              </a:ext>
            </a:extLst>
          </p:cNvPr>
          <p:cNvSpPr>
            <a:spLocks noGrp="1"/>
          </p:cNvSpPr>
          <p:nvPr>
            <p:ph type="dt" sz="half" idx="10"/>
          </p:nvPr>
        </p:nvSpPr>
        <p:spPr/>
        <p:txBody>
          <a:bodyPr/>
          <a:lstStyle/>
          <a:p>
            <a:fld id="{D8C1FAFB-8A7D-4DD0-9742-4F4C5812FB94}" type="datetime1">
              <a:rPr lang="nb-NO" smtClean="0"/>
              <a:t>05.10.2026</a:t>
            </a:fld>
            <a:endParaRPr lang="en-US" dirty="0"/>
          </a:p>
        </p:txBody>
      </p:sp>
      <p:sp>
        <p:nvSpPr>
          <p:cNvPr id="6" name="Footer Placeholder 5">
            <a:extLst>
              <a:ext uri="{FF2B5EF4-FFF2-40B4-BE49-F238E27FC236}">
                <a16:creationId xmlns:a16="http://schemas.microsoft.com/office/drawing/2014/main" id="{4FCDF99A-037F-F244-E346-353022B46029}"/>
              </a:ext>
            </a:extLst>
          </p:cNvPr>
          <p:cNvSpPr>
            <a:spLocks noGrp="1"/>
          </p:cNvSpPr>
          <p:nvPr>
            <p:ph type="ftr" sz="quarter" idx="11"/>
          </p:nvPr>
        </p:nvSpPr>
        <p:spPr/>
        <p:txBody>
          <a:bodyPr/>
          <a:lstStyle/>
          <a:p>
            <a:r>
              <a:rPr lang="vi-VN"/>
              <a:t>Chương 7.3. Tìm hiểu thêm về triển khai</a:t>
            </a:r>
          </a:p>
        </p:txBody>
      </p:sp>
      <p:sp>
        <p:nvSpPr>
          <p:cNvPr id="8" name="Slide Number Placeholder 7">
            <a:extLst>
              <a:ext uri="{FF2B5EF4-FFF2-40B4-BE49-F238E27FC236}">
                <a16:creationId xmlns:a16="http://schemas.microsoft.com/office/drawing/2014/main" id="{2E19E0BA-2AC9-4044-E81D-6F57CB8E50F2}"/>
              </a:ext>
            </a:extLst>
          </p:cNvPr>
          <p:cNvSpPr>
            <a:spLocks noGrp="1"/>
          </p:cNvSpPr>
          <p:nvPr>
            <p:ph type="sldNum" sz="quarter" idx="12"/>
          </p:nvPr>
        </p:nvSpPr>
        <p:spPr/>
        <p:txBody>
          <a:bodyPr/>
          <a:lstStyle/>
          <a:p>
            <a:fld id="{EC33B370-F672-B743-B3AF-248A63C17270}" type="slidenum">
              <a:rPr lang="en-US" smtClean="0"/>
              <a:pPr/>
              <a:t>35</a:t>
            </a:fld>
            <a:endParaRPr lang="en-US"/>
          </a:p>
        </p:txBody>
      </p:sp>
    </p:spTree>
    <p:extLst>
      <p:ext uri="{BB962C8B-B14F-4D97-AF65-F5344CB8AC3E}">
        <p14:creationId xmlns:p14="http://schemas.microsoft.com/office/powerpoint/2010/main" val="13259987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Inspection là gì?</a:t>
            </a:r>
          </a:p>
        </p:txBody>
      </p:sp>
      <p:sp>
        <p:nvSpPr>
          <p:cNvPr id="3" name="Content Placeholder 2"/>
          <p:cNvSpPr>
            <a:spLocks noGrp="1"/>
          </p:cNvSpPr>
          <p:nvPr>
            <p:ph idx="1"/>
          </p:nvPr>
        </p:nvSpPr>
        <p:spPr/>
        <p:txBody>
          <a:bodyPr/>
          <a:lstStyle/>
          <a:p>
            <a:r>
              <a:rPr lang="vi-VN" sz="2800" dirty="0"/>
              <a:t>Kiểm tra bằng mắt sản phẩm phần mềm</a:t>
            </a:r>
          </a:p>
          <a:p>
            <a:r>
              <a:rPr lang="vi-VN" sz="2800" dirty="0"/>
              <a:t>Xác định các điểm bất thường của phần mềm</a:t>
            </a:r>
          </a:p>
          <a:p>
            <a:pPr lvl="1"/>
            <a:r>
              <a:rPr lang="vi-VN" sz="2400" dirty="0"/>
              <a:t>Lỗi</a:t>
            </a:r>
          </a:p>
          <a:p>
            <a:pPr lvl="1"/>
            <a:r>
              <a:rPr lang="vi-VN" sz="2400" dirty="0"/>
              <a:t>Code smell</a:t>
            </a:r>
          </a:p>
          <a:p>
            <a:pPr lvl="1"/>
            <a:r>
              <a:rPr lang="vi-VN" sz="2400" dirty="0"/>
              <a:t>Sai lệch so với đặc tả</a:t>
            </a:r>
          </a:p>
          <a:p>
            <a:pPr lvl="1"/>
            <a:r>
              <a:rPr lang="vi-VN" sz="2400" dirty="0"/>
              <a:t>Sai lệch so với tiêu chuẩn</a:t>
            </a:r>
          </a:p>
          <a:p>
            <a:pPr lvl="2"/>
            <a:r>
              <a:rPr lang="vi-VN" dirty="0"/>
              <a:t>Vd: quy ước code Java</a:t>
            </a:r>
          </a:p>
          <a:p>
            <a:pPr marL="914400" lvl="2" indent="0">
              <a:buNone/>
            </a:pPr>
            <a:r>
              <a:rPr lang="en-US" dirty="0">
                <a:hlinkClick r:id="rId3"/>
              </a:rPr>
              <a:t>www.oracle.com/technetwork/java/codeconventions-150003.pdf</a:t>
            </a:r>
            <a:endParaRPr lang="en-US" dirty="0"/>
          </a:p>
          <a:p>
            <a:pPr marL="457200" lvl="1" indent="0">
              <a:buNone/>
            </a:pPr>
            <a:endParaRPr lang="en-US" dirty="0"/>
          </a:p>
        </p:txBody>
      </p:sp>
      <p:sp>
        <p:nvSpPr>
          <p:cNvPr id="4" name="Date Placeholder 3">
            <a:extLst>
              <a:ext uri="{FF2B5EF4-FFF2-40B4-BE49-F238E27FC236}">
                <a16:creationId xmlns:a16="http://schemas.microsoft.com/office/drawing/2014/main" id="{816AE4A4-E890-1532-8B18-E0314F8B1A4B}"/>
              </a:ext>
            </a:extLst>
          </p:cNvPr>
          <p:cNvSpPr>
            <a:spLocks noGrp="1"/>
          </p:cNvSpPr>
          <p:nvPr>
            <p:ph type="dt" sz="half" idx="10"/>
          </p:nvPr>
        </p:nvSpPr>
        <p:spPr/>
        <p:txBody>
          <a:bodyPr/>
          <a:lstStyle/>
          <a:p>
            <a:fld id="{1D8A6026-FDF3-48D8-98E0-02889C6EC785}" type="datetime1">
              <a:rPr lang="nb-NO" smtClean="0"/>
              <a:t>05.10.2026</a:t>
            </a:fld>
            <a:endParaRPr lang="en-US" dirty="0"/>
          </a:p>
        </p:txBody>
      </p:sp>
      <p:sp>
        <p:nvSpPr>
          <p:cNvPr id="5" name="Footer Placeholder 4">
            <a:extLst>
              <a:ext uri="{FF2B5EF4-FFF2-40B4-BE49-F238E27FC236}">
                <a16:creationId xmlns:a16="http://schemas.microsoft.com/office/drawing/2014/main" id="{8C98818D-5801-0CCE-ACCC-FA679B0AE29B}"/>
              </a:ext>
            </a:extLst>
          </p:cNvPr>
          <p:cNvSpPr>
            <a:spLocks noGrp="1"/>
          </p:cNvSpPr>
          <p:nvPr>
            <p:ph type="ftr" sz="quarter" idx="11"/>
          </p:nvPr>
        </p:nvSpPr>
        <p:spPr/>
        <p:txBody>
          <a:bodyPr/>
          <a:lstStyle/>
          <a:p>
            <a:r>
              <a:rPr lang="vi-VN"/>
              <a:t>Chương 7.3. Tìm hiểu thêm về triển khai</a:t>
            </a:r>
          </a:p>
        </p:txBody>
      </p:sp>
      <p:sp>
        <p:nvSpPr>
          <p:cNvPr id="6" name="Slide Number Placeholder 5">
            <a:extLst>
              <a:ext uri="{FF2B5EF4-FFF2-40B4-BE49-F238E27FC236}">
                <a16:creationId xmlns:a16="http://schemas.microsoft.com/office/drawing/2014/main" id="{C07D9BBB-9CB7-6F70-1D8A-22C43527A9C2}"/>
              </a:ext>
            </a:extLst>
          </p:cNvPr>
          <p:cNvSpPr>
            <a:spLocks noGrp="1"/>
          </p:cNvSpPr>
          <p:nvPr>
            <p:ph type="sldNum" sz="quarter" idx="12"/>
          </p:nvPr>
        </p:nvSpPr>
        <p:spPr/>
        <p:txBody>
          <a:bodyPr/>
          <a:lstStyle/>
          <a:p>
            <a:fld id="{EC33B370-F672-B743-B3AF-248A63C17270}" type="slidenum">
              <a:rPr lang="en-US" smtClean="0"/>
              <a:pPr/>
              <a:t>36</a:t>
            </a:fld>
            <a:endParaRPr lang="en-US"/>
          </a:p>
        </p:txBody>
      </p:sp>
    </p:spTree>
    <p:extLst>
      <p:ext uri="{BB962C8B-B14F-4D97-AF65-F5344CB8AC3E}">
        <p14:creationId xmlns:p14="http://schemas.microsoft.com/office/powerpoint/2010/main" val="18727806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Vì sao cần inspection?</a:t>
            </a:r>
          </a:p>
        </p:txBody>
      </p:sp>
      <p:sp>
        <p:nvSpPr>
          <p:cNvPr id="3" name="Content Placeholder 2"/>
          <p:cNvSpPr>
            <a:spLocks noGrp="1"/>
          </p:cNvSpPr>
          <p:nvPr>
            <p:ph idx="1"/>
          </p:nvPr>
        </p:nvSpPr>
        <p:spPr/>
        <p:txBody>
          <a:bodyPr>
            <a:normAutofit fontScale="92500"/>
          </a:bodyPr>
          <a:lstStyle/>
          <a:p>
            <a:r>
              <a:rPr lang="vi-VN" dirty="0"/>
              <a:t>Nhiều software artifact không thể được kiểm chứng bằng cách chạy test, ví dụ </a:t>
            </a:r>
          </a:p>
          <a:p>
            <a:pPr lvl="1"/>
            <a:r>
              <a:rPr lang="vi-VN" dirty="0"/>
              <a:t>Đặc tả yêu cầu</a:t>
            </a:r>
          </a:p>
          <a:p>
            <a:pPr lvl="1"/>
            <a:r>
              <a:rPr lang="vi-VN" dirty="0"/>
              <a:t>Thiết kế</a:t>
            </a:r>
          </a:p>
          <a:p>
            <a:pPr lvl="1"/>
            <a:r>
              <a:rPr lang="vi-VN" altLang="nb-NO" dirty="0">
                <a:cs typeface="Arial" panose="020B0604020202020204" pitchFamily="34" charset="0"/>
              </a:rPr>
              <a:t>Mã giả (pseudocode)</a:t>
            </a:r>
            <a:endParaRPr lang="en-US" dirty="0"/>
          </a:p>
          <a:p>
            <a:pPr lvl="1"/>
            <a:r>
              <a:rPr lang="vi-VN" dirty="0"/>
              <a:t>Tài liệu hướng dẫn sử dụng</a:t>
            </a:r>
          </a:p>
          <a:p>
            <a:r>
              <a:rPr lang="vi-VN" dirty="0"/>
              <a:t>Inspection làm giảm tỷ lệ lỗi</a:t>
            </a:r>
          </a:p>
          <a:p>
            <a:r>
              <a:rPr lang="vi-VN" dirty="0"/>
              <a:t>Inspection bổ sung cho testing </a:t>
            </a:r>
          </a:p>
          <a:p>
            <a:r>
              <a:rPr lang="vi-VN" dirty="0"/>
              <a:t>Inspection phát hiện code smell</a:t>
            </a:r>
          </a:p>
          <a:p>
            <a:r>
              <a:rPr lang="vi-VN" dirty="0"/>
              <a:t>Inspection mang lại thêm các lợi ích khác</a:t>
            </a:r>
          </a:p>
          <a:p>
            <a:endParaRPr lang="en-US" dirty="0"/>
          </a:p>
        </p:txBody>
      </p:sp>
      <p:sp>
        <p:nvSpPr>
          <p:cNvPr id="4" name="Date Placeholder 3">
            <a:extLst>
              <a:ext uri="{FF2B5EF4-FFF2-40B4-BE49-F238E27FC236}">
                <a16:creationId xmlns:a16="http://schemas.microsoft.com/office/drawing/2014/main" id="{CB116667-EAEB-306B-221A-B86E0EEF3FEF}"/>
              </a:ext>
            </a:extLst>
          </p:cNvPr>
          <p:cNvSpPr>
            <a:spLocks noGrp="1"/>
          </p:cNvSpPr>
          <p:nvPr>
            <p:ph type="dt" sz="half" idx="10"/>
          </p:nvPr>
        </p:nvSpPr>
        <p:spPr/>
        <p:txBody>
          <a:bodyPr/>
          <a:lstStyle/>
          <a:p>
            <a:fld id="{40FA0BFF-5D7E-470C-AB5D-67B80BA5B33F}" type="datetime1">
              <a:rPr lang="nb-NO" smtClean="0"/>
              <a:t>05.10.2026</a:t>
            </a:fld>
            <a:endParaRPr lang="en-US" dirty="0"/>
          </a:p>
        </p:txBody>
      </p:sp>
      <p:sp>
        <p:nvSpPr>
          <p:cNvPr id="5" name="Footer Placeholder 4">
            <a:extLst>
              <a:ext uri="{FF2B5EF4-FFF2-40B4-BE49-F238E27FC236}">
                <a16:creationId xmlns:a16="http://schemas.microsoft.com/office/drawing/2014/main" id="{95EE6020-772A-AE98-F2CD-EB0A863BDE9B}"/>
              </a:ext>
            </a:extLst>
          </p:cNvPr>
          <p:cNvSpPr>
            <a:spLocks noGrp="1"/>
          </p:cNvSpPr>
          <p:nvPr>
            <p:ph type="ftr" sz="quarter" idx="11"/>
          </p:nvPr>
        </p:nvSpPr>
        <p:spPr/>
        <p:txBody>
          <a:bodyPr/>
          <a:lstStyle/>
          <a:p>
            <a:r>
              <a:rPr lang="vi-VN"/>
              <a:t>Chương 7.3. Tìm hiểu thêm về triển khai</a:t>
            </a:r>
          </a:p>
        </p:txBody>
      </p:sp>
      <p:sp>
        <p:nvSpPr>
          <p:cNvPr id="6" name="Slide Number Placeholder 5">
            <a:extLst>
              <a:ext uri="{FF2B5EF4-FFF2-40B4-BE49-F238E27FC236}">
                <a16:creationId xmlns:a16="http://schemas.microsoft.com/office/drawing/2014/main" id="{B0139A7E-63BC-71DA-0F06-95E08C677CF8}"/>
              </a:ext>
            </a:extLst>
          </p:cNvPr>
          <p:cNvSpPr>
            <a:spLocks noGrp="1"/>
          </p:cNvSpPr>
          <p:nvPr>
            <p:ph type="sldNum" sz="quarter" idx="12"/>
          </p:nvPr>
        </p:nvSpPr>
        <p:spPr/>
        <p:txBody>
          <a:bodyPr/>
          <a:lstStyle/>
          <a:p>
            <a:fld id="{EC33B370-F672-B743-B3AF-248A63C17270}" type="slidenum">
              <a:rPr lang="en-US" smtClean="0"/>
              <a:pPr/>
              <a:t>37</a:t>
            </a:fld>
            <a:endParaRPr lang="en-US"/>
          </a:p>
        </p:txBody>
      </p:sp>
    </p:spTree>
    <p:extLst>
      <p:ext uri="{BB962C8B-B14F-4D97-AF65-F5344CB8AC3E}">
        <p14:creationId xmlns:p14="http://schemas.microsoft.com/office/powerpoint/2010/main" val="1524341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Inspection tìm ra các loại lỗi khác với testing</a:t>
            </a:r>
          </a:p>
        </p:txBody>
      </p:sp>
      <p:graphicFrame>
        <p:nvGraphicFramePr>
          <p:cNvPr id="6" name="Content Placeholder 5"/>
          <p:cNvGraphicFramePr>
            <a:graphicFrameLocks noGrp="1"/>
          </p:cNvGraphicFramePr>
          <p:nvPr>
            <p:ph idx="1"/>
          </p:nvPr>
        </p:nvGraphicFramePr>
        <p:xfrm>
          <a:off x="1946005" y="2996952"/>
          <a:ext cx="8229600" cy="2592288"/>
        </p:xfrm>
        <a:graphic>
          <a:graphicData uri="http://schemas.openxmlformats.org/drawingml/2006/table">
            <a:tbl>
              <a:tblPr firstRow="1" bandRow="1">
                <a:tableStyleId>{5C22544A-7EE6-4342-B048-85BDC9FD1C3A}</a:tableStyleId>
              </a:tblPr>
              <a:tblGrid>
                <a:gridCol w="5158107">
                  <a:extLst>
                    <a:ext uri="{9D8B030D-6E8A-4147-A177-3AD203B41FA5}">
                      <a16:colId xmlns:a16="http://schemas.microsoft.com/office/drawing/2014/main" val="2060008497"/>
                    </a:ext>
                  </a:extLst>
                </a:gridCol>
                <a:gridCol w="1584176">
                  <a:extLst>
                    <a:ext uri="{9D8B030D-6E8A-4147-A177-3AD203B41FA5}">
                      <a16:colId xmlns:a16="http://schemas.microsoft.com/office/drawing/2014/main" val="4062320833"/>
                    </a:ext>
                  </a:extLst>
                </a:gridCol>
                <a:gridCol w="1487317">
                  <a:extLst>
                    <a:ext uri="{9D8B030D-6E8A-4147-A177-3AD203B41FA5}">
                      <a16:colId xmlns:a16="http://schemas.microsoft.com/office/drawing/2014/main" val="4051878696"/>
                    </a:ext>
                  </a:extLst>
                </a:gridCol>
              </a:tblGrid>
              <a:tr h="44933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vi-VN" sz="2000" b="1"/>
                        <a:t>Một số loại lỗi</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vi-VN" sz="2000"/>
                        <a:t>Testing</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vi-VN" sz="2000"/>
                        <a:t>Inspection</a:t>
                      </a:r>
                    </a:p>
                  </a:txBody>
                  <a:tcPr/>
                </a:tc>
                <a:extLst>
                  <a:ext uri="{0D108BD9-81ED-4DB2-BD59-A6C34878D82A}">
                    <a16:rowId xmlns:a16="http://schemas.microsoft.com/office/drawing/2014/main" val="95210743"/>
                  </a:ext>
                </a:extLst>
              </a:tr>
              <a:tr h="44933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vi-VN" sz="2000"/>
                        <a:t>Biến chưa khởi tạo</a:t>
                      </a:r>
                      <a:endParaRPr lang="en-US" sz="200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a:t>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a:t>4</a:t>
                      </a:r>
                    </a:p>
                  </a:txBody>
                  <a:tcPr/>
                </a:tc>
                <a:extLst>
                  <a:ext uri="{0D108BD9-81ED-4DB2-BD59-A6C34878D82A}">
                    <a16:rowId xmlns:a16="http://schemas.microsoft.com/office/drawing/2014/main" val="3407723000"/>
                  </a:ext>
                </a:extLst>
              </a:tr>
              <a:tr h="449330">
                <a:tc>
                  <a:txBody>
                    <a:bodyPr/>
                    <a:lstStyle/>
                    <a:p>
                      <a:r>
                        <a:rPr lang="vi-VN" sz="2000"/>
                        <a:t>Hành vi bất hợp lệ, ví dụ chia cho 0</a:t>
                      </a:r>
                      <a:endParaRPr lang="en-US" sz="2000"/>
                    </a:p>
                  </a:txBody>
                  <a:tcPr/>
                </a:tc>
                <a:tc>
                  <a:txBody>
                    <a:bodyPr/>
                    <a:lstStyle/>
                    <a:p>
                      <a:r>
                        <a:rPr lang="en-US" sz="2000"/>
                        <a:t>49</a:t>
                      </a:r>
                    </a:p>
                  </a:txBody>
                  <a:tcPr/>
                </a:tc>
                <a:tc>
                  <a:txBody>
                    <a:bodyPr/>
                    <a:lstStyle/>
                    <a:p>
                      <a:r>
                        <a:rPr lang="en-US" sz="2000"/>
                        <a:t>20</a:t>
                      </a:r>
                    </a:p>
                  </a:txBody>
                  <a:tcPr/>
                </a:tc>
                <a:extLst>
                  <a:ext uri="{0D108BD9-81ED-4DB2-BD59-A6C34878D82A}">
                    <a16:rowId xmlns:a16="http://schemas.microsoft.com/office/drawing/2014/main" val="2870597957"/>
                  </a:ext>
                </a:extLst>
              </a:tr>
              <a:tr h="449330">
                <a:tc>
                  <a:txBody>
                    <a:bodyPr/>
                    <a:lstStyle/>
                    <a:p>
                      <a:r>
                        <a:rPr lang="vi-VN" sz="2000"/>
                        <a:t>Điều kiện rẽ nhánh được viết sai</a:t>
                      </a:r>
                    </a:p>
                  </a:txBody>
                  <a:tcPr/>
                </a:tc>
                <a:tc>
                  <a:txBody>
                    <a:bodyPr/>
                    <a:lstStyle/>
                    <a:p>
                      <a:r>
                        <a:rPr lang="en-US" sz="2000"/>
                        <a:t>2</a:t>
                      </a:r>
                    </a:p>
                  </a:txBody>
                  <a:tcPr/>
                </a:tc>
                <a:tc>
                  <a:txBody>
                    <a:bodyPr/>
                    <a:lstStyle/>
                    <a:p>
                      <a:r>
                        <a:rPr lang="en-US" sz="2000"/>
                        <a:t>13</a:t>
                      </a:r>
                    </a:p>
                  </a:txBody>
                  <a:tcPr/>
                </a:tc>
                <a:extLst>
                  <a:ext uri="{0D108BD9-81ED-4DB2-BD59-A6C34878D82A}">
                    <a16:rowId xmlns:a16="http://schemas.microsoft.com/office/drawing/2014/main" val="562003620"/>
                  </a:ext>
                </a:extLst>
              </a:tr>
              <a:tr h="794968">
                <a:tc>
                  <a:txBody>
                    <a:bodyPr/>
                    <a:lstStyle/>
                    <a:p>
                      <a:r>
                        <a:rPr lang="vi-VN" sz="2000"/>
                        <a:t>Thiếu nhánh, gồm cả các điều kiện và các câu lệnh nằm trong chúng</a:t>
                      </a:r>
                      <a:endParaRPr lang="en-US" sz="2000"/>
                    </a:p>
                  </a:txBody>
                  <a:tcPr/>
                </a:tc>
                <a:tc>
                  <a:txBody>
                    <a:bodyPr/>
                    <a:lstStyle/>
                    <a:p>
                      <a:r>
                        <a:rPr lang="en-US" sz="2000"/>
                        <a:t>4</a:t>
                      </a:r>
                    </a:p>
                  </a:txBody>
                  <a:tcPr/>
                </a:tc>
                <a:tc>
                  <a:txBody>
                    <a:bodyPr/>
                    <a:lstStyle/>
                    <a:p>
                      <a:r>
                        <a:rPr lang="en-US" sz="2000"/>
                        <a:t>10</a:t>
                      </a:r>
                    </a:p>
                  </a:txBody>
                  <a:tcPr/>
                </a:tc>
                <a:extLst>
                  <a:ext uri="{0D108BD9-81ED-4DB2-BD59-A6C34878D82A}">
                    <a16:rowId xmlns:a16="http://schemas.microsoft.com/office/drawing/2014/main" val="3909542041"/>
                  </a:ext>
                </a:extLst>
              </a:tr>
            </a:tbl>
          </a:graphicData>
        </a:graphic>
      </p:graphicFrame>
      <p:sp>
        <p:nvSpPr>
          <p:cNvPr id="7" name="TextBox 6"/>
          <p:cNvSpPr txBox="1"/>
          <p:nvPr/>
        </p:nvSpPr>
        <p:spPr>
          <a:xfrm>
            <a:off x="2042864" y="2276872"/>
            <a:ext cx="8260632" cy="400110"/>
          </a:xfrm>
          <a:prstGeom prst="rect">
            <a:avLst/>
          </a:prstGeom>
          <a:noFill/>
        </p:spPr>
        <p:txBody>
          <a:bodyPr wrap="square" rtlCol="0">
            <a:spAutoFit/>
          </a:bodyPr>
          <a:lstStyle/>
          <a:p>
            <a:r>
              <a:rPr lang="vi-VN" sz="2000" dirty="0"/>
              <a:t>Số lượng các loại lỗi khác nhau được phát hiện bằng testing so với inspection</a:t>
            </a:r>
            <a:endParaRPr lang="en-US" sz="2000" baseline="30000" dirty="0"/>
          </a:p>
        </p:txBody>
      </p:sp>
      <p:sp>
        <p:nvSpPr>
          <p:cNvPr id="3" name="Date Placeholder 2">
            <a:extLst>
              <a:ext uri="{FF2B5EF4-FFF2-40B4-BE49-F238E27FC236}">
                <a16:creationId xmlns:a16="http://schemas.microsoft.com/office/drawing/2014/main" id="{19305F69-20AB-45D4-F36C-2FA367B9CC75}"/>
              </a:ext>
            </a:extLst>
          </p:cNvPr>
          <p:cNvSpPr>
            <a:spLocks noGrp="1"/>
          </p:cNvSpPr>
          <p:nvPr>
            <p:ph type="dt" sz="half" idx="10"/>
          </p:nvPr>
        </p:nvSpPr>
        <p:spPr/>
        <p:txBody>
          <a:bodyPr/>
          <a:lstStyle/>
          <a:p>
            <a:fld id="{5C7664EF-4018-4AB9-8EAE-7F4CCCAE9D34}" type="datetime1">
              <a:rPr lang="nb-NO" smtClean="0"/>
              <a:t>05.10.2026</a:t>
            </a:fld>
            <a:endParaRPr lang="en-US" dirty="0"/>
          </a:p>
        </p:txBody>
      </p:sp>
      <p:sp>
        <p:nvSpPr>
          <p:cNvPr id="4" name="Footer Placeholder 3">
            <a:extLst>
              <a:ext uri="{FF2B5EF4-FFF2-40B4-BE49-F238E27FC236}">
                <a16:creationId xmlns:a16="http://schemas.microsoft.com/office/drawing/2014/main" id="{0EBB33F2-F09D-9761-75BF-BCF89762718C}"/>
              </a:ext>
            </a:extLst>
          </p:cNvPr>
          <p:cNvSpPr>
            <a:spLocks noGrp="1"/>
          </p:cNvSpPr>
          <p:nvPr>
            <p:ph type="ftr" sz="quarter" idx="11"/>
          </p:nvPr>
        </p:nvSpPr>
        <p:spPr/>
        <p:txBody>
          <a:bodyPr/>
          <a:lstStyle/>
          <a:p>
            <a:r>
              <a:rPr lang="vi-VN"/>
              <a:t>Chương 7.3. Tìm hiểu thêm về triển khai</a:t>
            </a:r>
          </a:p>
        </p:txBody>
      </p:sp>
      <p:sp>
        <p:nvSpPr>
          <p:cNvPr id="5" name="Slide Number Placeholder 4">
            <a:extLst>
              <a:ext uri="{FF2B5EF4-FFF2-40B4-BE49-F238E27FC236}">
                <a16:creationId xmlns:a16="http://schemas.microsoft.com/office/drawing/2014/main" id="{A2D64AF7-4943-C695-5EAA-A8C5045B0534}"/>
              </a:ext>
            </a:extLst>
          </p:cNvPr>
          <p:cNvSpPr>
            <a:spLocks noGrp="1"/>
          </p:cNvSpPr>
          <p:nvPr>
            <p:ph type="sldNum" sz="quarter" idx="12"/>
          </p:nvPr>
        </p:nvSpPr>
        <p:spPr/>
        <p:txBody>
          <a:bodyPr/>
          <a:lstStyle/>
          <a:p>
            <a:fld id="{EC33B370-F672-B743-B3AF-248A63C17270}" type="slidenum">
              <a:rPr lang="en-US" smtClean="0"/>
              <a:pPr/>
              <a:t>38</a:t>
            </a:fld>
            <a:endParaRPr lang="en-US"/>
          </a:p>
        </p:txBody>
      </p:sp>
    </p:spTree>
    <p:extLst>
      <p:ext uri="{BB962C8B-B14F-4D97-AF65-F5344CB8AC3E}">
        <p14:creationId xmlns:p14="http://schemas.microsoft.com/office/powerpoint/2010/main" val="30621324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Inspection làm giảm tỷ lệ lỗi</a:t>
            </a:r>
          </a:p>
        </p:txBody>
      </p:sp>
      <p:pic>
        <p:nvPicPr>
          <p:cNvPr id="4" name="Picture 3"/>
          <p:cNvPicPr>
            <a:picLocks noChangeAspect="1"/>
          </p:cNvPicPr>
          <p:nvPr/>
        </p:nvPicPr>
        <p:blipFill>
          <a:blip r:embed="rId2"/>
          <a:stretch>
            <a:fillRect/>
          </a:stretch>
        </p:blipFill>
        <p:spPr>
          <a:xfrm>
            <a:off x="1775520" y="1340768"/>
            <a:ext cx="8315890" cy="5040560"/>
          </a:xfrm>
          <a:prstGeom prst="rect">
            <a:avLst/>
          </a:prstGeom>
        </p:spPr>
      </p:pic>
      <p:grpSp>
        <p:nvGrpSpPr>
          <p:cNvPr id="9" name="Group 8"/>
          <p:cNvGrpSpPr/>
          <p:nvPr/>
        </p:nvGrpSpPr>
        <p:grpSpPr>
          <a:xfrm>
            <a:off x="8328248" y="2031840"/>
            <a:ext cx="504056" cy="965113"/>
            <a:chOff x="6804248" y="2031839"/>
            <a:chExt cx="504056" cy="965113"/>
          </a:xfrm>
        </p:grpSpPr>
        <p:sp>
          <p:nvSpPr>
            <p:cNvPr id="5" name="Oval 4"/>
            <p:cNvSpPr/>
            <p:nvPr/>
          </p:nvSpPr>
          <p:spPr>
            <a:xfrm>
              <a:off x="6804248" y="2708920"/>
              <a:ext cx="504056" cy="288032"/>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Oval 5"/>
            <p:cNvSpPr/>
            <p:nvPr/>
          </p:nvSpPr>
          <p:spPr>
            <a:xfrm>
              <a:off x="6804248" y="2031839"/>
              <a:ext cx="504056" cy="288032"/>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0" name="Group 9"/>
          <p:cNvGrpSpPr/>
          <p:nvPr/>
        </p:nvGrpSpPr>
        <p:grpSpPr>
          <a:xfrm>
            <a:off x="8352080" y="3645025"/>
            <a:ext cx="504056" cy="1613185"/>
            <a:chOff x="6828080" y="3645024"/>
            <a:chExt cx="504056" cy="1613185"/>
          </a:xfrm>
        </p:grpSpPr>
        <p:sp>
          <p:nvSpPr>
            <p:cNvPr id="7" name="Oval 6"/>
            <p:cNvSpPr/>
            <p:nvPr/>
          </p:nvSpPr>
          <p:spPr>
            <a:xfrm>
              <a:off x="6828080" y="3645024"/>
              <a:ext cx="504056" cy="288032"/>
            </a:xfrm>
            <a:prstGeom prst="ellipse">
              <a:avLst/>
            </a:prstGeom>
            <a:no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Oval 7"/>
            <p:cNvSpPr/>
            <p:nvPr/>
          </p:nvSpPr>
          <p:spPr>
            <a:xfrm>
              <a:off x="6828080" y="4970177"/>
              <a:ext cx="504056" cy="288032"/>
            </a:xfrm>
            <a:prstGeom prst="ellipse">
              <a:avLst/>
            </a:prstGeom>
            <a:no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 name="Date Placeholder 2">
            <a:extLst>
              <a:ext uri="{FF2B5EF4-FFF2-40B4-BE49-F238E27FC236}">
                <a16:creationId xmlns:a16="http://schemas.microsoft.com/office/drawing/2014/main" id="{D967EEC7-1CED-F69F-2642-8A7F44B3D8FC}"/>
              </a:ext>
            </a:extLst>
          </p:cNvPr>
          <p:cNvSpPr>
            <a:spLocks noGrp="1"/>
          </p:cNvSpPr>
          <p:nvPr>
            <p:ph type="dt" sz="half" idx="10"/>
          </p:nvPr>
        </p:nvSpPr>
        <p:spPr/>
        <p:txBody>
          <a:bodyPr/>
          <a:lstStyle/>
          <a:p>
            <a:fld id="{E2739D7A-F3DA-4A73-8E16-5552CE8F14DE}" type="datetime1">
              <a:rPr lang="nb-NO" smtClean="0"/>
              <a:t>05.10.2026</a:t>
            </a:fld>
            <a:endParaRPr lang="en-US" dirty="0"/>
          </a:p>
        </p:txBody>
      </p:sp>
      <p:sp>
        <p:nvSpPr>
          <p:cNvPr id="11" name="Footer Placeholder 10">
            <a:extLst>
              <a:ext uri="{FF2B5EF4-FFF2-40B4-BE49-F238E27FC236}">
                <a16:creationId xmlns:a16="http://schemas.microsoft.com/office/drawing/2014/main" id="{54EC49F6-151F-813F-B22D-ECD568FAF11F}"/>
              </a:ext>
            </a:extLst>
          </p:cNvPr>
          <p:cNvSpPr>
            <a:spLocks noGrp="1"/>
          </p:cNvSpPr>
          <p:nvPr>
            <p:ph type="ftr" sz="quarter" idx="11"/>
          </p:nvPr>
        </p:nvSpPr>
        <p:spPr/>
        <p:txBody>
          <a:bodyPr/>
          <a:lstStyle/>
          <a:p>
            <a:r>
              <a:rPr lang="vi-VN"/>
              <a:t>Chương 7.3. Tìm hiểu thêm về triển khai</a:t>
            </a:r>
          </a:p>
        </p:txBody>
      </p:sp>
      <p:sp>
        <p:nvSpPr>
          <p:cNvPr id="12" name="Slide Number Placeholder 11">
            <a:extLst>
              <a:ext uri="{FF2B5EF4-FFF2-40B4-BE49-F238E27FC236}">
                <a16:creationId xmlns:a16="http://schemas.microsoft.com/office/drawing/2014/main" id="{3C699B14-1842-02B8-12FC-9B2100F2ABD4}"/>
              </a:ext>
            </a:extLst>
          </p:cNvPr>
          <p:cNvSpPr>
            <a:spLocks noGrp="1"/>
          </p:cNvSpPr>
          <p:nvPr>
            <p:ph type="sldNum" sz="quarter" idx="12"/>
          </p:nvPr>
        </p:nvSpPr>
        <p:spPr/>
        <p:txBody>
          <a:bodyPr/>
          <a:lstStyle/>
          <a:p>
            <a:fld id="{EC33B370-F672-B743-B3AF-248A63C17270}" type="slidenum">
              <a:rPr lang="en-US" smtClean="0"/>
              <a:pPr/>
              <a:t>39</a:t>
            </a:fld>
            <a:endParaRPr lang="en-US"/>
          </a:p>
        </p:txBody>
      </p:sp>
    </p:spTree>
    <p:extLst>
      <p:ext uri="{BB962C8B-B14F-4D97-AF65-F5344CB8AC3E}">
        <p14:creationId xmlns:p14="http://schemas.microsoft.com/office/powerpoint/2010/main" val="33231738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Testing so với Inspection</a:t>
            </a:r>
          </a:p>
        </p:txBody>
      </p:sp>
      <p:graphicFrame>
        <p:nvGraphicFramePr>
          <p:cNvPr id="4" name="Table 3"/>
          <p:cNvGraphicFramePr>
            <a:graphicFrameLocks noGrp="1"/>
          </p:cNvGraphicFramePr>
          <p:nvPr>
            <p:extLst>
              <p:ext uri="{D42A27DB-BD31-4B8C-83A1-F6EECF244321}">
                <p14:modId xmlns:p14="http://schemas.microsoft.com/office/powerpoint/2010/main" val="1898101699"/>
              </p:ext>
            </p:extLst>
          </p:nvPr>
        </p:nvGraphicFramePr>
        <p:xfrm>
          <a:off x="1935723" y="1501883"/>
          <a:ext cx="8320553" cy="4464497"/>
        </p:xfrm>
        <a:graphic>
          <a:graphicData uri="http://schemas.openxmlformats.org/drawingml/2006/table">
            <a:tbl>
              <a:tblPr firstRow="1" bandRow="1">
                <a:tableStyleId>{5C22544A-7EE6-4342-B048-85BDC9FD1C3A}</a:tableStyleId>
              </a:tblPr>
              <a:tblGrid>
                <a:gridCol w="687705">
                  <a:extLst>
                    <a:ext uri="{9D8B030D-6E8A-4147-A177-3AD203B41FA5}">
                      <a16:colId xmlns:a16="http://schemas.microsoft.com/office/drawing/2014/main" val="1070091755"/>
                    </a:ext>
                  </a:extLst>
                </a:gridCol>
                <a:gridCol w="3384376">
                  <a:extLst>
                    <a:ext uri="{9D8B030D-6E8A-4147-A177-3AD203B41FA5}">
                      <a16:colId xmlns:a16="http://schemas.microsoft.com/office/drawing/2014/main" val="3962914620"/>
                    </a:ext>
                  </a:extLst>
                </a:gridCol>
                <a:gridCol w="4248472">
                  <a:extLst>
                    <a:ext uri="{9D8B030D-6E8A-4147-A177-3AD203B41FA5}">
                      <a16:colId xmlns:a16="http://schemas.microsoft.com/office/drawing/2014/main" val="2873730305"/>
                    </a:ext>
                  </a:extLst>
                </a:gridCol>
              </a:tblGrid>
              <a:tr h="502170">
                <a:tc>
                  <a:txBody>
                    <a:bodyPr/>
                    <a:lstStyle/>
                    <a:p>
                      <a:pPr algn="ctr"/>
                      <a:endParaRPr lang="en-US"/>
                    </a:p>
                  </a:txBody>
                  <a:tcPr/>
                </a:tc>
                <a:tc>
                  <a:txBody>
                    <a:bodyPr/>
                    <a:lstStyle/>
                    <a:p>
                      <a:pPr algn="ctr"/>
                      <a:r>
                        <a:rPr lang="vi-VN"/>
                        <a:t> Testing</a:t>
                      </a:r>
                    </a:p>
                  </a:txBody>
                  <a:tcPr/>
                </a:tc>
                <a:tc>
                  <a:txBody>
                    <a:bodyPr/>
                    <a:lstStyle/>
                    <a:p>
                      <a:pPr algn="ctr"/>
                      <a:r>
                        <a:rPr lang="vi-VN" dirty="0"/>
                        <a:t>Inspection</a:t>
                      </a:r>
                    </a:p>
                  </a:txBody>
                  <a:tcPr/>
                </a:tc>
                <a:extLst>
                  <a:ext uri="{0D108BD9-81ED-4DB2-BD59-A6C34878D82A}">
                    <a16:rowId xmlns:a16="http://schemas.microsoft.com/office/drawing/2014/main" val="800931028"/>
                  </a:ext>
                </a:extLst>
              </a:tr>
              <a:tr h="2352632">
                <a:tc>
                  <a:txBody>
                    <a:bodyPr/>
                    <a:lstStyle/>
                    <a:p>
                      <a:r>
                        <a:rPr lang="vi-VN" sz="2000"/>
                        <a:t>Ưu điểm</a:t>
                      </a:r>
                    </a:p>
                  </a:txBody>
                  <a:tcPr/>
                </a:tc>
                <a:tc>
                  <a:txBody>
                    <a:bodyPr/>
                    <a:lstStyle/>
                    <a:p>
                      <a:pPr marL="342900" lvl="0" indent="-342900" fontAlgn="auto">
                        <a:spcAft>
                          <a:spcPts val="0"/>
                        </a:spcAft>
                        <a:buFont typeface="Arial" panose="020B0604020202020204" pitchFamily="34" charset="0"/>
                        <a:buChar char="•"/>
                        <a:defRPr/>
                      </a:pPr>
                      <a:r>
                        <a:rPr lang="vi-VN" altLang="nb-NO" sz="2000" dirty="0"/>
                        <a:t>Có thể được tự động hóa, ít nhất một phần</a:t>
                      </a:r>
                    </a:p>
                    <a:p>
                      <a:pPr marL="342900" marR="0" lvl="0" indent="-342900" algn="l" defTabSz="457200" rtl="0" eaLnBrk="1" fontAlgn="auto" latinLnBrk="0" hangingPunct="1">
                        <a:lnSpc>
                          <a:spcPct val="100000"/>
                        </a:lnSpc>
                        <a:spcBef>
                          <a:spcPct val="0"/>
                        </a:spcBef>
                        <a:spcAft>
                          <a:spcPts val="0"/>
                        </a:spcAft>
                        <a:buClrTx/>
                        <a:buSzTx/>
                        <a:buFont typeface="Arial" panose="020B0604020202020204" pitchFamily="34" charset="0"/>
                        <a:buChar char="•"/>
                        <a:tabLst/>
                        <a:defRPr/>
                      </a:pPr>
                      <a:r>
                        <a:rPr lang="vi-VN" sz="2000" kern="1200" dirty="0">
                          <a:solidFill>
                            <a:schemeClr val="dk1"/>
                          </a:solidFill>
                          <a:latin typeface="+mn-lt"/>
                          <a:ea typeface="+mn-ea"/>
                          <a:cs typeface="+mn-cs"/>
                        </a:rPr>
                        <a:t>Có thể lặp lại nhất quán nhiều hành động </a:t>
                      </a:r>
                    </a:p>
                    <a:p>
                      <a:pPr marL="342900" marR="0" lvl="0" indent="-342900" algn="l" defTabSz="457200" rtl="0" eaLnBrk="1" fontAlgn="auto" latinLnBrk="0" hangingPunct="1">
                        <a:lnSpc>
                          <a:spcPct val="100000"/>
                        </a:lnSpc>
                        <a:spcBef>
                          <a:spcPct val="0"/>
                        </a:spcBef>
                        <a:spcAft>
                          <a:spcPts val="0"/>
                        </a:spcAft>
                        <a:buClrTx/>
                        <a:buSzTx/>
                        <a:buFont typeface="Arial" panose="020B0604020202020204" pitchFamily="34" charset="0"/>
                        <a:buChar char="•"/>
                        <a:tabLst/>
                        <a:defRPr/>
                      </a:pPr>
                      <a:r>
                        <a:rPr lang="vi-VN" sz="2000" kern="1200" dirty="0">
                          <a:solidFill>
                            <a:schemeClr val="dk1"/>
                          </a:solidFill>
                          <a:latin typeface="+mn-lt"/>
                          <a:ea typeface="+mn-ea"/>
                          <a:cs typeface="+mn-cs"/>
                        </a:rPr>
                        <a:t>Nhanh và khối lượng lớn</a:t>
                      </a:r>
                    </a:p>
                    <a:p>
                      <a:pPr marL="342900" lvl="0" indent="-342900" fontAlgn="auto">
                        <a:spcAft>
                          <a:spcPts val="0"/>
                        </a:spcAft>
                        <a:buFont typeface="Arial" panose="020B0604020202020204" pitchFamily="34" charset="0"/>
                        <a:buChar char="•"/>
                        <a:defRPr/>
                      </a:pPr>
                      <a:endParaRPr lang="en-GB" altLang="nb-NO" sz="2000" dirty="0"/>
                    </a:p>
                  </a:txBody>
                  <a:tcPr/>
                </a:tc>
                <a:tc>
                  <a:txBody>
                    <a:bodyPr/>
                    <a:lstStyle/>
                    <a:p>
                      <a:pPr marL="342900" lvl="0" indent="-342900" algn="l" defTabSz="457200" rtl="0" eaLnBrk="1" fontAlgn="auto" latinLnBrk="0" hangingPunct="1">
                        <a:spcAft>
                          <a:spcPts val="0"/>
                        </a:spcAft>
                        <a:buFont typeface="Arial" panose="020B0604020202020204" pitchFamily="34" charset="0"/>
                        <a:buChar char="•"/>
                        <a:defRPr/>
                      </a:pPr>
                      <a:r>
                        <a:rPr lang="vi-VN" altLang="nb-NO" sz="2000" kern="1200" dirty="0">
                          <a:solidFill>
                            <a:schemeClr val="dk1"/>
                          </a:solidFill>
                          <a:latin typeface="+mn-lt"/>
                          <a:ea typeface="+mn-ea"/>
                          <a:cs typeface="+mn-cs"/>
                        </a:rPr>
                        <a:t>Có thể dùng cho mọi loại tài liệu, không chỉ code</a:t>
                      </a:r>
                    </a:p>
                    <a:p>
                      <a:pPr marL="342900" lvl="0" indent="-342900" algn="l" defTabSz="457200" rtl="0" eaLnBrk="1" fontAlgn="auto" latinLnBrk="0" hangingPunct="1">
                        <a:spcAft>
                          <a:spcPts val="0"/>
                        </a:spcAft>
                        <a:buFont typeface="Arial" panose="020B0604020202020204" pitchFamily="34" charset="0"/>
                        <a:buChar char="•"/>
                        <a:defRPr/>
                      </a:pPr>
                      <a:r>
                        <a:rPr lang="vi-VN" altLang="nb-NO" sz="2000" kern="1200" dirty="0">
                          <a:solidFill>
                            <a:schemeClr val="dk1"/>
                          </a:solidFill>
                          <a:latin typeface="+mn-lt"/>
                          <a:ea typeface="+mn-ea"/>
                          <a:cs typeface="+mn-cs"/>
                        </a:rPr>
                        <a:t>Nhìn được bức tranh toàn cảnh, không chỉ kiểm tra điểm</a:t>
                      </a:r>
                      <a:endParaRPr lang="en-GB" altLang="nb-NO" sz="2000" kern="1200" dirty="0">
                        <a:solidFill>
                          <a:schemeClr val="dk1"/>
                        </a:solidFill>
                        <a:latin typeface="+mn-lt"/>
                        <a:ea typeface="+mn-ea"/>
                        <a:cs typeface="+mn-cs"/>
                      </a:endParaRPr>
                    </a:p>
                    <a:p>
                      <a:pPr marL="342900" lvl="0" indent="-342900" algn="l" defTabSz="457200" rtl="0" eaLnBrk="1" fontAlgn="auto" latinLnBrk="0" hangingPunct="1">
                        <a:spcAft>
                          <a:spcPts val="0"/>
                        </a:spcAft>
                        <a:buFont typeface="Arial" panose="020B0604020202020204" pitchFamily="34" charset="0"/>
                        <a:buChar char="•"/>
                        <a:defRPr/>
                      </a:pPr>
                      <a:r>
                        <a:rPr lang="vi-VN" altLang="nb-NO" sz="2000" kern="1200" dirty="0">
                          <a:solidFill>
                            <a:schemeClr val="dk1"/>
                          </a:solidFill>
                          <a:latin typeface="+mn-lt"/>
                          <a:ea typeface="+mn-ea"/>
                          <a:cs typeface="+mn-cs"/>
                        </a:rPr>
                        <a:t>Có thể dùng toàn bộ thông tin của nhóm</a:t>
                      </a:r>
                    </a:p>
                    <a:p>
                      <a:pPr marL="342900" lvl="0" indent="-342900" algn="l" defTabSz="457200" rtl="0" eaLnBrk="1" fontAlgn="auto" latinLnBrk="0" hangingPunct="1">
                        <a:lnSpc>
                          <a:spcPct val="90000"/>
                        </a:lnSpc>
                        <a:spcAft>
                          <a:spcPts val="0"/>
                        </a:spcAft>
                        <a:buFont typeface="Arial" panose="020B0604020202020204" pitchFamily="34" charset="0"/>
                        <a:buChar char="•"/>
                        <a:defRPr/>
                      </a:pPr>
                      <a:r>
                        <a:rPr lang="vi-VN" altLang="nb-NO" sz="2000" kern="1200" dirty="0">
                          <a:solidFill>
                            <a:schemeClr val="dk1"/>
                          </a:solidFill>
                          <a:latin typeface="+mn-lt"/>
                          <a:ea typeface="+mn-ea"/>
                          <a:cs typeface="+mn-cs"/>
                        </a:rPr>
                        <a:t>Có thể sáng tạo và quy nạp</a:t>
                      </a:r>
                    </a:p>
                  </a:txBody>
                  <a:tcPr/>
                </a:tc>
                <a:extLst>
                  <a:ext uri="{0D108BD9-81ED-4DB2-BD59-A6C34878D82A}">
                    <a16:rowId xmlns:a16="http://schemas.microsoft.com/office/drawing/2014/main" val="1456627388"/>
                  </a:ext>
                </a:extLst>
              </a:tr>
              <a:tr h="1609695">
                <a:tc>
                  <a:txBody>
                    <a:bodyPr/>
                    <a:lstStyle/>
                    <a:p>
                      <a:r>
                        <a:rPr lang="vi-VN" sz="2000"/>
                        <a:t>Nhược điểm</a:t>
                      </a:r>
                    </a:p>
                  </a:txBody>
                  <a:tcPr/>
                </a:tc>
                <a:tc>
                  <a:txBody>
                    <a:bodyPr/>
                    <a:lstStyle/>
                    <a:p>
                      <a:pPr marL="342900" lvl="0" indent="-342900" algn="l" defTabSz="457200" rtl="0" eaLnBrk="1" fontAlgn="auto" latinLnBrk="0" hangingPunct="1">
                        <a:spcAft>
                          <a:spcPts val="0"/>
                        </a:spcAft>
                        <a:buFont typeface="Arial" panose="020B0604020202020204" pitchFamily="34" charset="0"/>
                        <a:buChar char="•"/>
                        <a:defRPr/>
                      </a:pPr>
                      <a:r>
                        <a:rPr lang="vi-VN" altLang="nb-NO" sz="2000" kern="1200" dirty="0">
                          <a:solidFill>
                            <a:schemeClr val="dk1"/>
                          </a:solidFill>
                          <a:latin typeface="+mn-lt"/>
                          <a:ea typeface="+mn-ea"/>
                          <a:cs typeface="+mn-cs"/>
                        </a:rPr>
                        <a:t>Chỉ là kiểm tra điểm</a:t>
                      </a:r>
                    </a:p>
                    <a:p>
                      <a:pPr marL="342900" lvl="0" indent="-342900" algn="l" defTabSz="457200" rtl="0" eaLnBrk="1" fontAlgn="auto" latinLnBrk="0" hangingPunct="1">
                        <a:spcAft>
                          <a:spcPts val="0"/>
                        </a:spcAft>
                        <a:buFont typeface="Arial" panose="020B0604020202020204" pitchFamily="34" charset="0"/>
                        <a:buChar char="•"/>
                        <a:defRPr/>
                      </a:pPr>
                      <a:r>
                        <a:rPr lang="vi-VN" altLang="nb-NO" sz="2000" kern="1200" dirty="0">
                          <a:solidFill>
                            <a:schemeClr val="dk1"/>
                          </a:solidFill>
                          <a:latin typeface="+mn-lt"/>
                          <a:ea typeface="+mn-ea"/>
                          <a:cs typeface="+mn-cs"/>
                        </a:rPr>
                        <a:t>Chỉ dùng được cho code </a:t>
                      </a:r>
                    </a:p>
                    <a:p>
                      <a:pPr marL="342900" lvl="0" indent="-342900" algn="l" defTabSz="457200" rtl="0" eaLnBrk="1" fontAlgn="auto" latinLnBrk="0" hangingPunct="1">
                        <a:spcAft>
                          <a:spcPts val="0"/>
                        </a:spcAft>
                        <a:buFont typeface="Arial" panose="020B0604020202020204" pitchFamily="34" charset="0"/>
                        <a:buChar char="•"/>
                        <a:defRPr/>
                      </a:pPr>
                      <a:r>
                        <a:rPr lang="vi-VN" altLang="nb-NO" sz="2000" kern="1200" dirty="0">
                          <a:solidFill>
                            <a:schemeClr val="dk1"/>
                          </a:solidFill>
                          <a:latin typeface="+mn-lt"/>
                          <a:ea typeface="+mn-ea"/>
                          <a:cs typeface="+mn-cs"/>
                        </a:rPr>
                        <a:t>Có thể cần nhiều stub và driver</a:t>
                      </a:r>
                    </a:p>
                  </a:txBody>
                  <a:tcPr/>
                </a:tc>
                <a:tc>
                  <a:txBody>
                    <a:bodyPr/>
                    <a:lstStyle/>
                    <a:p>
                      <a:pPr marL="342900" lvl="0" indent="-342900" algn="l" defTabSz="457200" rtl="0" eaLnBrk="1" fontAlgn="auto" latinLnBrk="0" hangingPunct="1">
                        <a:spcAft>
                          <a:spcPts val="0"/>
                        </a:spcAft>
                        <a:buFont typeface="Arial" panose="020B0604020202020204" pitchFamily="34" charset="0"/>
                        <a:buChar char="•"/>
                        <a:defRPr/>
                      </a:pPr>
                      <a:r>
                        <a:rPr lang="vi-VN" altLang="nb-NO" sz="2000" kern="1200" dirty="0">
                          <a:solidFill>
                            <a:schemeClr val="dk1"/>
                          </a:solidFill>
                          <a:latin typeface="+mn-lt"/>
                          <a:ea typeface="+mn-ea"/>
                          <a:cs typeface="+mn-cs"/>
                        </a:rPr>
                        <a:t>Khó dùng trong các tình huống phức tạp, động</a:t>
                      </a:r>
                    </a:p>
                    <a:p>
                      <a:pPr marL="342900" marR="0" lvl="0" indent="-342900" algn="l" defTabSz="457200" rtl="0" eaLnBrk="1" fontAlgn="auto" latinLnBrk="0" hangingPunct="1">
                        <a:lnSpc>
                          <a:spcPct val="100000"/>
                        </a:lnSpc>
                        <a:spcBef>
                          <a:spcPct val="0"/>
                        </a:spcBef>
                        <a:spcAft>
                          <a:spcPts val="0"/>
                        </a:spcAft>
                        <a:buClrTx/>
                        <a:buSzTx/>
                        <a:buFont typeface="Arial" panose="020B0604020202020204" pitchFamily="34" charset="0"/>
                        <a:buChar char="•"/>
                        <a:tabLst/>
                        <a:defRPr/>
                      </a:pPr>
                      <a:r>
                        <a:rPr lang="vi-VN" sz="2000" kern="1200" dirty="0">
                          <a:solidFill>
                            <a:schemeClr val="dk1"/>
                          </a:solidFill>
                          <a:latin typeface="+mn-lt"/>
                          <a:ea typeface="+mn-ea"/>
                          <a:cs typeface="+mn-cs"/>
                        </a:rPr>
                        <a:t>Không đáng tin cậy (con người có thể mệt mỏi)</a:t>
                      </a:r>
                    </a:p>
                    <a:p>
                      <a:pPr marL="342900" marR="0" lvl="0" indent="-342900" algn="l" defTabSz="457200" rtl="0" eaLnBrk="1" fontAlgn="auto" latinLnBrk="0" hangingPunct="1">
                        <a:lnSpc>
                          <a:spcPct val="100000"/>
                        </a:lnSpc>
                        <a:spcBef>
                          <a:spcPct val="0"/>
                        </a:spcBef>
                        <a:spcAft>
                          <a:spcPts val="0"/>
                        </a:spcAft>
                        <a:buClrTx/>
                        <a:buSzTx/>
                        <a:buFont typeface="Arial" panose="020B0604020202020204" pitchFamily="34" charset="0"/>
                        <a:buChar char="•"/>
                        <a:tabLst/>
                        <a:defRPr/>
                      </a:pPr>
                      <a:r>
                        <a:rPr lang="vi-VN" sz="2000" kern="1200" dirty="0">
                          <a:solidFill>
                            <a:schemeClr val="dk1"/>
                          </a:solidFill>
                          <a:latin typeface="+mn-lt"/>
                          <a:ea typeface="+mn-ea"/>
                          <a:cs typeface="+mn-cs"/>
                        </a:rPr>
                        <a:t>Chậm và khối lượng thấp</a:t>
                      </a:r>
                    </a:p>
                  </a:txBody>
                  <a:tcPr/>
                </a:tc>
                <a:extLst>
                  <a:ext uri="{0D108BD9-81ED-4DB2-BD59-A6C34878D82A}">
                    <a16:rowId xmlns:a16="http://schemas.microsoft.com/office/drawing/2014/main" val="3187304446"/>
                  </a:ext>
                </a:extLst>
              </a:tr>
            </a:tbl>
          </a:graphicData>
        </a:graphic>
      </p:graphicFrame>
      <p:sp>
        <p:nvSpPr>
          <p:cNvPr id="3" name="Date Placeholder 2">
            <a:extLst>
              <a:ext uri="{FF2B5EF4-FFF2-40B4-BE49-F238E27FC236}">
                <a16:creationId xmlns:a16="http://schemas.microsoft.com/office/drawing/2014/main" id="{AD86C208-F470-F666-11ED-6C9729CBE715}"/>
              </a:ext>
            </a:extLst>
          </p:cNvPr>
          <p:cNvSpPr>
            <a:spLocks noGrp="1"/>
          </p:cNvSpPr>
          <p:nvPr>
            <p:ph type="dt" sz="half" idx="10"/>
          </p:nvPr>
        </p:nvSpPr>
        <p:spPr/>
        <p:txBody>
          <a:bodyPr/>
          <a:lstStyle/>
          <a:p>
            <a:fld id="{B34FC158-2D33-459F-93A1-C88D473B35AA}" type="datetime1">
              <a:rPr lang="nb-NO" smtClean="0"/>
              <a:t>05.10.2026</a:t>
            </a:fld>
            <a:endParaRPr lang="en-US" dirty="0"/>
          </a:p>
        </p:txBody>
      </p:sp>
      <p:sp>
        <p:nvSpPr>
          <p:cNvPr id="5" name="Footer Placeholder 4">
            <a:extLst>
              <a:ext uri="{FF2B5EF4-FFF2-40B4-BE49-F238E27FC236}">
                <a16:creationId xmlns:a16="http://schemas.microsoft.com/office/drawing/2014/main" id="{C69B00BA-E06C-61D7-6476-D6BB8252EC49}"/>
              </a:ext>
            </a:extLst>
          </p:cNvPr>
          <p:cNvSpPr>
            <a:spLocks noGrp="1"/>
          </p:cNvSpPr>
          <p:nvPr>
            <p:ph type="ftr" sz="quarter" idx="11"/>
          </p:nvPr>
        </p:nvSpPr>
        <p:spPr/>
        <p:txBody>
          <a:bodyPr/>
          <a:lstStyle/>
          <a:p>
            <a:r>
              <a:rPr lang="vi-VN"/>
              <a:t>Chương 7.3. Tìm hiểu thêm về triển khai</a:t>
            </a:r>
          </a:p>
        </p:txBody>
      </p:sp>
      <p:sp>
        <p:nvSpPr>
          <p:cNvPr id="6" name="Slide Number Placeholder 5">
            <a:extLst>
              <a:ext uri="{FF2B5EF4-FFF2-40B4-BE49-F238E27FC236}">
                <a16:creationId xmlns:a16="http://schemas.microsoft.com/office/drawing/2014/main" id="{6D4A492E-51E2-88D9-2488-36EF20C8CE9B}"/>
              </a:ext>
            </a:extLst>
          </p:cNvPr>
          <p:cNvSpPr>
            <a:spLocks noGrp="1"/>
          </p:cNvSpPr>
          <p:nvPr>
            <p:ph type="sldNum" sz="quarter" idx="12"/>
          </p:nvPr>
        </p:nvSpPr>
        <p:spPr/>
        <p:txBody>
          <a:bodyPr/>
          <a:lstStyle/>
          <a:p>
            <a:fld id="{EC33B370-F672-B743-B3AF-248A63C17270}" type="slidenum">
              <a:rPr lang="en-US" smtClean="0"/>
              <a:pPr/>
              <a:t>40</a:t>
            </a:fld>
            <a:endParaRPr lang="en-US"/>
          </a:p>
        </p:txBody>
      </p:sp>
    </p:spTree>
    <p:extLst>
      <p:ext uri="{BB962C8B-B14F-4D97-AF65-F5344CB8AC3E}">
        <p14:creationId xmlns:p14="http://schemas.microsoft.com/office/powerpoint/2010/main" val="11222539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Code review tại Google</a:t>
            </a:r>
            <a:endParaRPr lang="en-US" baseline="30000" dirty="0"/>
          </a:p>
        </p:txBody>
      </p:sp>
      <p:sp>
        <p:nvSpPr>
          <p:cNvPr id="3" name="Content Placeholder 2"/>
          <p:cNvSpPr>
            <a:spLocks noGrp="1"/>
          </p:cNvSpPr>
          <p:nvPr>
            <p:ph idx="1"/>
          </p:nvPr>
        </p:nvSpPr>
        <p:spPr/>
        <p:txBody>
          <a:bodyPr/>
          <a:lstStyle/>
          <a:p>
            <a:r>
              <a:rPr lang="vi-VN" dirty="0"/>
              <a:t>“Mọi đoạn code được gửi lên đều cần được ít nhất một người khác review, và người viết code hoặc người review phải có readability trong ngôn ngữ đó”</a:t>
            </a:r>
          </a:p>
          <a:p>
            <a:r>
              <a:rPr lang="vi-VN" dirty="0"/>
              <a:t>“Hầu hết mọi người dùng Mondrian để review code, và rõ ràng là chúng tôi dành một phần lớn thời gian để review code”</a:t>
            </a:r>
          </a:p>
          <a:p>
            <a:pPr marL="0" indent="0" algn="r">
              <a:buNone/>
            </a:pPr>
            <a:r>
              <a:rPr lang="en-US" dirty="0"/>
              <a:t>    --Amanda Camp, Software Engineer, Google</a:t>
            </a:r>
          </a:p>
        </p:txBody>
      </p:sp>
      <p:sp>
        <p:nvSpPr>
          <p:cNvPr id="4" name="Date Placeholder 3">
            <a:extLst>
              <a:ext uri="{FF2B5EF4-FFF2-40B4-BE49-F238E27FC236}">
                <a16:creationId xmlns:a16="http://schemas.microsoft.com/office/drawing/2014/main" id="{A23572AE-3CD4-27F0-6FFE-54A2011A8F5D}"/>
              </a:ext>
            </a:extLst>
          </p:cNvPr>
          <p:cNvSpPr>
            <a:spLocks noGrp="1"/>
          </p:cNvSpPr>
          <p:nvPr>
            <p:ph type="dt" sz="half" idx="10"/>
          </p:nvPr>
        </p:nvSpPr>
        <p:spPr/>
        <p:txBody>
          <a:bodyPr/>
          <a:lstStyle/>
          <a:p>
            <a:pPr>
              <a:defRPr/>
            </a:pPr>
            <a:fld id="{C8C890AB-F736-4FEC-8865-67028B43BA61}" type="datetime1">
              <a:rPr lang="nb-NO" smtClean="0"/>
              <a:t>05.10.2026</a:t>
            </a:fld>
            <a:endParaRPr lang="en-US" dirty="0"/>
          </a:p>
        </p:txBody>
      </p:sp>
      <p:sp>
        <p:nvSpPr>
          <p:cNvPr id="5" name="Footer Placeholder 4">
            <a:extLst>
              <a:ext uri="{FF2B5EF4-FFF2-40B4-BE49-F238E27FC236}">
                <a16:creationId xmlns:a16="http://schemas.microsoft.com/office/drawing/2014/main" id="{1FD21087-5905-9A89-2C5B-01287ABD7E6F}"/>
              </a:ext>
            </a:extLst>
          </p:cNvPr>
          <p:cNvSpPr>
            <a:spLocks noGrp="1"/>
          </p:cNvSpPr>
          <p:nvPr>
            <p:ph type="ftr" sz="quarter" idx="4294967295"/>
          </p:nvPr>
        </p:nvSpPr>
        <p:spPr>
          <a:xfrm>
            <a:off x="4842933" y="6470704"/>
            <a:ext cx="5901459" cy="274320"/>
          </a:xfrm>
          <a:prstGeom prst="rect">
            <a:avLst/>
          </a:prstGeom>
        </p:spPr>
        <p:txBody>
          <a:bodyPr/>
          <a:lstStyle/>
          <a:p>
            <a:pPr>
              <a:defRPr/>
            </a:pPr>
            <a:r>
              <a:rPr lang="vi-VN"/>
              <a:t>Chương 2. Quy trình phần mềm</a:t>
            </a:r>
          </a:p>
        </p:txBody>
      </p:sp>
      <p:sp>
        <p:nvSpPr>
          <p:cNvPr id="6" name="Slide Number Placeholder 5">
            <a:extLst>
              <a:ext uri="{FF2B5EF4-FFF2-40B4-BE49-F238E27FC236}">
                <a16:creationId xmlns:a16="http://schemas.microsoft.com/office/drawing/2014/main" id="{0B79E2D6-9C56-5A82-E0EB-1EC1A9816D34}"/>
              </a:ext>
            </a:extLst>
          </p:cNvPr>
          <p:cNvSpPr>
            <a:spLocks noGrp="1"/>
          </p:cNvSpPr>
          <p:nvPr>
            <p:ph type="sldNum" sz="quarter" idx="12"/>
          </p:nvPr>
        </p:nvSpPr>
        <p:spPr/>
        <p:txBody>
          <a:bodyPr/>
          <a:lstStyle/>
          <a:p>
            <a:pPr>
              <a:defRPr/>
            </a:pPr>
            <a:fld id="{AFD720AD-0A16-4141-82CA-5619F80A2BC8}" type="slidenum">
              <a:rPr lang="en-US" smtClean="0"/>
              <a:pPr>
                <a:defRPr/>
              </a:pPr>
              <a:t>41</a:t>
            </a:fld>
            <a:endParaRPr lang="en-US"/>
          </a:p>
        </p:txBody>
      </p:sp>
    </p:spTree>
    <p:extLst>
      <p:ext uri="{BB962C8B-B14F-4D97-AF65-F5344CB8AC3E}">
        <p14:creationId xmlns:p14="http://schemas.microsoft.com/office/powerpoint/2010/main" val="24495266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6"/>
          <p:cNvSpPr>
            <a:spLocks noGrp="1" noChangeArrowheads="1"/>
          </p:cNvSpPr>
          <p:nvPr>
            <p:ph type="title"/>
          </p:nvPr>
        </p:nvSpPr>
        <p:spPr/>
        <p:txBody>
          <a:bodyPr/>
          <a:lstStyle/>
          <a:p>
            <a:r>
              <a:rPr lang="vi-VN"/>
              <a:t>Kiểm tra code 1/5: Tổng quan về lớp</a:t>
            </a:r>
          </a:p>
        </p:txBody>
      </p:sp>
      <p:sp>
        <p:nvSpPr>
          <p:cNvPr id="40963" name="Rectangle 7"/>
          <p:cNvSpPr>
            <a:spLocks noGrp="1" noChangeArrowheads="1"/>
          </p:cNvSpPr>
          <p:nvPr>
            <p:ph idx="1"/>
          </p:nvPr>
        </p:nvSpPr>
        <p:spPr/>
        <p:txBody>
          <a:bodyPr>
            <a:normAutofit fontScale="92500" lnSpcReduction="10000"/>
          </a:bodyPr>
          <a:lstStyle/>
          <a:p>
            <a:r>
              <a:rPr lang="vi-VN"/>
              <a:t>C1.  Tên của lớp có phù hợp không? </a:t>
            </a:r>
          </a:p>
          <a:p>
            <a:r>
              <a:rPr lang="vi-VN"/>
              <a:t>C2.  Có thể đặt nó là abstract (chỉ dùng làm lớp cơ sở) không?</a:t>
            </a:r>
          </a:p>
          <a:p>
            <a:r>
              <a:rPr lang="vi-VN"/>
              <a:t>C3.  Phần header có mô tả mục đích của nó không?</a:t>
            </a:r>
          </a:p>
          <a:p>
            <a:r>
              <a:rPr lang="vi-VN"/>
              <a:t>C4.  Header có tham chiếu đến yêu cầu và/hoặc phần tử thiết kế tương ứng không? </a:t>
            </a:r>
          </a:p>
          <a:p>
            <a:r>
              <a:rPr lang="vi-VN"/>
              <a:t>C5.  Có nêu package mà nó thuộc về không?</a:t>
            </a:r>
          </a:p>
          <a:p>
            <a:r>
              <a:rPr lang="vi-VN"/>
              <a:t>C6.  Nó đã private ở mức tối đa có thể chưa?</a:t>
            </a:r>
          </a:p>
          <a:p>
            <a:r>
              <a:rPr lang="vi-VN"/>
              <a:t>C7.  Nó có nên là final (Java) không?</a:t>
            </a:r>
          </a:p>
          <a:p>
            <a:r>
              <a:rPr lang="vi-VN"/>
              <a:t>C8.  Các chuẩn tài liệu đã được áp dụng chưa?</a:t>
            </a:r>
            <a:endParaRPr lang="en-US" dirty="0"/>
          </a:p>
        </p:txBody>
      </p:sp>
      <p:sp>
        <p:nvSpPr>
          <p:cNvPr id="6" name="Date Placeholder 5"/>
          <p:cNvSpPr>
            <a:spLocks noGrp="1"/>
          </p:cNvSpPr>
          <p:nvPr>
            <p:ph type="dt" sz="half" idx="10"/>
          </p:nvPr>
        </p:nvSpPr>
        <p:spPr/>
        <p:txBody>
          <a:bodyPr/>
          <a:lstStyle/>
          <a:p>
            <a:fld id="{5D0B3E55-086C-4F81-969A-4B805BB77F0C}" type="datetime1">
              <a:rPr lang="nb-NO" smtClean="0"/>
              <a:t>05.10.2026</a:t>
            </a:fld>
            <a:endParaRPr lang="en-US"/>
          </a:p>
        </p:txBody>
      </p:sp>
      <p:sp>
        <p:nvSpPr>
          <p:cNvPr id="7" name="Footer Placeholder 6"/>
          <p:cNvSpPr>
            <a:spLocks noGrp="1"/>
          </p:cNvSpPr>
          <p:nvPr>
            <p:ph type="ftr" sz="quarter" idx="11"/>
          </p:nvPr>
        </p:nvSpPr>
        <p:spPr/>
        <p:txBody>
          <a:bodyPr/>
          <a:lstStyle/>
          <a:p>
            <a:r>
              <a:rPr lang="vi-VN"/>
              <a:t>Chương 7.3. Tìm hiểu thêm về triển khai</a:t>
            </a:r>
            <a:endParaRPr lang="en-AU"/>
          </a:p>
        </p:txBody>
      </p:sp>
      <p:sp>
        <p:nvSpPr>
          <p:cNvPr id="8" name="Slide Number Placeholder 7"/>
          <p:cNvSpPr>
            <a:spLocks noGrp="1"/>
          </p:cNvSpPr>
          <p:nvPr>
            <p:ph type="sldNum" sz="quarter" idx="12"/>
          </p:nvPr>
        </p:nvSpPr>
        <p:spPr/>
        <p:txBody>
          <a:bodyPr/>
          <a:lstStyle/>
          <a:p>
            <a:fld id="{958E74C3-62C2-46AF-942D-53E7E0CA0864}" type="slidenum">
              <a:rPr lang="en-AU" smtClean="0"/>
              <a:pPr/>
              <a:t>42</a:t>
            </a:fld>
            <a:endParaRPr lang="en-AU"/>
          </a:p>
        </p:txBody>
      </p:sp>
      <p:sp>
        <p:nvSpPr>
          <p:cNvPr id="40966" name="WordArt 4"/>
          <p:cNvSpPr>
            <a:spLocks noChangeArrowheads="1" noChangeShapeType="1" noTextEdit="1"/>
          </p:cNvSpPr>
          <p:nvPr/>
        </p:nvSpPr>
        <p:spPr bwMode="auto">
          <a:xfrm>
            <a:off x="8709025" y="377715"/>
            <a:ext cx="1936750" cy="428625"/>
          </a:xfrm>
          <a:prstGeom prst="rect">
            <a:avLst/>
          </a:prstGeom>
        </p:spPr>
        <p:txBody>
          <a:bodyPr wrap="none" fromWordArt="1">
            <a:prstTxWarp prst="textFadeUp">
              <a:avLst>
                <a:gd name="adj" fmla="val 12634"/>
              </a:avLst>
            </a:prstTxWarp>
          </a:bodyPr>
          <a:lstStyle/>
          <a:p>
            <a:pPr algn="ctr"/>
            <a:r>
              <a:rPr lang="vi-VN" sz="2400" kern="10" dirty="0">
                <a:ln w="9525">
                  <a:solidFill>
                    <a:schemeClr val="tx1"/>
                  </a:solidFill>
                  <a:round/>
                  <a:headEnd/>
                  <a:tailEnd/>
                </a:ln>
                <a:solidFill>
                  <a:schemeClr val="accent2"/>
                </a:solidFill>
                <a:effectLst>
                  <a:outerShdw dist="35921" dir="2700000" sy="50000" rotWithShape="0">
                    <a:srgbClr val="875B0D"/>
                  </a:outerShdw>
                </a:effectLst>
                <a:latin typeface="Arial Black"/>
              </a:rPr>
              <a:t>Một cách để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6"/>
          <p:cNvSpPr>
            <a:spLocks noGrp="1" noChangeArrowheads="1"/>
          </p:cNvSpPr>
          <p:nvPr>
            <p:ph type="title"/>
          </p:nvPr>
        </p:nvSpPr>
        <p:spPr/>
        <p:txBody>
          <a:bodyPr/>
          <a:lstStyle/>
          <a:p>
            <a:r>
              <a:rPr lang="vi-VN"/>
              <a:t>Kiểm tra code 2/5: Thuộc tính</a:t>
            </a:r>
          </a:p>
        </p:txBody>
      </p:sp>
      <p:sp>
        <p:nvSpPr>
          <p:cNvPr id="41987" name="Rectangle 7"/>
          <p:cNvSpPr>
            <a:spLocks noGrp="1" noChangeArrowheads="1"/>
          </p:cNvSpPr>
          <p:nvPr>
            <p:ph idx="1"/>
          </p:nvPr>
        </p:nvSpPr>
        <p:spPr/>
        <p:txBody>
          <a:bodyPr>
            <a:normAutofit/>
          </a:bodyPr>
          <a:lstStyle/>
          <a:p>
            <a:r>
              <a:rPr lang="vi-VN"/>
              <a:t>A1.  Thuộc tính này có cần thiết không?</a:t>
            </a:r>
          </a:p>
          <a:p>
            <a:r>
              <a:rPr lang="vi-VN"/>
              <a:t>A2.  Nó có thể là static không?</a:t>
            </a:r>
          </a:p>
          <a:p>
            <a:r>
              <a:rPr lang="vi-VN"/>
              <a:t>A3.  Nó có nên là final không?</a:t>
            </a:r>
          </a:p>
          <a:p>
            <a:r>
              <a:rPr lang="vi-VN"/>
              <a:t>A4.  Quy ước đặt tên đã được áp dụng đúng chưa?</a:t>
            </a:r>
          </a:p>
          <a:p>
            <a:r>
              <a:rPr lang="vi-VN"/>
              <a:t>A5.  Nó đã private ở mức tối đa có thể chưa?</a:t>
            </a:r>
          </a:p>
          <a:p>
            <a:r>
              <a:rPr lang="vi-VN"/>
              <a:t>A6.  Các thuộc tính có độc lập với nhau ở mức tối đa có thể chưa?</a:t>
            </a:r>
          </a:p>
          <a:p>
            <a:r>
              <a:rPr lang="vi-VN"/>
              <a:t>A7.  Có chiến lược khởi tạo toàn diện không?</a:t>
            </a:r>
            <a:endParaRPr lang="en-US" dirty="0"/>
          </a:p>
        </p:txBody>
      </p:sp>
      <p:sp>
        <p:nvSpPr>
          <p:cNvPr id="6" name="Date Placeholder 5"/>
          <p:cNvSpPr>
            <a:spLocks noGrp="1"/>
          </p:cNvSpPr>
          <p:nvPr>
            <p:ph type="dt" sz="half" idx="10"/>
          </p:nvPr>
        </p:nvSpPr>
        <p:spPr/>
        <p:txBody>
          <a:bodyPr/>
          <a:lstStyle/>
          <a:p>
            <a:fld id="{1EC8AD22-4E7F-4E96-A58C-46724716AC43}" type="datetime1">
              <a:rPr lang="nb-NO" smtClean="0"/>
              <a:t>05.10.2026</a:t>
            </a:fld>
            <a:endParaRPr lang="en-US"/>
          </a:p>
        </p:txBody>
      </p:sp>
      <p:sp>
        <p:nvSpPr>
          <p:cNvPr id="7" name="Footer Placeholder 6"/>
          <p:cNvSpPr>
            <a:spLocks noGrp="1"/>
          </p:cNvSpPr>
          <p:nvPr>
            <p:ph type="ftr" sz="quarter" idx="11"/>
          </p:nvPr>
        </p:nvSpPr>
        <p:spPr/>
        <p:txBody>
          <a:bodyPr/>
          <a:lstStyle/>
          <a:p>
            <a:r>
              <a:rPr lang="vi-VN"/>
              <a:t>Chương 7.3. Tìm hiểu thêm về triển khai</a:t>
            </a:r>
            <a:endParaRPr lang="en-AU"/>
          </a:p>
        </p:txBody>
      </p:sp>
      <p:sp>
        <p:nvSpPr>
          <p:cNvPr id="8" name="Slide Number Placeholder 7"/>
          <p:cNvSpPr>
            <a:spLocks noGrp="1"/>
          </p:cNvSpPr>
          <p:nvPr>
            <p:ph type="sldNum" sz="quarter" idx="12"/>
          </p:nvPr>
        </p:nvSpPr>
        <p:spPr/>
        <p:txBody>
          <a:bodyPr/>
          <a:lstStyle/>
          <a:p>
            <a:fld id="{958E74C3-62C2-46AF-942D-53E7E0CA0864}" type="slidenum">
              <a:rPr lang="en-AU" smtClean="0"/>
              <a:pPr/>
              <a:t>43</a:t>
            </a:fld>
            <a:endParaRPr lang="en-AU"/>
          </a:p>
        </p:txBody>
      </p:sp>
      <p:sp>
        <p:nvSpPr>
          <p:cNvPr id="9" name="WordArt 4"/>
          <p:cNvSpPr>
            <a:spLocks noChangeArrowheads="1" noChangeShapeType="1" noTextEdit="1"/>
          </p:cNvSpPr>
          <p:nvPr/>
        </p:nvSpPr>
        <p:spPr bwMode="auto">
          <a:xfrm>
            <a:off x="8709025" y="377715"/>
            <a:ext cx="1936750" cy="428625"/>
          </a:xfrm>
          <a:prstGeom prst="rect">
            <a:avLst/>
          </a:prstGeom>
        </p:spPr>
        <p:txBody>
          <a:bodyPr wrap="none" fromWordArt="1">
            <a:prstTxWarp prst="textFadeUp">
              <a:avLst>
                <a:gd name="adj" fmla="val 12634"/>
              </a:avLst>
            </a:prstTxWarp>
          </a:bodyPr>
          <a:lstStyle/>
          <a:p>
            <a:pPr algn="ctr"/>
            <a:r>
              <a:rPr lang="vi-VN" sz="2400" kern="10" dirty="0">
                <a:ln w="9525">
                  <a:solidFill>
                    <a:schemeClr val="tx1"/>
                  </a:solidFill>
                  <a:round/>
                  <a:headEnd/>
                  <a:tailEnd/>
                </a:ln>
                <a:solidFill>
                  <a:schemeClr val="accent2"/>
                </a:solidFill>
                <a:effectLst>
                  <a:outerShdw dist="35921" dir="2700000" sy="50000" rotWithShape="0">
                    <a:srgbClr val="875B0D"/>
                  </a:outerShdw>
                </a:effectLst>
                <a:latin typeface="Arial Black"/>
              </a:rPr>
              <a:t>Một cách để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6"/>
          <p:cNvSpPr>
            <a:spLocks noGrp="1" noChangeArrowheads="1"/>
          </p:cNvSpPr>
          <p:nvPr>
            <p:ph type="title"/>
          </p:nvPr>
        </p:nvSpPr>
        <p:spPr/>
        <p:txBody>
          <a:bodyPr/>
          <a:lstStyle/>
          <a:p>
            <a:r>
              <a:rPr lang="vi-VN"/>
              <a:t>Kiểm tra code 3/5: Constructor</a:t>
            </a:r>
          </a:p>
        </p:txBody>
      </p:sp>
      <p:sp>
        <p:nvSpPr>
          <p:cNvPr id="43011" name="Rectangle 7"/>
          <p:cNvSpPr>
            <a:spLocks noGrp="1" noChangeArrowheads="1"/>
          </p:cNvSpPr>
          <p:nvPr>
            <p:ph idx="1"/>
          </p:nvPr>
        </p:nvSpPr>
        <p:spPr/>
        <p:txBody>
          <a:bodyPr/>
          <a:lstStyle/>
          <a:p>
            <a:r>
              <a:rPr lang="vi-VN"/>
              <a:t>CO1.  Constructor này có cần thiết không?</a:t>
            </a:r>
          </a:p>
          <a:p>
            <a:r>
              <a:rPr lang="vi-VN"/>
              <a:t>CO2.  Nó có tận dụng các constructor sẵn có không?</a:t>
            </a:r>
          </a:p>
          <a:p>
            <a:r>
              <a:rPr lang="vi-VN"/>
              <a:t>CO3.  Nó có khởi tạo tất cả các thuộc tính không?</a:t>
            </a:r>
          </a:p>
          <a:p>
            <a:r>
              <a:rPr lang="vi-VN"/>
              <a:t>CO4.  Nó đã private ở mức tối đa có thể chưa?</a:t>
            </a:r>
          </a:p>
          <a:p>
            <a:r>
              <a:rPr lang="vi-VN"/>
              <a:t>CO5.  Nó có gọi constructor kế thừa khi cần thiết không?</a:t>
            </a:r>
            <a:endParaRPr lang="en-US" dirty="0"/>
          </a:p>
        </p:txBody>
      </p:sp>
      <p:sp>
        <p:nvSpPr>
          <p:cNvPr id="6" name="Date Placeholder 5"/>
          <p:cNvSpPr>
            <a:spLocks noGrp="1"/>
          </p:cNvSpPr>
          <p:nvPr>
            <p:ph type="dt" sz="half" idx="10"/>
          </p:nvPr>
        </p:nvSpPr>
        <p:spPr/>
        <p:txBody>
          <a:bodyPr/>
          <a:lstStyle/>
          <a:p>
            <a:fld id="{C1185972-1D68-43C6-A979-528A44F209B3}" type="datetime1">
              <a:rPr lang="nb-NO" smtClean="0"/>
              <a:t>05.10.2026</a:t>
            </a:fld>
            <a:endParaRPr lang="en-US"/>
          </a:p>
        </p:txBody>
      </p:sp>
      <p:sp>
        <p:nvSpPr>
          <p:cNvPr id="7" name="Footer Placeholder 6"/>
          <p:cNvSpPr>
            <a:spLocks noGrp="1"/>
          </p:cNvSpPr>
          <p:nvPr>
            <p:ph type="ftr" sz="quarter" idx="11"/>
          </p:nvPr>
        </p:nvSpPr>
        <p:spPr/>
        <p:txBody>
          <a:bodyPr/>
          <a:lstStyle/>
          <a:p>
            <a:r>
              <a:rPr lang="vi-VN"/>
              <a:t>Chương 7.3. Tìm hiểu thêm về triển khai</a:t>
            </a:r>
            <a:endParaRPr lang="en-AU"/>
          </a:p>
        </p:txBody>
      </p:sp>
      <p:sp>
        <p:nvSpPr>
          <p:cNvPr id="8" name="Slide Number Placeholder 7"/>
          <p:cNvSpPr>
            <a:spLocks noGrp="1"/>
          </p:cNvSpPr>
          <p:nvPr>
            <p:ph type="sldNum" sz="quarter" idx="12"/>
          </p:nvPr>
        </p:nvSpPr>
        <p:spPr/>
        <p:txBody>
          <a:bodyPr/>
          <a:lstStyle/>
          <a:p>
            <a:fld id="{958E74C3-62C2-46AF-942D-53E7E0CA0864}" type="slidenum">
              <a:rPr lang="en-AU" smtClean="0"/>
              <a:pPr/>
              <a:t>44</a:t>
            </a:fld>
            <a:endParaRPr lang="en-AU"/>
          </a:p>
        </p:txBody>
      </p:sp>
      <p:sp>
        <p:nvSpPr>
          <p:cNvPr id="9" name="WordArt 4"/>
          <p:cNvSpPr>
            <a:spLocks noChangeArrowheads="1" noChangeShapeType="1" noTextEdit="1"/>
          </p:cNvSpPr>
          <p:nvPr/>
        </p:nvSpPr>
        <p:spPr bwMode="auto">
          <a:xfrm>
            <a:off x="8709025" y="377715"/>
            <a:ext cx="1936750" cy="428625"/>
          </a:xfrm>
          <a:prstGeom prst="rect">
            <a:avLst/>
          </a:prstGeom>
        </p:spPr>
        <p:txBody>
          <a:bodyPr wrap="none" fromWordArt="1">
            <a:prstTxWarp prst="textFadeUp">
              <a:avLst>
                <a:gd name="adj" fmla="val 12634"/>
              </a:avLst>
            </a:prstTxWarp>
          </a:bodyPr>
          <a:lstStyle/>
          <a:p>
            <a:pPr algn="ctr"/>
            <a:r>
              <a:rPr lang="vi-VN" sz="2400" kern="10" dirty="0">
                <a:ln w="9525">
                  <a:solidFill>
                    <a:schemeClr val="tx1"/>
                  </a:solidFill>
                  <a:round/>
                  <a:headEnd/>
                  <a:tailEnd/>
                </a:ln>
                <a:solidFill>
                  <a:schemeClr val="accent2"/>
                </a:solidFill>
                <a:effectLst>
                  <a:outerShdw dist="35921" dir="2700000" sy="50000" rotWithShape="0">
                    <a:srgbClr val="875B0D"/>
                  </a:outerShdw>
                </a:effectLst>
                <a:latin typeface="Arial Black"/>
              </a:rPr>
              <a:t>Một cách để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title"/>
          </p:nvPr>
        </p:nvSpPr>
        <p:spPr/>
        <p:txBody>
          <a:bodyPr/>
          <a:lstStyle/>
          <a:p>
            <a:r>
              <a:rPr lang="vi-VN"/>
              <a:t>Kiểm tra code 4/5: Header của phương thức</a:t>
            </a:r>
          </a:p>
        </p:txBody>
      </p:sp>
      <p:sp>
        <p:nvSpPr>
          <p:cNvPr id="44035" name="Rectangle 8"/>
          <p:cNvSpPr>
            <a:spLocks noGrp="1" noChangeArrowheads="1"/>
          </p:cNvSpPr>
          <p:nvPr>
            <p:ph idx="1"/>
          </p:nvPr>
        </p:nvSpPr>
        <p:spPr/>
        <p:txBody>
          <a:bodyPr>
            <a:normAutofit fontScale="70000" lnSpcReduction="20000"/>
          </a:bodyPr>
          <a:lstStyle/>
          <a:p>
            <a:r>
              <a:rPr lang="vi-VN" dirty="0"/>
              <a:t>MH1.  Phương thức có được đặt tên phù hợp không?</a:t>
            </a:r>
          </a:p>
          <a:p>
            <a:r>
              <a:rPr lang="vi-VN" dirty="0"/>
              <a:t>MH2.  Nó đã private ở mức tối đa có thể chưa?</a:t>
            </a:r>
          </a:p>
          <a:p>
            <a:r>
              <a:rPr lang="vi-VN" dirty="0"/>
              <a:t>MH3.  Nó có thể là static không?</a:t>
            </a:r>
          </a:p>
          <a:p>
            <a:r>
              <a:rPr lang="vi-VN" dirty="0"/>
              <a:t>MH4.  Nó có nên là final không?</a:t>
            </a:r>
          </a:p>
          <a:p>
            <a:r>
              <a:rPr lang="vi-VN" dirty="0"/>
              <a:t>MH5.  Header có mô tả mục đích của phương thức không?</a:t>
            </a:r>
          </a:p>
          <a:p>
            <a:r>
              <a:rPr lang="vi-VN" dirty="0"/>
              <a:t>MH6.  Header của phương thức có tham chiếu đến phần yêu cầu và/hoặc thiết kế mà nó đáp ứng không? </a:t>
            </a:r>
          </a:p>
          <a:p>
            <a:r>
              <a:rPr lang="vi-VN" dirty="0"/>
              <a:t>MH7.  Nó có nêu mọi bất biến cần thiết không?</a:t>
            </a:r>
          </a:p>
          <a:p>
            <a:r>
              <a:rPr lang="vi-VN" dirty="0"/>
              <a:t>MH8.  Nó có nêu mọi tiền điều kiện không?</a:t>
            </a:r>
          </a:p>
          <a:p>
            <a:r>
              <a:rPr lang="vi-VN" dirty="0"/>
              <a:t>MH9.  Nó có nêu mọi hậu điều kiện không?</a:t>
            </a:r>
          </a:p>
          <a:p>
            <a:r>
              <a:rPr lang="vi-VN" dirty="0"/>
              <a:t>MH10. Nó có áp dụng các chuẩn tài liệu không?</a:t>
            </a:r>
          </a:p>
          <a:p>
            <a:r>
              <a:rPr lang="vi-VN" dirty="0"/>
              <a:t>MH11. Các kiểu của tham số có được giới hạn không?</a:t>
            </a:r>
          </a:p>
        </p:txBody>
      </p:sp>
      <p:sp>
        <p:nvSpPr>
          <p:cNvPr id="6" name="Date Placeholder 5"/>
          <p:cNvSpPr>
            <a:spLocks noGrp="1"/>
          </p:cNvSpPr>
          <p:nvPr>
            <p:ph type="dt" sz="half" idx="10"/>
          </p:nvPr>
        </p:nvSpPr>
        <p:spPr/>
        <p:txBody>
          <a:bodyPr/>
          <a:lstStyle/>
          <a:p>
            <a:fld id="{E43AB01B-DB44-4F66-A2D1-E774ADA17D91}" type="datetime1">
              <a:rPr lang="nb-NO" smtClean="0"/>
              <a:t>05.10.2026</a:t>
            </a:fld>
            <a:endParaRPr lang="en-US"/>
          </a:p>
        </p:txBody>
      </p:sp>
      <p:sp>
        <p:nvSpPr>
          <p:cNvPr id="7" name="Footer Placeholder 6"/>
          <p:cNvSpPr>
            <a:spLocks noGrp="1"/>
          </p:cNvSpPr>
          <p:nvPr>
            <p:ph type="ftr" sz="quarter" idx="11"/>
          </p:nvPr>
        </p:nvSpPr>
        <p:spPr/>
        <p:txBody>
          <a:bodyPr/>
          <a:lstStyle/>
          <a:p>
            <a:r>
              <a:rPr lang="vi-VN"/>
              <a:t>Chương 7.3. Tìm hiểu thêm về triển khai</a:t>
            </a:r>
            <a:endParaRPr lang="en-AU"/>
          </a:p>
        </p:txBody>
      </p:sp>
      <p:sp>
        <p:nvSpPr>
          <p:cNvPr id="8" name="Slide Number Placeholder 7"/>
          <p:cNvSpPr>
            <a:spLocks noGrp="1"/>
          </p:cNvSpPr>
          <p:nvPr>
            <p:ph type="sldNum" sz="quarter" idx="12"/>
          </p:nvPr>
        </p:nvSpPr>
        <p:spPr/>
        <p:txBody>
          <a:bodyPr/>
          <a:lstStyle/>
          <a:p>
            <a:fld id="{958E74C3-62C2-46AF-942D-53E7E0CA0864}" type="slidenum">
              <a:rPr lang="en-AU" smtClean="0"/>
              <a:pPr/>
              <a:t>45</a:t>
            </a:fld>
            <a:endParaRPr lang="en-AU"/>
          </a:p>
        </p:txBody>
      </p:sp>
      <p:sp>
        <p:nvSpPr>
          <p:cNvPr id="9" name="WordArt 4"/>
          <p:cNvSpPr>
            <a:spLocks noChangeArrowheads="1" noChangeShapeType="1" noTextEdit="1"/>
          </p:cNvSpPr>
          <p:nvPr/>
        </p:nvSpPr>
        <p:spPr bwMode="auto">
          <a:xfrm>
            <a:off x="8709025" y="377715"/>
            <a:ext cx="1936750" cy="428625"/>
          </a:xfrm>
          <a:prstGeom prst="rect">
            <a:avLst/>
          </a:prstGeom>
        </p:spPr>
        <p:txBody>
          <a:bodyPr wrap="none" fromWordArt="1">
            <a:prstTxWarp prst="textFadeUp">
              <a:avLst>
                <a:gd name="adj" fmla="val 12634"/>
              </a:avLst>
            </a:prstTxWarp>
          </a:bodyPr>
          <a:lstStyle/>
          <a:p>
            <a:pPr algn="ctr"/>
            <a:r>
              <a:rPr lang="vi-VN" sz="2400" kern="10" dirty="0">
                <a:ln w="9525">
                  <a:solidFill>
                    <a:schemeClr val="tx1"/>
                  </a:solidFill>
                  <a:round/>
                  <a:headEnd/>
                  <a:tailEnd/>
                </a:ln>
                <a:solidFill>
                  <a:schemeClr val="accent2"/>
                </a:solidFill>
                <a:effectLst>
                  <a:outerShdw dist="35921" dir="2700000" sy="50000" rotWithShape="0">
                    <a:srgbClr val="875B0D"/>
                  </a:outerShdw>
                </a:effectLst>
                <a:latin typeface="Arial Black"/>
              </a:rPr>
              <a:t>Một cách để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title"/>
          </p:nvPr>
        </p:nvSpPr>
        <p:spPr/>
        <p:txBody>
          <a:bodyPr/>
          <a:lstStyle/>
          <a:p>
            <a:r>
              <a:rPr lang="vi-VN"/>
              <a:t>Kiểm tra code 5/5: Thân phương thức</a:t>
            </a:r>
          </a:p>
        </p:txBody>
      </p:sp>
      <p:sp>
        <p:nvSpPr>
          <p:cNvPr id="45059" name="Rectangle 8"/>
          <p:cNvSpPr>
            <a:spLocks noGrp="1" noChangeArrowheads="1"/>
          </p:cNvSpPr>
          <p:nvPr>
            <p:ph idx="1"/>
          </p:nvPr>
        </p:nvSpPr>
        <p:spPr/>
        <p:txBody>
          <a:bodyPr>
            <a:normAutofit fontScale="70000" lnSpcReduction="20000"/>
          </a:bodyPr>
          <a:lstStyle/>
          <a:p>
            <a:r>
              <a:rPr lang="vi-VN" dirty="0"/>
              <a:t>MB1.   Thuật toán có nhất quán với pseudocode và/hoặc lưu đồ của thiết kế chi tiết không?   </a:t>
            </a:r>
          </a:p>
          <a:p>
            <a:r>
              <a:rPr lang="vi-VN" dirty="0"/>
              <a:t>MB2.   Code có giả định nhiều hơn các tiền điều kiện đã nêu không?</a:t>
            </a:r>
          </a:p>
          <a:p>
            <a:r>
              <a:rPr lang="vi-VN" dirty="0"/>
              <a:t>MB3.   Code có tạo ra đầy đủ mọi hậu điều kiện không?</a:t>
            </a:r>
          </a:p>
          <a:p>
            <a:r>
              <a:rPr lang="vi-VN" dirty="0"/>
              <a:t>MB4.   Code có tôn trọng bất biến yêu cầu không?</a:t>
            </a:r>
          </a:p>
          <a:p>
            <a:r>
              <a:rPr lang="vi-VN" dirty="0"/>
              <a:t>MB5.   Mọi vòng lặp có kết thúc không? </a:t>
            </a:r>
          </a:p>
          <a:p>
            <a:r>
              <a:rPr lang="vi-VN" dirty="0"/>
              <a:t>MB6.   Các chuẩn ký hiệu yêu cầu có được tuân thủ không? </a:t>
            </a:r>
          </a:p>
          <a:p>
            <a:r>
              <a:rPr lang="vi-VN" dirty="0"/>
              <a:t>MB7.   Mỗi dòng đã được kiểm tra kỹ chưa?</a:t>
            </a:r>
          </a:p>
          <a:p>
            <a:r>
              <a:rPr lang="vi-VN" dirty="0"/>
              <a:t>MB8.   Tất cả dấu ngoặc nhọn có cân đối không? </a:t>
            </a:r>
          </a:p>
          <a:p>
            <a:r>
              <a:rPr lang="vi-VN" dirty="0"/>
              <a:t>MB9.   Các tham số không hợp lệ có được xem xét không?</a:t>
            </a:r>
          </a:p>
          <a:p>
            <a:r>
              <a:rPr lang="vi-VN" dirty="0"/>
              <a:t>MB10. Code có trả về đúng kiểu không?  </a:t>
            </a:r>
          </a:p>
          <a:p>
            <a:r>
              <a:rPr lang="vi-VN" dirty="0"/>
              <a:t>MB11. Code có được chú thích đầy đủ không?</a:t>
            </a:r>
          </a:p>
        </p:txBody>
      </p:sp>
      <p:sp>
        <p:nvSpPr>
          <p:cNvPr id="6" name="Date Placeholder 5"/>
          <p:cNvSpPr>
            <a:spLocks noGrp="1"/>
          </p:cNvSpPr>
          <p:nvPr>
            <p:ph type="dt" sz="half" idx="10"/>
          </p:nvPr>
        </p:nvSpPr>
        <p:spPr/>
        <p:txBody>
          <a:bodyPr/>
          <a:lstStyle/>
          <a:p>
            <a:fld id="{02CD3A9F-3F1D-4C21-B89A-10B8361DF37C}" type="datetime1">
              <a:rPr lang="nb-NO" smtClean="0"/>
              <a:t>05.10.2026</a:t>
            </a:fld>
            <a:endParaRPr lang="en-US"/>
          </a:p>
        </p:txBody>
      </p:sp>
      <p:sp>
        <p:nvSpPr>
          <p:cNvPr id="7" name="Footer Placeholder 6"/>
          <p:cNvSpPr>
            <a:spLocks noGrp="1"/>
          </p:cNvSpPr>
          <p:nvPr>
            <p:ph type="ftr" sz="quarter" idx="11"/>
          </p:nvPr>
        </p:nvSpPr>
        <p:spPr/>
        <p:txBody>
          <a:bodyPr/>
          <a:lstStyle/>
          <a:p>
            <a:r>
              <a:rPr lang="vi-VN"/>
              <a:t>Chương 7.3. Tìm hiểu thêm về triển khai</a:t>
            </a:r>
            <a:endParaRPr lang="en-AU"/>
          </a:p>
        </p:txBody>
      </p:sp>
      <p:sp>
        <p:nvSpPr>
          <p:cNvPr id="8" name="Slide Number Placeholder 7"/>
          <p:cNvSpPr>
            <a:spLocks noGrp="1"/>
          </p:cNvSpPr>
          <p:nvPr>
            <p:ph type="sldNum" sz="quarter" idx="12"/>
          </p:nvPr>
        </p:nvSpPr>
        <p:spPr/>
        <p:txBody>
          <a:bodyPr/>
          <a:lstStyle/>
          <a:p>
            <a:fld id="{958E74C3-62C2-46AF-942D-53E7E0CA0864}" type="slidenum">
              <a:rPr lang="en-AU" smtClean="0"/>
              <a:pPr/>
              <a:t>46</a:t>
            </a:fld>
            <a:endParaRPr lang="en-AU"/>
          </a:p>
        </p:txBody>
      </p:sp>
      <p:sp>
        <p:nvSpPr>
          <p:cNvPr id="9" name="WordArt 4"/>
          <p:cNvSpPr>
            <a:spLocks noChangeArrowheads="1" noChangeShapeType="1" noTextEdit="1"/>
          </p:cNvSpPr>
          <p:nvPr/>
        </p:nvSpPr>
        <p:spPr bwMode="auto">
          <a:xfrm>
            <a:off x="8709025" y="377715"/>
            <a:ext cx="1936750" cy="428625"/>
          </a:xfrm>
          <a:prstGeom prst="rect">
            <a:avLst/>
          </a:prstGeom>
        </p:spPr>
        <p:txBody>
          <a:bodyPr wrap="none" fromWordArt="1">
            <a:prstTxWarp prst="textFadeUp">
              <a:avLst>
                <a:gd name="adj" fmla="val 12634"/>
              </a:avLst>
            </a:prstTxWarp>
          </a:bodyPr>
          <a:lstStyle/>
          <a:p>
            <a:pPr algn="ctr"/>
            <a:r>
              <a:rPr lang="vi-VN" sz="2400" kern="10" dirty="0">
                <a:ln w="9525">
                  <a:solidFill>
                    <a:schemeClr val="tx1"/>
                  </a:solidFill>
                  <a:round/>
                  <a:headEnd/>
                  <a:tailEnd/>
                </a:ln>
                <a:solidFill>
                  <a:schemeClr val="accent2"/>
                </a:solidFill>
                <a:effectLst>
                  <a:outerShdw dist="35921" dir="2700000" sy="50000" rotWithShape="0">
                    <a:srgbClr val="875B0D"/>
                  </a:outerShdw>
                </a:effectLst>
                <a:latin typeface="Arial Black"/>
              </a:rPr>
              <a:t>Một cách để ...</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_SE2019s1">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Theme_SE2019s1" id="{E4EA5176-60B7-4738-A39A-85EA610AC46B}" vid="{8416C537-BC8A-42C5-99D5-28933A3097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Theme_SE2019s1</Template>
  <TotalTime>9753</TotalTime>
  <Words>4479</Words>
  <Application>Microsoft Macintosh PowerPoint</Application>
  <PresentationFormat>Widescreen</PresentationFormat>
  <Paragraphs>650</Paragraphs>
  <Slides>46</Slides>
  <Notes>31</Notes>
  <HiddenSlides>15</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46</vt:i4>
      </vt:variant>
    </vt:vector>
  </HeadingPairs>
  <TitlesOfParts>
    <vt:vector size="56" baseType="lpstr">
      <vt:lpstr>Arial Unicode MS</vt:lpstr>
      <vt:lpstr>Arial</vt:lpstr>
      <vt:lpstr>Arial Black</vt:lpstr>
      <vt:lpstr>Calibri</vt:lpstr>
      <vt:lpstr>Times New Roman</vt:lpstr>
      <vt:lpstr>Tw Cen MT</vt:lpstr>
      <vt:lpstr>Tw Cen MT Condensed</vt:lpstr>
      <vt:lpstr>Wingdings</vt:lpstr>
      <vt:lpstr>Wingdings 3</vt:lpstr>
      <vt:lpstr>Theme_SE2019s1</vt:lpstr>
      <vt:lpstr>Chapter 8 – software Implementation</vt:lpstr>
      <vt:lpstr>Topics covered</vt:lpstr>
      <vt:lpstr>Implementation</vt:lpstr>
      <vt:lpstr>Golden rule (!?)</vt:lpstr>
      <vt:lpstr>Code quality</vt:lpstr>
      <vt:lpstr>Implement Code</vt:lpstr>
      <vt:lpstr>General Principles in Programming Practice</vt:lpstr>
      <vt:lpstr>“Think Globally, Program Locally”</vt:lpstr>
      <vt:lpstr>Exceptions Handling</vt:lpstr>
      <vt:lpstr>Naming Conventions</vt:lpstr>
      <vt:lpstr>Documenting Methods</vt:lpstr>
      <vt:lpstr>PowerPoint Presentation</vt:lpstr>
      <vt:lpstr>Documenting Attributes</vt:lpstr>
      <vt:lpstr>Constants</vt:lpstr>
      <vt:lpstr>Initializing Attributes</vt:lpstr>
      <vt:lpstr>Relevant books</vt:lpstr>
      <vt:lpstr>Bad smells in code (code smells)</vt:lpstr>
      <vt:lpstr>PowerPoint Presentation</vt:lpstr>
      <vt:lpstr>PowerPoint Presentation</vt:lpstr>
      <vt:lpstr>PowerPoint Presentation</vt:lpstr>
      <vt:lpstr>PowerPoint Presentation</vt:lpstr>
      <vt:lpstr>PowerPoint Presentation</vt:lpstr>
      <vt:lpstr>PowerPoint Presentation</vt:lpstr>
      <vt:lpstr>Cod refactoring goals and properties</vt:lpstr>
      <vt:lpstr>Remove Duplicated Code – Pull up method (Don’t repeat yourself (DRY))</vt:lpstr>
      <vt:lpstr>Remove Duplicated code - Substitute Algorithm </vt:lpstr>
      <vt:lpstr>Reduce size – shorten method/class</vt:lpstr>
      <vt:lpstr>Extract method example</vt:lpstr>
      <vt:lpstr>Reduce size – shorten parameter list</vt:lpstr>
      <vt:lpstr>Divergent Change</vt:lpstr>
      <vt:lpstr>Increase cohesion</vt:lpstr>
      <vt:lpstr>Increase cohesion (Cont’)</vt:lpstr>
      <vt:lpstr>Primitive Obsession</vt:lpstr>
      <vt:lpstr>PowerPoint Presentation</vt:lpstr>
      <vt:lpstr>PowerPoint Presentation</vt:lpstr>
      <vt:lpstr>What is inspection?</vt:lpstr>
      <vt:lpstr>Why do we need inspection?</vt:lpstr>
      <vt:lpstr>Inspection finds types of defects different from testing</vt:lpstr>
      <vt:lpstr>Inspection reduces defect rates</vt:lpstr>
      <vt:lpstr>Testing vs. Inspection</vt:lpstr>
      <vt:lpstr>Code review at Google</vt:lpstr>
      <vt:lpstr>Inspect Code 1 of 5: Classes Overall</vt:lpstr>
      <vt:lpstr>Inspect Code 2 of 5 : Attributes</vt:lpstr>
      <vt:lpstr>Inspect Code 3 of 5 : Constructors</vt:lpstr>
      <vt:lpstr>Inspect Code 4 of 5: Method Headers</vt:lpstr>
      <vt:lpstr>Inspect Code 5 of 5: Method Bodies</vt:lpstr>
    </vt:vector>
  </TitlesOfParts>
  <Company>HCMUT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 - chap6. architecture</dc:title>
  <dc:creator>Thang Bui</dc:creator>
  <cp:lastModifiedBy>Tâm Nguyễn</cp:lastModifiedBy>
  <cp:revision>162</cp:revision>
  <cp:lastPrinted>2017-12-20T07:10:14Z</cp:lastPrinted>
  <dcterms:created xsi:type="dcterms:W3CDTF">2010-01-18T20:35:25Z</dcterms:created>
  <dcterms:modified xsi:type="dcterms:W3CDTF">2026-10-05T03:53:48Z</dcterms:modified>
</cp:coreProperties>
</file>