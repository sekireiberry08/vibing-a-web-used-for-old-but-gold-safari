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7" r:id="rId1"/>
  </p:sldMasterIdLst>
  <p:notesMasterIdLst>
    <p:notesMasterId r:id="rId48"/>
  </p:notesMasterIdLst>
  <p:handoutMasterIdLst>
    <p:handoutMasterId r:id="rId49"/>
  </p:handoutMasterIdLst>
  <p:sldIdLst>
    <p:sldId id="424" r:id="rId2"/>
    <p:sldId id="406" r:id="rId3"/>
    <p:sldId id="398" r:id="rId4"/>
    <p:sldId id="421" r:id="rId5"/>
    <p:sldId id="983" r:id="rId6"/>
    <p:sldId id="324" r:id="rId7"/>
    <p:sldId id="425" r:id="rId8"/>
    <p:sldId id="426" r:id="rId9"/>
    <p:sldId id="427" r:id="rId10"/>
    <p:sldId id="428" r:id="rId11"/>
    <p:sldId id="429" r:id="rId12"/>
    <p:sldId id="422" r:id="rId13"/>
    <p:sldId id="430" r:id="rId14"/>
    <p:sldId id="431" r:id="rId15"/>
    <p:sldId id="432" r:id="rId16"/>
    <p:sldId id="937" r:id="rId17"/>
    <p:sldId id="956" r:id="rId18"/>
    <p:sldId id="975" r:id="rId19"/>
    <p:sldId id="977" r:id="rId20"/>
    <p:sldId id="978" r:id="rId21"/>
    <p:sldId id="979" r:id="rId22"/>
    <p:sldId id="980" r:id="rId23"/>
    <p:sldId id="981" r:id="rId24"/>
    <p:sldId id="916" r:id="rId25"/>
    <p:sldId id="921" r:id="rId26"/>
    <p:sldId id="925" r:id="rId27"/>
    <p:sldId id="922" r:id="rId28"/>
    <p:sldId id="918" r:id="rId29"/>
    <p:sldId id="953" r:id="rId30"/>
    <p:sldId id="923" r:id="rId31"/>
    <p:sldId id="926" r:id="rId32"/>
    <p:sldId id="939" r:id="rId33"/>
    <p:sldId id="940" r:id="rId34"/>
    <p:sldId id="946" r:id="rId35"/>
    <p:sldId id="947" r:id="rId36"/>
    <p:sldId id="860" r:id="rId37"/>
    <p:sldId id="855" r:id="rId38"/>
    <p:sldId id="868" r:id="rId39"/>
    <p:sldId id="867" r:id="rId40"/>
    <p:sldId id="873" r:id="rId41"/>
    <p:sldId id="984" r:id="rId42"/>
    <p:sldId id="360" r:id="rId43"/>
    <p:sldId id="362" r:id="rId44"/>
    <p:sldId id="363" r:id="rId45"/>
    <p:sldId id="364" r:id="rId46"/>
    <p:sldId id="365"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57F6FB-EE12-45FB-A440-AAE67841836F}" v="4" dt="2023-03-22T07:05:03.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81" autoAdjust="0"/>
    <p:restoredTop sz="63329" autoAdjust="0"/>
  </p:normalViewPr>
  <p:slideViewPr>
    <p:cSldViewPr snapToGrid="0" snapToObjects="1">
      <p:cViewPr varScale="1">
        <p:scale>
          <a:sx n="75" d="100"/>
          <a:sy n="75" d="100"/>
        </p:scale>
        <p:origin x="1880" y="17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h Nguyen Duc" userId="04a5c95d-4a59-4e21-b199-e9922fb46c5c" providerId="ADAL" clId="{BB8A329C-265C-48B7-8A6F-27641FBB6C47}"/>
    <pc:docChg chg="modSld">
      <pc:chgData name="Anh Nguyen Duc" userId="04a5c95d-4a59-4e21-b199-e9922fb46c5c" providerId="ADAL" clId="{BB8A329C-265C-48B7-8A6F-27641FBB6C47}" dt="2022-11-01T21:30:48.589" v="72" actId="20577"/>
      <pc:docMkLst>
        <pc:docMk/>
      </pc:docMkLst>
      <pc:sldChg chg="modSp mod">
        <pc:chgData name="Anh Nguyen Duc" userId="04a5c95d-4a59-4e21-b199-e9922fb46c5c" providerId="ADAL" clId="{BB8A329C-265C-48B7-8A6F-27641FBB6C47}" dt="2022-11-01T21:29:27.794" v="62" actId="20577"/>
        <pc:sldMkLst>
          <pc:docMk/>
          <pc:sldMk cId="1788750161" sldId="406"/>
        </pc:sldMkLst>
        <pc:spChg chg="mod">
          <ac:chgData name="Anh Nguyen Duc" userId="04a5c95d-4a59-4e21-b199-e9922fb46c5c" providerId="ADAL" clId="{BB8A329C-265C-48B7-8A6F-27641FBB6C47}" dt="2022-11-01T21:29:27.794" v="62" actId="20577"/>
          <ac:spMkLst>
            <pc:docMk/>
            <pc:sldMk cId="1788750161" sldId="406"/>
            <ac:spMk id="3" creationId="{00000000-0000-0000-0000-000000000000}"/>
          </ac:spMkLst>
        </pc:spChg>
      </pc:sldChg>
      <pc:sldChg chg="modSp mod">
        <pc:chgData name="Anh Nguyen Duc" userId="04a5c95d-4a59-4e21-b199-e9922fb46c5c" providerId="ADAL" clId="{BB8A329C-265C-48B7-8A6F-27641FBB6C47}" dt="2022-11-01T21:30:48.589" v="72" actId="20577"/>
        <pc:sldMkLst>
          <pc:docMk/>
          <pc:sldMk cId="203347341" sldId="957"/>
        </pc:sldMkLst>
        <pc:spChg chg="mod">
          <ac:chgData name="Anh Nguyen Duc" userId="04a5c95d-4a59-4e21-b199-e9922fb46c5c" providerId="ADAL" clId="{BB8A329C-265C-48B7-8A6F-27641FBB6C47}" dt="2022-11-01T21:29:59.327" v="70" actId="20577"/>
          <ac:spMkLst>
            <pc:docMk/>
            <pc:sldMk cId="203347341" sldId="957"/>
            <ac:spMk id="2" creationId="{F4ADC6A8-1758-3FFA-79E9-4E531D3B34E8}"/>
          </ac:spMkLst>
        </pc:spChg>
        <pc:spChg chg="mod">
          <ac:chgData name="Anh Nguyen Duc" userId="04a5c95d-4a59-4e21-b199-e9922fb46c5c" providerId="ADAL" clId="{BB8A329C-265C-48B7-8A6F-27641FBB6C47}" dt="2022-11-01T21:30:48.589" v="72" actId="20577"/>
          <ac:spMkLst>
            <pc:docMk/>
            <pc:sldMk cId="203347341" sldId="957"/>
            <ac:spMk id="3" creationId="{D1FEB751-AA3F-ACEA-BA97-D10714B24416}"/>
          </ac:spMkLst>
        </pc:spChg>
      </pc:sldChg>
    </pc:docChg>
  </pc:docChgLst>
  <pc:docChgLst>
    <pc:chgData name="Anh Nguyen Duc" userId="04a5c95d-4a59-4e21-b199-e9922fb46c5c" providerId="ADAL" clId="{CA57F6FB-EE12-45FB-A440-AAE67841836F}"/>
    <pc:docChg chg="addSld delSld modSld sldOrd">
      <pc:chgData name="Anh Nguyen Duc" userId="04a5c95d-4a59-4e21-b199-e9922fb46c5c" providerId="ADAL" clId="{CA57F6FB-EE12-45FB-A440-AAE67841836F}" dt="2023-03-29T08:23:13.786" v="11" actId="22"/>
      <pc:docMkLst>
        <pc:docMk/>
      </pc:docMkLst>
      <pc:sldChg chg="add del ord">
        <pc:chgData name="Anh Nguyen Duc" userId="04a5c95d-4a59-4e21-b199-e9922fb46c5c" providerId="ADAL" clId="{CA57F6FB-EE12-45FB-A440-AAE67841836F}" dt="2023-03-22T07:04:25.633" v="8" actId="47"/>
        <pc:sldMkLst>
          <pc:docMk/>
          <pc:sldMk cId="0" sldId="845"/>
        </pc:sldMkLst>
      </pc:sldChg>
      <pc:sldChg chg="del">
        <pc:chgData name="Anh Nguyen Duc" userId="04a5c95d-4a59-4e21-b199-e9922fb46c5c" providerId="ADAL" clId="{CA57F6FB-EE12-45FB-A440-AAE67841836F}" dt="2023-03-22T07:05:05.770" v="10" actId="47"/>
        <pc:sldMkLst>
          <pc:docMk/>
          <pc:sldMk cId="2895335485" sldId="853"/>
        </pc:sldMkLst>
      </pc:sldChg>
      <pc:sldChg chg="del">
        <pc:chgData name="Anh Nguyen Duc" userId="04a5c95d-4a59-4e21-b199-e9922fb46c5c" providerId="ADAL" clId="{CA57F6FB-EE12-45FB-A440-AAE67841836F}" dt="2023-03-22T07:03:07.850" v="5" actId="47"/>
        <pc:sldMkLst>
          <pc:docMk/>
          <pc:sldMk cId="177366512" sldId="917"/>
        </pc:sldMkLst>
      </pc:sldChg>
      <pc:sldChg chg="addSp mod">
        <pc:chgData name="Anh Nguyen Duc" userId="04a5c95d-4a59-4e21-b199-e9922fb46c5c" providerId="ADAL" clId="{CA57F6FB-EE12-45FB-A440-AAE67841836F}" dt="2023-03-29T08:23:13.786" v="11" actId="22"/>
        <pc:sldMkLst>
          <pc:docMk/>
          <pc:sldMk cId="2966557867" sldId="958"/>
        </pc:sldMkLst>
        <pc:picChg chg="add">
          <ac:chgData name="Anh Nguyen Duc" userId="04a5c95d-4a59-4e21-b199-e9922fb46c5c" providerId="ADAL" clId="{CA57F6FB-EE12-45FB-A440-AAE67841836F}" dt="2023-03-29T08:23:13.786" v="11" actId="22"/>
          <ac:picMkLst>
            <pc:docMk/>
            <pc:sldMk cId="2966557867" sldId="958"/>
            <ac:picMk id="8" creationId="{F04C52D0-69E8-C0D0-4141-3C1E23FCDB63}"/>
          </ac:picMkLst>
        </pc:picChg>
      </pc:sldChg>
      <pc:sldChg chg="add">
        <pc:chgData name="Anh Nguyen Duc" userId="04a5c95d-4a59-4e21-b199-e9922fb46c5c" providerId="ADAL" clId="{CA57F6FB-EE12-45FB-A440-AAE67841836F}" dt="2023-03-22T07:03:18.167" v="6"/>
        <pc:sldMkLst>
          <pc:docMk/>
          <pc:sldMk cId="2827991545" sldId="975"/>
        </pc:sldMkLst>
      </pc:sldChg>
      <pc:sldChg chg="add">
        <pc:chgData name="Anh Nguyen Duc" userId="04a5c95d-4a59-4e21-b199-e9922fb46c5c" providerId="ADAL" clId="{CA57F6FB-EE12-45FB-A440-AAE67841836F}" dt="2023-03-22T07:03:18.167" v="6"/>
        <pc:sldMkLst>
          <pc:docMk/>
          <pc:sldMk cId="4078289443" sldId="977"/>
        </pc:sldMkLst>
      </pc:sldChg>
      <pc:sldChg chg="add">
        <pc:chgData name="Anh Nguyen Duc" userId="04a5c95d-4a59-4e21-b199-e9922fb46c5c" providerId="ADAL" clId="{CA57F6FB-EE12-45FB-A440-AAE67841836F}" dt="2023-03-22T07:03:18.167" v="6"/>
        <pc:sldMkLst>
          <pc:docMk/>
          <pc:sldMk cId="531758080" sldId="978"/>
        </pc:sldMkLst>
      </pc:sldChg>
      <pc:sldChg chg="add">
        <pc:chgData name="Anh Nguyen Duc" userId="04a5c95d-4a59-4e21-b199-e9922fb46c5c" providerId="ADAL" clId="{CA57F6FB-EE12-45FB-A440-AAE67841836F}" dt="2023-03-22T07:03:18.167" v="6"/>
        <pc:sldMkLst>
          <pc:docMk/>
          <pc:sldMk cId="2986898993" sldId="979"/>
        </pc:sldMkLst>
      </pc:sldChg>
      <pc:sldChg chg="add">
        <pc:chgData name="Anh Nguyen Duc" userId="04a5c95d-4a59-4e21-b199-e9922fb46c5c" providerId="ADAL" clId="{CA57F6FB-EE12-45FB-A440-AAE67841836F}" dt="2023-03-22T07:03:18.167" v="6"/>
        <pc:sldMkLst>
          <pc:docMk/>
          <pc:sldMk cId="2475594448" sldId="980"/>
        </pc:sldMkLst>
      </pc:sldChg>
      <pc:sldChg chg="add">
        <pc:chgData name="Anh Nguyen Duc" userId="04a5c95d-4a59-4e21-b199-e9922fb46c5c" providerId="ADAL" clId="{CA57F6FB-EE12-45FB-A440-AAE67841836F}" dt="2023-03-22T07:03:18.167" v="6"/>
        <pc:sldMkLst>
          <pc:docMk/>
          <pc:sldMk cId="1178591269" sldId="981"/>
        </pc:sldMkLst>
      </pc:sldChg>
      <pc:sldChg chg="add">
        <pc:chgData name="Anh Nguyen Duc" userId="04a5c95d-4a59-4e21-b199-e9922fb46c5c" providerId="ADAL" clId="{CA57F6FB-EE12-45FB-A440-AAE67841836F}" dt="2023-03-22T07:04:24.082" v="7"/>
        <pc:sldMkLst>
          <pc:docMk/>
          <pc:sldMk cId="3857134604" sldId="983"/>
        </pc:sldMkLst>
      </pc:sldChg>
      <pc:sldChg chg="add">
        <pc:chgData name="Anh Nguyen Duc" userId="04a5c95d-4a59-4e21-b199-e9922fb46c5c" providerId="ADAL" clId="{CA57F6FB-EE12-45FB-A440-AAE67841836F}" dt="2023-03-22T07:05:03.985" v="9"/>
        <pc:sldMkLst>
          <pc:docMk/>
          <pc:sldMk cId="2449526657" sldId="98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AEE5E3-A02E-4EC0-88BF-B7674C41C976}" type="datetime1">
              <a:rPr lang="en-US" smtClean="0"/>
              <a:t>10/5/26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5C6E44-75D0-C24F-A2A6-8C06F77DC669}" type="slidenum">
              <a:rPr lang="en-US" smtClean="0"/>
              <a:pPr/>
              <a:t>‹#›</a:t>
            </a:fld>
            <a:endParaRPr lang="en-US"/>
          </a:p>
        </p:txBody>
      </p:sp>
    </p:spTree>
    <p:extLst>
      <p:ext uri="{BB962C8B-B14F-4D97-AF65-F5344CB8AC3E}">
        <p14:creationId xmlns:p14="http://schemas.microsoft.com/office/powerpoint/2010/main" val="1356029432"/>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0CCADC-90EC-4BB0-AB19-83E9CFC49441}" type="datetime1">
              <a:rPr lang="en-US" smtClean="0"/>
              <a:t>10/5/26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DA69-A571-1F49-91C0-61EBFAAB21F4}" type="slidenum">
              <a:rPr lang="en-US" smtClean="0"/>
              <a:pPr/>
              <a:t>‹#›</a:t>
            </a:fld>
            <a:endParaRPr lang="en-US"/>
          </a:p>
        </p:txBody>
      </p:sp>
    </p:spTree>
    <p:extLst>
      <p:ext uri="{BB962C8B-B14F-4D97-AF65-F5344CB8AC3E}">
        <p14:creationId xmlns:p14="http://schemas.microsoft.com/office/powerpoint/2010/main" val="2576816785"/>
      </p:ext>
    </p:extLst>
  </p:cSld>
  <p:clrMap bg1="lt1" tx1="dk1" bg2="lt2" tx2="dk2" accent1="accent1" accent2="accent2" accent3="accent3" accent4="accent4" accent5="accent5" accent6="accent6" hlink="hlink" folHlink="folHlink"/>
  <p:hf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1</a:t>
            </a:fld>
            <a:endParaRPr lang="en-US"/>
          </a:p>
        </p:txBody>
      </p:sp>
      <p:sp>
        <p:nvSpPr>
          <p:cNvPr id="5" name="Date Placeholder 4"/>
          <p:cNvSpPr>
            <a:spLocks noGrp="1"/>
          </p:cNvSpPr>
          <p:nvPr>
            <p:ph type="dt" idx="11"/>
          </p:nvPr>
        </p:nvSpPr>
        <p:spPr/>
        <p:txBody>
          <a:bodyPr/>
          <a:lstStyle/>
          <a:p>
            <a:pPr>
              <a:defRPr/>
            </a:pPr>
            <a:fld id="{26EB3992-A50F-48CC-A0FF-4149F2D82BC2}"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393125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2</a:t>
            </a:fld>
            <a:endParaRPr lang="en-US"/>
          </a:p>
        </p:txBody>
      </p:sp>
      <p:sp>
        <p:nvSpPr>
          <p:cNvPr id="5" name="Date Placeholder 4"/>
          <p:cNvSpPr>
            <a:spLocks noGrp="1"/>
          </p:cNvSpPr>
          <p:nvPr>
            <p:ph type="dt" idx="11"/>
          </p:nvPr>
        </p:nvSpPr>
        <p:spPr/>
        <p:txBody>
          <a:bodyPr/>
          <a:lstStyle/>
          <a:p>
            <a:pPr>
              <a:defRPr/>
            </a:pPr>
            <a:fld id="{485B947E-741F-417D-8037-BBD8FBBB082D}"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621483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vi-VN" dirty="0"/>
              <a:t>Trong giai đoạn </a:t>
            </a:r>
            <a:r>
              <a:rPr lang="vi-VN" b="1" dirty="0"/>
              <a:t>Implementation</a:t>
            </a:r>
            <a:r>
              <a:rPr lang="vi-VN" dirty="0"/>
              <a:t>, chúng ta không chỉ code từng phần riêng lẻ, mà còn phải </a:t>
            </a:r>
            <a:r>
              <a:rPr lang="vi-VN" b="1" dirty="0"/>
              <a:t>kết hợp các phần đó lại thành hệ thống hoạt động được</a:t>
            </a:r>
            <a:r>
              <a:rPr lang="vi-VN" dirty="0"/>
              <a:t>.</a:t>
            </a:r>
            <a:endParaRPr lang="en-US"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3</a:t>
            </a:fld>
            <a:endParaRPr lang="en-US"/>
          </a:p>
        </p:txBody>
      </p:sp>
      <p:sp>
        <p:nvSpPr>
          <p:cNvPr id="5" name="Date Placeholder 4"/>
          <p:cNvSpPr>
            <a:spLocks noGrp="1"/>
          </p:cNvSpPr>
          <p:nvPr>
            <p:ph type="dt" idx="11"/>
          </p:nvPr>
        </p:nvSpPr>
        <p:spPr/>
        <p:txBody>
          <a:bodyPr/>
          <a:lstStyle/>
          <a:p>
            <a:pPr>
              <a:defRPr/>
            </a:pPr>
            <a:fld id="{B4495E5A-9029-4373-95D9-1EAAED44A82D}"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650314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Requirements to satisfy Customers</a:t>
            </a:r>
          </a:p>
          <a:p>
            <a:pPr marL="628650" lvl="1" indent="-171450">
              <a:buFont typeface="Arial" panose="020B0604020202020204" pitchFamily="34" charset="0"/>
              <a:buChar char="•"/>
            </a:pPr>
            <a:r>
              <a:rPr lang="en-US" dirty="0"/>
              <a:t>Consultation</a:t>
            </a:r>
          </a:p>
          <a:p>
            <a:pPr marL="628650" lvl="1" indent="-171450">
              <a:buFont typeface="Arial" panose="020B0604020202020204" pitchFamily="34" charset="0"/>
              <a:buChar char="•"/>
            </a:pPr>
            <a:r>
              <a:rPr lang="en-US" dirty="0"/>
              <a:t>No more – no less</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Design again requirements only</a:t>
            </a:r>
          </a:p>
          <a:p>
            <a:pPr marL="628650" lvl="1" indent="-171450">
              <a:buFont typeface="Arial" panose="020B0604020202020204" pitchFamily="34" charset="0"/>
              <a:buChar char="•"/>
            </a:pPr>
            <a:r>
              <a:rPr lang="en-US" dirty="0"/>
              <a:t>No more – no less (SRS as a contract)</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Implement again design only</a:t>
            </a:r>
          </a:p>
          <a:p>
            <a:pPr marL="628650" lvl="1" indent="-171450">
              <a:buFont typeface="Arial" panose="020B0604020202020204" pitchFamily="34" charset="0"/>
              <a:buChar char="•"/>
            </a:pPr>
            <a:r>
              <a:rPr lang="en-US" dirty="0"/>
              <a:t>No more – no less (SDD =</a:t>
            </a:r>
            <a:r>
              <a:rPr lang="en-US" baseline="0" dirty="0"/>
              <a:t> blueprint)</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Test again design and requirements</a:t>
            </a:r>
          </a:p>
          <a:p>
            <a:pPr marL="628650" lvl="1" indent="-171450">
              <a:buFont typeface="Arial" panose="020B0604020202020204" pitchFamily="34" charset="0"/>
              <a:buChar char="•"/>
            </a:pPr>
            <a:r>
              <a:rPr lang="en-US" dirty="0"/>
              <a:t>SRS</a:t>
            </a:r>
            <a:r>
              <a:rPr lang="en-US" baseline="0" dirty="0"/>
              <a:t> = contract</a:t>
            </a:r>
          </a:p>
          <a:p>
            <a:pPr marL="628650" lvl="1" indent="-171450">
              <a:buFont typeface="Arial" panose="020B0604020202020204" pitchFamily="34" charset="0"/>
              <a:buChar char="•"/>
            </a:pPr>
            <a:r>
              <a:rPr lang="en-US" baseline="0" dirty="0"/>
              <a:t>SDD = blueprint</a:t>
            </a:r>
          </a:p>
          <a:p>
            <a:pPr marL="628650" lvl="1"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4</a:t>
            </a:fld>
            <a:endParaRPr lang="en-US"/>
          </a:p>
        </p:txBody>
      </p:sp>
      <p:sp>
        <p:nvSpPr>
          <p:cNvPr id="5" name="Date Placeholder 4"/>
          <p:cNvSpPr>
            <a:spLocks noGrp="1"/>
          </p:cNvSpPr>
          <p:nvPr>
            <p:ph type="dt" idx="11"/>
          </p:nvPr>
        </p:nvSpPr>
        <p:spPr/>
        <p:txBody>
          <a:bodyPr/>
          <a:lstStyle/>
          <a:p>
            <a:pPr>
              <a:defRPr/>
            </a:pPr>
            <a:fld id="{E207A427-0212-4EAF-8A19-5AC81DC61832}"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196051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100" b="1" dirty="0"/>
              <a:t>quy trình implementation ở mức individual unit</a:t>
            </a:r>
            <a:r>
              <a:rPr lang="vi-VN" sz="1100" dirty="0"/>
              <a:t>. Điểm đáng chú ý là không xem implementation đơn giản là “viết code”, mà bao gồm cả </a:t>
            </a:r>
            <a:r>
              <a:rPr lang="vi-VN" sz="1100" b="1" dirty="0"/>
              <a:t>design → coding → inspection → compilation → testing</a:t>
            </a:r>
            <a:r>
              <a:rPr lang="vi-VN" sz="1100" dirty="0"/>
              <a:t>.</a:t>
            </a:r>
            <a:endParaRPr lang="en-US" sz="1100"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6</a:t>
            </a:fld>
            <a:endParaRPr lang="en-US"/>
          </a:p>
        </p:txBody>
      </p:sp>
      <p:sp>
        <p:nvSpPr>
          <p:cNvPr id="5" name="Date Placeholder 4"/>
          <p:cNvSpPr>
            <a:spLocks noGrp="1"/>
          </p:cNvSpPr>
          <p:nvPr>
            <p:ph type="dt" idx="11"/>
          </p:nvPr>
        </p:nvSpPr>
        <p:spPr/>
        <p:txBody>
          <a:bodyPr/>
          <a:lstStyle/>
          <a:p>
            <a:pPr>
              <a:defRPr/>
            </a:pPr>
            <a:fld id="{1E392AB6-07D5-4D1B-872C-B29F47210D99}"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929126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Trước khi tự implement một chức năng, developer nên kiểm tra xem </a:t>
            </a:r>
            <a:r>
              <a:rPr lang="vi-VN" b="1" dirty="0"/>
              <a:t>đã có code/component/library phù hợp để tái sử dụng hay chưa</a:t>
            </a:r>
            <a:r>
              <a:rPr lang="vi-VN" dirty="0"/>
              <a:t>.</a:t>
            </a:r>
          </a:p>
          <a:p>
            <a:endParaRPr lang="vi-VN" dirty="0"/>
          </a:p>
          <a:p>
            <a:r>
              <a:rPr lang="vi-VN" b="1" dirty="0"/>
              <a:t>Tại sao nên reuse?</a:t>
            </a:r>
          </a:p>
          <a:p>
            <a:r>
              <a:rPr lang="vi-VN" dirty="0"/>
              <a:t>Code đã tồn tại và đã được kiểm thử thường giúp:</a:t>
            </a:r>
          </a:p>
          <a:p>
            <a:pPr marL="171450" indent="-171450">
              <a:buFont typeface="Arial" panose="020B0604020202020204" pitchFamily="34" charset="0"/>
              <a:buChar char="•"/>
            </a:pPr>
            <a:r>
              <a:rPr lang="vi-VN" dirty="0"/>
              <a:t>giảm thời gian development;</a:t>
            </a:r>
          </a:p>
          <a:p>
            <a:pPr marL="171450" indent="-171450">
              <a:buFont typeface="Arial" panose="020B0604020202020204" pitchFamily="34" charset="0"/>
              <a:buChar char="•"/>
            </a:pPr>
            <a:r>
              <a:rPr lang="vi-VN" dirty="0"/>
              <a:t>giảm duplicated code;</a:t>
            </a:r>
          </a:p>
          <a:p>
            <a:pPr marL="171450" indent="-171450">
              <a:buFont typeface="Arial" panose="020B0604020202020204" pitchFamily="34" charset="0"/>
              <a:buChar char="•"/>
            </a:pPr>
            <a:r>
              <a:rPr lang="vi-VN" dirty="0"/>
              <a:t>giảm khả năng tạo thêm defects;</a:t>
            </a:r>
          </a:p>
          <a:p>
            <a:pPr marL="171450" indent="-171450">
              <a:buFont typeface="Arial" panose="020B0604020202020204" pitchFamily="34" charset="0"/>
              <a:buChar char="•"/>
            </a:pPr>
            <a:r>
              <a:rPr lang="vi-VN" dirty="0"/>
              <a:t>tăng consistency giữa các phần của hệ thống.</a:t>
            </a:r>
          </a:p>
          <a:p>
            <a:r>
              <a:rPr lang="vi-VN" dirty="0"/>
              <a:t>Nhưng </a:t>
            </a:r>
            <a:r>
              <a:rPr lang="vi-VN" b="1" dirty="0"/>
              <a:t>reuse first không có nghĩa là reuse bằng mọi giá</a:t>
            </a:r>
            <a:r>
              <a:rPr lang="vi-VN" dirty="0"/>
              <a:t>. Nếu component hiện tại không thực sự phù hợp hoặc việc sửa nó tạo coupling không cần thiết, viết component mới có thể hợp lý hơn.</a:t>
            </a:r>
          </a:p>
          <a:p>
            <a:endParaRPr lang="en-US" dirty="0"/>
          </a:p>
          <a:p>
            <a:r>
              <a:rPr lang="vi-VN" dirty="0"/>
              <a:t>Nếu một phần code </a:t>
            </a:r>
            <a:r>
              <a:rPr lang="vi-VN" b="1" dirty="0"/>
              <a:t>chỉ được phép sử dụng theo một cách nhất định</a:t>
            </a:r>
            <a:r>
              <a:rPr lang="vi-VN" dirty="0"/>
              <a:t>, đừng chỉ viết documentation nói rằng “hãy sử dụng như thế này”. Hãy thiết kế code để những cách sử dụng sai </a:t>
            </a:r>
            <a:r>
              <a:rPr lang="vi-VN" b="1" dirty="0"/>
              <a:t>không thể hoặc khó xảy ra</a:t>
            </a:r>
            <a:r>
              <a:rPr lang="vi-VN" dirty="0"/>
              <a:t>.</a:t>
            </a:r>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14FB911D-E0E9-4700-BBA3-73561CA332FD}"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7</a:t>
            </a:fld>
            <a:endParaRPr lang="en-US"/>
          </a:p>
        </p:txBody>
      </p:sp>
    </p:spTree>
    <p:extLst>
      <p:ext uri="{BB962C8B-B14F-4D97-AF65-F5344CB8AC3E}">
        <p14:creationId xmlns:p14="http://schemas.microsoft.com/office/powerpoint/2010/main" val="4048811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Một biến, method hay member chỉ nên được nhìn thấy ở phạm vi nhỏ nhất cần thiết.</a:t>
            </a:r>
            <a:endParaRPr lang="vi-VN" dirty="0"/>
          </a:p>
          <a:p>
            <a:r>
              <a:rPr lang="vi-VN" dirty="0"/>
              <a:t>Đừng cho một thành phần quyền truy cập rộng hơn mức nó thực sự cần. Đây là cách áp dụng trực tiếp </a:t>
            </a:r>
            <a:r>
              <a:rPr lang="vi-VN" b="1" dirty="0"/>
              <a:t>information hiding / encapsulation</a:t>
            </a:r>
            <a:r>
              <a:rPr lang="vi-VN" dirty="0"/>
              <a:t>.</a:t>
            </a:r>
          </a:p>
          <a:p>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5489A4A8-D430-4C35-BD0D-58E6B1D8E430}"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8</a:t>
            </a:fld>
            <a:endParaRPr lang="en-US"/>
          </a:p>
        </p:txBody>
      </p:sp>
    </p:spTree>
    <p:extLst>
      <p:ext uri="{BB962C8B-B14F-4D97-AF65-F5344CB8AC3E}">
        <p14:creationId xmlns:p14="http://schemas.microsoft.com/office/powerpoint/2010/main" val="3073980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vi-VN" dirty="0"/>
              <a:t>Ý chính là exception không đơn giản là “có lỗi thì </a:t>
            </a:r>
            <a:r>
              <a:rPr lang="vi-VN" sz="1200" kern="1200" dirty="0">
                <a:solidFill>
                  <a:schemeClr val="tx1"/>
                </a:solidFill>
                <a:latin typeface="+mn-lt"/>
                <a:ea typeface="+mn-ea"/>
                <a:cs typeface="+mn-cs"/>
              </a:rPr>
              <a:t>catch</a:t>
            </a:r>
            <a:r>
              <a:rPr lang="vi-VN" dirty="0"/>
              <a:t>”, mà developer phải quyết định </a:t>
            </a:r>
            <a:r>
              <a:rPr lang="vi-VN" b="1" dirty="0"/>
              <a:t>ai là người có đủ thông tin để xử lý lỗi và lỗi nào thực sự nên được biểu diễn bằng exception</a:t>
            </a:r>
            <a:r>
              <a:rPr lang="vi-VN" dirty="0"/>
              <a:t>.</a:t>
            </a:r>
          </a:p>
          <a:p>
            <a:pPr marL="0" indent="0">
              <a:buFont typeface="Arial" panose="020B0604020202020204" pitchFamily="34" charset="0"/>
              <a:buNone/>
            </a:pPr>
            <a:endParaRPr lang="vi-VN" dirty="0"/>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vi-VN" dirty="0"/>
              <a:t>một số </a:t>
            </a:r>
            <a:r>
              <a:rPr lang="vi-VN" b="1" dirty="0"/>
              <a:t>guidelines khi thiết kế exception handling:</a:t>
            </a:r>
            <a:endParaRPr lang="vi-VN" dirty="0"/>
          </a:p>
          <a:p>
            <a:pPr marL="0" indent="0">
              <a:buFont typeface="Arial" panose="020B0604020202020204" pitchFamily="34" charset="0"/>
              <a:buNone/>
            </a:pPr>
            <a:r>
              <a:rPr lang="vi-VN" dirty="0"/>
              <a:t>1. </a:t>
            </a:r>
            <a:r>
              <a:rPr lang="en-US" dirty="0" err="1"/>
              <a:t>Chỉ</a:t>
            </a:r>
            <a:r>
              <a:rPr lang="en-US" dirty="0"/>
              <a:t> </a:t>
            </a:r>
            <a:r>
              <a:rPr lang="en-US" sz="1200" kern="1200" dirty="0">
                <a:solidFill>
                  <a:schemeClr val="tx1"/>
                </a:solidFill>
                <a:latin typeface="+mn-lt"/>
                <a:ea typeface="+mn-ea"/>
                <a:cs typeface="+mn-cs"/>
              </a:rPr>
              <a:t>catch</a:t>
            </a:r>
            <a:r>
              <a:rPr lang="en-US" dirty="0"/>
              <a:t> </a:t>
            </a:r>
            <a:r>
              <a:rPr lang="en-US" dirty="0" err="1"/>
              <a:t>một</a:t>
            </a:r>
            <a:r>
              <a:rPr lang="en-US" dirty="0"/>
              <a:t> exception </a:t>
            </a:r>
            <a:r>
              <a:rPr lang="en-US" dirty="0" err="1"/>
              <a:t>nếu</a:t>
            </a:r>
            <a:r>
              <a:rPr lang="en-US" dirty="0"/>
              <a:t> </a:t>
            </a:r>
            <a:r>
              <a:rPr lang="en-US" dirty="0" err="1"/>
              <a:t>tại</a:t>
            </a:r>
            <a:r>
              <a:rPr lang="en-US" dirty="0"/>
              <a:t> </a:t>
            </a:r>
            <a:r>
              <a:rPr lang="en-US" dirty="0" err="1"/>
              <a:t>vị</a:t>
            </a:r>
            <a:r>
              <a:rPr lang="en-US" dirty="0"/>
              <a:t> </a:t>
            </a:r>
            <a:r>
              <a:rPr lang="en-US" dirty="0" err="1"/>
              <a:t>trí</a:t>
            </a:r>
            <a:r>
              <a:rPr lang="en-US" dirty="0"/>
              <a:t> </a:t>
            </a:r>
            <a:r>
              <a:rPr lang="en-US" dirty="0" err="1"/>
              <a:t>đó</a:t>
            </a:r>
            <a:r>
              <a:rPr lang="en-US" dirty="0"/>
              <a:t> </a:t>
            </a:r>
            <a:r>
              <a:rPr lang="en-US" dirty="0" err="1"/>
              <a:t>chúng</a:t>
            </a:r>
            <a:r>
              <a:rPr lang="en-US" dirty="0"/>
              <a:t> ta </a:t>
            </a:r>
            <a:r>
              <a:rPr lang="en-US" b="1" dirty="0" err="1"/>
              <a:t>biết</a:t>
            </a:r>
            <a:r>
              <a:rPr lang="en-US" b="1" dirty="0"/>
              <a:t> </a:t>
            </a:r>
            <a:r>
              <a:rPr lang="en-US" b="1" dirty="0" err="1"/>
              <a:t>phải</a:t>
            </a:r>
            <a:r>
              <a:rPr lang="en-US" b="1" dirty="0"/>
              <a:t> </a:t>
            </a:r>
            <a:r>
              <a:rPr lang="en-US" b="1" dirty="0" err="1"/>
              <a:t>làm</a:t>
            </a:r>
            <a:r>
              <a:rPr lang="en-US" b="1" dirty="0"/>
              <a:t> </a:t>
            </a:r>
            <a:r>
              <a:rPr lang="en-US" b="1" dirty="0" err="1"/>
              <a:t>gì</a:t>
            </a:r>
            <a:r>
              <a:rPr lang="en-US" b="1" dirty="0"/>
              <a:t> </a:t>
            </a:r>
            <a:r>
              <a:rPr lang="en-US" b="1" dirty="0" err="1"/>
              <a:t>để</a:t>
            </a:r>
            <a:r>
              <a:rPr lang="en-US" b="1" dirty="0"/>
              <a:t> </a:t>
            </a:r>
            <a:r>
              <a:rPr lang="en-US" b="1" dirty="0" err="1"/>
              <a:t>xử</a:t>
            </a:r>
            <a:r>
              <a:rPr lang="en-US" b="1" dirty="0"/>
              <a:t> </a:t>
            </a:r>
            <a:r>
              <a:rPr lang="en-US" b="1" dirty="0" err="1"/>
              <a:t>lý</a:t>
            </a:r>
            <a:r>
              <a:rPr lang="en-US" b="1" dirty="0"/>
              <a:t> </a:t>
            </a:r>
            <a:r>
              <a:rPr lang="en-US" b="1" dirty="0" err="1"/>
              <a:t>nó</a:t>
            </a:r>
            <a:r>
              <a:rPr lang="en-US" dirty="0"/>
              <a:t>.</a:t>
            </a:r>
            <a:br>
              <a:rPr lang="en-US" dirty="0"/>
            </a:br>
            <a:r>
              <a:rPr lang="en-US" dirty="0"/>
              <a:t>2. </a:t>
            </a:r>
            <a:r>
              <a:rPr lang="en-US" dirty="0" err="1"/>
              <a:t>Không</a:t>
            </a:r>
            <a:r>
              <a:rPr lang="en-US" dirty="0"/>
              <a:t> </a:t>
            </a:r>
            <a:r>
              <a:rPr lang="en-US" dirty="0" err="1"/>
              <a:t>nên</a:t>
            </a:r>
            <a:r>
              <a:rPr lang="en-US" dirty="0"/>
              <a:t> </a:t>
            </a:r>
            <a:r>
              <a:rPr lang="en-US" dirty="0" err="1"/>
              <a:t>thiết</a:t>
            </a:r>
            <a:r>
              <a:rPr lang="en-US" dirty="0"/>
              <a:t> </a:t>
            </a:r>
            <a:r>
              <a:rPr lang="en-US" dirty="0" err="1"/>
              <a:t>kế</a:t>
            </a:r>
            <a:r>
              <a:rPr lang="en-US" dirty="0"/>
              <a:t> </a:t>
            </a:r>
            <a:r>
              <a:rPr lang="en-US" dirty="0" err="1"/>
              <a:t>một</a:t>
            </a:r>
            <a:r>
              <a:rPr lang="en-US" dirty="0"/>
              <a:t> function </a:t>
            </a:r>
            <a:r>
              <a:rPr lang="en-US" dirty="0" err="1"/>
              <a:t>khiến</a:t>
            </a:r>
            <a:r>
              <a:rPr lang="en-US" dirty="0"/>
              <a:t> caller </a:t>
            </a:r>
            <a:r>
              <a:rPr lang="en-US" dirty="0" err="1"/>
              <a:t>phải</a:t>
            </a:r>
            <a:r>
              <a:rPr lang="en-US" dirty="0"/>
              <a:t> </a:t>
            </a:r>
            <a:r>
              <a:rPr lang="en-US" dirty="0" err="1"/>
              <a:t>xử</a:t>
            </a:r>
            <a:r>
              <a:rPr lang="en-US" dirty="0"/>
              <a:t> </a:t>
            </a:r>
            <a:r>
              <a:rPr lang="en-US" dirty="0" err="1"/>
              <a:t>lý</a:t>
            </a:r>
            <a:r>
              <a:rPr lang="en-US" dirty="0"/>
              <a:t> </a:t>
            </a:r>
            <a:r>
              <a:rPr lang="en-US" dirty="0" err="1"/>
              <a:t>quá</a:t>
            </a:r>
            <a:r>
              <a:rPr lang="en-US" dirty="0"/>
              <a:t> </a:t>
            </a:r>
            <a:r>
              <a:rPr lang="en-US" dirty="0" err="1"/>
              <a:t>nhiều</a:t>
            </a:r>
            <a:r>
              <a:rPr lang="en-US" dirty="0"/>
              <a:t> exceptions </a:t>
            </a:r>
            <a:r>
              <a:rPr lang="en-US" dirty="0" err="1"/>
              <a:t>không</a:t>
            </a:r>
            <a:r>
              <a:rPr lang="en-US" dirty="0"/>
              <a:t> </a:t>
            </a:r>
            <a:r>
              <a:rPr lang="en-US" dirty="0" err="1"/>
              <a:t>cần</a:t>
            </a:r>
            <a:r>
              <a:rPr lang="en-US" dirty="0"/>
              <a:t> </a:t>
            </a:r>
            <a:r>
              <a:rPr lang="en-US" dirty="0" err="1"/>
              <a:t>thiết</a:t>
            </a:r>
            <a:r>
              <a:rPr lang="en-US" dirty="0"/>
              <a:t>.</a:t>
            </a:r>
            <a:br>
              <a:rPr lang="en-US" dirty="0"/>
            </a:br>
            <a:r>
              <a:rPr lang="en-US" dirty="0"/>
              <a:t>3. </a:t>
            </a:r>
            <a:r>
              <a:rPr lang="vi-VN" dirty="0"/>
              <a:t>Không nên dùng exception để thay thế cho những điều kiện có thể kiểm tra bình thường.</a:t>
            </a:r>
            <a:endParaRPr lang="en-US"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9</a:t>
            </a:fld>
            <a:endParaRPr lang="en-US"/>
          </a:p>
        </p:txBody>
      </p:sp>
      <p:sp>
        <p:nvSpPr>
          <p:cNvPr id="5" name="Date Placeholder 4"/>
          <p:cNvSpPr>
            <a:spLocks noGrp="1"/>
          </p:cNvSpPr>
          <p:nvPr>
            <p:ph type="dt" idx="11"/>
          </p:nvPr>
        </p:nvSpPr>
        <p:spPr/>
        <p:txBody>
          <a:bodyPr/>
          <a:lstStyle/>
          <a:p>
            <a:pPr>
              <a:defRPr/>
            </a:pPr>
            <a:fld id="{8A108F12-B0CB-432B-B500-75757C692331}"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328206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100"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10</a:t>
            </a:fld>
            <a:endParaRPr lang="en-US"/>
          </a:p>
        </p:txBody>
      </p:sp>
      <p:sp>
        <p:nvSpPr>
          <p:cNvPr id="5" name="Date Placeholder 4"/>
          <p:cNvSpPr>
            <a:spLocks noGrp="1"/>
          </p:cNvSpPr>
          <p:nvPr>
            <p:ph type="dt" idx="11"/>
          </p:nvPr>
        </p:nvSpPr>
        <p:spPr/>
        <p:txBody>
          <a:bodyPr/>
          <a:lstStyle/>
          <a:p>
            <a:pPr>
              <a:defRPr/>
            </a:pPr>
            <a:fld id="{4A1E5D1B-DA0D-47FC-8EC9-BB4DBED4BDA4}"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300521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100"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11</a:t>
            </a:fld>
            <a:endParaRPr lang="en-US"/>
          </a:p>
        </p:txBody>
      </p:sp>
      <p:sp>
        <p:nvSpPr>
          <p:cNvPr id="5" name="Date Placeholder 4"/>
          <p:cNvSpPr>
            <a:spLocks noGrp="1"/>
          </p:cNvSpPr>
          <p:nvPr>
            <p:ph type="dt" idx="11"/>
          </p:nvPr>
        </p:nvSpPr>
        <p:spPr/>
        <p:txBody>
          <a:bodyPr/>
          <a:lstStyle/>
          <a:p>
            <a:pPr>
              <a:defRPr/>
            </a:pPr>
            <a:fld id="{72D60366-24C1-4C94-86FE-B31A5A667C4E}"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951430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1203158D-EEA8-4684-942B-9AC9BBE10EAB}"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12</a:t>
            </a:fld>
            <a:endParaRPr lang="en-US"/>
          </a:p>
        </p:txBody>
      </p:sp>
    </p:spTree>
    <p:extLst>
      <p:ext uri="{BB962C8B-B14F-4D97-AF65-F5344CB8AC3E}">
        <p14:creationId xmlns:p14="http://schemas.microsoft.com/office/powerpoint/2010/main" val="3804657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822EBE0A-AA88-484F-8FAB-F8FB1BA13FE0}"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13</a:t>
            </a:fld>
            <a:endParaRPr lang="en-US"/>
          </a:p>
        </p:txBody>
      </p:sp>
    </p:spTree>
    <p:extLst>
      <p:ext uri="{BB962C8B-B14F-4D97-AF65-F5344CB8AC3E}">
        <p14:creationId xmlns:p14="http://schemas.microsoft.com/office/powerpoint/2010/main" val="293536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498CC09A-6200-43F4-AC2F-5B7AF8346D9B}"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14</a:t>
            </a:fld>
            <a:endParaRPr lang="en-US"/>
          </a:p>
        </p:txBody>
      </p:sp>
    </p:spTree>
    <p:extLst>
      <p:ext uri="{BB962C8B-B14F-4D97-AF65-F5344CB8AC3E}">
        <p14:creationId xmlns:p14="http://schemas.microsoft.com/office/powerpoint/2010/main" val="1663425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dirty="0"/>
              <a:t>Các </a:t>
            </a:r>
            <a:r>
              <a:rPr lang="vi-VN" b="1" dirty="0"/>
              <a:t>thuộc tính (attributes) nên luôn được khởi tạo</a:t>
            </a:r>
            <a:r>
              <a:rPr lang="vi-VN" dirty="0"/>
              <a:t> để tránh đối tượng rơi vào trạng thái không xác định.</a:t>
            </a:r>
          </a:p>
          <a:p>
            <a:endParaRPr lang="en-US" dirty="0"/>
          </a:p>
          <a:p>
            <a:r>
              <a:rPr lang="en-US" dirty="0"/>
              <a:t>Tuy </a:t>
            </a:r>
            <a:r>
              <a:rPr lang="en-US" dirty="0" err="1"/>
              <a:t>nhiên</a:t>
            </a:r>
            <a:r>
              <a:rPr lang="en-US" dirty="0"/>
              <a:t>, </a:t>
            </a:r>
            <a:r>
              <a:rPr lang="en-US" dirty="0" err="1"/>
              <a:t>cách</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gây</a:t>
            </a:r>
            <a:r>
              <a:rPr lang="en-US" dirty="0"/>
              <a:t> </a:t>
            </a:r>
            <a:r>
              <a:rPr lang="en-US" dirty="0" err="1"/>
              <a:t>vấn</a:t>
            </a:r>
            <a:r>
              <a:rPr lang="en-US" dirty="0"/>
              <a:t> </a:t>
            </a:r>
            <a:r>
              <a:rPr lang="en-US" dirty="0" err="1"/>
              <a:t>đề</a:t>
            </a:r>
            <a:r>
              <a:rPr lang="en-US" dirty="0"/>
              <a:t> </a:t>
            </a:r>
            <a:r>
              <a:rPr lang="en-US" dirty="0" err="1"/>
              <a:t>về</a:t>
            </a:r>
            <a:r>
              <a:rPr lang="en-US" dirty="0"/>
              <a:t> </a:t>
            </a:r>
            <a:r>
              <a:rPr lang="en-US" b="1" dirty="0"/>
              <a:t>maintainability</a:t>
            </a:r>
            <a:r>
              <a:rPr lang="en-US" dirty="0"/>
              <a:t>.</a:t>
            </a:r>
          </a:p>
          <a:p>
            <a:endParaRPr lang="en-US" dirty="0"/>
          </a:p>
          <a:p>
            <a:r>
              <a:rPr lang="vi-VN" dirty="0"/>
              <a:t>Ngoài ra, việc khởi tạo một object ngay lập tức đôi khi có thể dẫn đến việc </a:t>
            </a:r>
            <a:r>
              <a:rPr lang="vi-VN" b="1" dirty="0"/>
              <a:t>truy cập persistent storage không cần thiết</a:t>
            </a:r>
            <a:r>
              <a:rPr lang="vi-VN" dirty="0"/>
              <a:t>. Ví dụ, nếu việc tạo hoặc lấy </a:t>
            </a:r>
            <a:r>
              <a:rPr lang="vi-VN" sz="1200" kern="1200" dirty="0">
                <a:solidFill>
                  <a:schemeClr val="tx1"/>
                </a:solidFill>
                <a:latin typeface="+mn-lt"/>
                <a:ea typeface="+mn-ea"/>
                <a:cs typeface="+mn-cs"/>
              </a:rPr>
              <a:t>Customer</a:t>
            </a:r>
            <a:r>
              <a:rPr lang="vi-VN" dirty="0"/>
              <a:t> cần đọc database:</a:t>
            </a:r>
          </a:p>
          <a:p>
            <a:pPr rtl="0"/>
            <a:r>
              <a:rPr lang="vi-VN" sz="1200" kern="1200" dirty="0">
                <a:solidFill>
                  <a:schemeClr val="tx1"/>
                </a:solidFill>
                <a:latin typeface="+mn-lt"/>
                <a:ea typeface="+mn-ea"/>
                <a:cs typeface="+mn-cs"/>
              </a:rPr>
              <a:t>private Customer _customer = loadCustomer();</a:t>
            </a:r>
          </a:p>
          <a:p>
            <a:r>
              <a:rPr lang="vi-VN" dirty="0"/>
              <a:t>thì database sẽ bị truy cập ngay khi object chứa </a:t>
            </a:r>
            <a:r>
              <a:rPr lang="vi-VN" sz="1200" kern="1200" dirty="0">
                <a:solidFill>
                  <a:schemeClr val="tx1"/>
                </a:solidFill>
                <a:latin typeface="+mn-lt"/>
                <a:ea typeface="+mn-ea"/>
                <a:cs typeface="+mn-cs"/>
              </a:rPr>
              <a:t>_customer</a:t>
            </a:r>
            <a:r>
              <a:rPr lang="vi-VN" dirty="0"/>
              <a:t> được tạo, </a:t>
            </a:r>
            <a:r>
              <a:rPr lang="vi-VN" b="1" dirty="0"/>
              <a:t>ngay cả khi </a:t>
            </a:r>
            <a:r>
              <a:rPr lang="vi-VN" sz="1200" b="1" kern="1200" dirty="0">
                <a:solidFill>
                  <a:schemeClr val="tx1"/>
                </a:solidFill>
                <a:latin typeface="+mn-lt"/>
                <a:ea typeface="+mn-ea"/>
                <a:cs typeface="+mn-cs"/>
              </a:rPr>
              <a:t>_customer</a:t>
            </a:r>
            <a:r>
              <a:rPr lang="vi-VN" b="1" dirty="0"/>
              <a:t> chưa bao giờ được sử dụng</a:t>
            </a:r>
            <a:r>
              <a:rPr lang="vi-VN" dirty="0"/>
              <a:t>.</a:t>
            </a:r>
          </a:p>
          <a:p>
            <a:endParaRPr lang="en-US" dirty="0"/>
          </a:p>
          <a:p>
            <a:r>
              <a:rPr lang="vi-VN" dirty="0"/>
              <a:t>Attributes nên có trạng thái khởi tạo rõ ràng, nhưng cần cân nhắc </a:t>
            </a:r>
            <a:r>
              <a:rPr lang="vi-VN" b="1" dirty="0"/>
              <a:t>cách và thời điểm khởi tạo object phức tạp</a:t>
            </a:r>
            <a:r>
              <a:rPr lang="vi-VN" dirty="0"/>
              <a:t>.</a:t>
            </a:r>
          </a:p>
          <a:p>
            <a:r>
              <a:rPr lang="vi-VN" dirty="0"/>
              <a:t>Có thể sử dụng các kỹ thuật như </a:t>
            </a:r>
            <a:r>
              <a:rPr lang="vi-VN" b="1" dirty="0"/>
              <a:t>lazy initialization</a:t>
            </a:r>
            <a:r>
              <a:rPr lang="vi-VN" dirty="0"/>
              <a:t>, factory, hoặc dependency injection tùy thiết kế để giảm coupling và tránh tạo/load object không cần thiết.</a:t>
            </a:r>
          </a:p>
          <a:p>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CA17F077-F780-4438-BB25-A28C30FB80EA}"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15</a:t>
            </a:fld>
            <a:endParaRPr lang="en-US"/>
          </a:p>
        </p:txBody>
      </p:sp>
    </p:spTree>
    <p:extLst>
      <p:ext uri="{BB962C8B-B14F-4D97-AF65-F5344CB8AC3E}">
        <p14:creationId xmlns:p14="http://schemas.microsoft.com/office/powerpoint/2010/main" val="532343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Bloater: </a:t>
            </a:r>
            <a:r>
              <a:rPr lang="vi-VN" dirty="0"/>
              <a:t>chỉ những đoạn code, phương thức hoặc lớp phình to quá mức (quá nhiều dòng lệnh) khiến việc đọc và bảo trì trở nên khó khăn</a:t>
            </a:r>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19</a:t>
            </a:fld>
            <a:endParaRPr lang="en-US"/>
          </a:p>
        </p:txBody>
      </p:sp>
    </p:spTree>
    <p:extLst>
      <p:ext uri="{BB962C8B-B14F-4D97-AF65-F5344CB8AC3E}">
        <p14:creationId xmlns:p14="http://schemas.microsoft.com/office/powerpoint/2010/main" val="658344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OOA: </a:t>
            </a:r>
            <a:r>
              <a:rPr lang="vi-VN" dirty="0"/>
              <a:t>chỉ các mã nguồn lạm dụng hoặc áp dụng sai lệch các nguyên lý lập trình hướng đối tượng (OOP), dẫn đến những đoạn code kém chất lượng, khó bảo trì và dễ phát sinh lỗi</a:t>
            </a:r>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20</a:t>
            </a:fld>
            <a:endParaRPr lang="en-US"/>
          </a:p>
        </p:txBody>
      </p:sp>
    </p:spTree>
    <p:extLst>
      <p:ext uri="{BB962C8B-B14F-4D97-AF65-F5344CB8AC3E}">
        <p14:creationId xmlns:p14="http://schemas.microsoft.com/office/powerpoint/2010/main" val="3165959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u="none" strike="noStrike" kern="1200" dirty="0">
                <a:solidFill>
                  <a:schemeClr val="tx1"/>
                </a:solidFill>
                <a:effectLst/>
                <a:latin typeface="+mn-lt"/>
                <a:ea typeface="+mn-ea"/>
                <a:cs typeface="+mn-cs"/>
              </a:rPr>
              <a:t>Change preventer</a:t>
            </a:r>
            <a:r>
              <a:rPr lang="vi-VN" dirty="0"/>
              <a:t> trong lập trình và phát triển phần mềm có nghĩa là một dấu hiệu mã nguồn xấu (</a:t>
            </a:r>
            <a:r>
              <a:rPr lang="vi-VN" sz="1200" b="0" u="none" strike="noStrike" kern="1200" dirty="0">
                <a:solidFill>
                  <a:schemeClr val="tx1"/>
                </a:solidFill>
                <a:effectLst/>
                <a:latin typeface="+mn-lt"/>
                <a:ea typeface="+mn-ea"/>
                <a:cs typeface="+mn-cs"/>
              </a:rPr>
              <a:t>code smell</a:t>
            </a:r>
            <a:r>
              <a:rPr lang="vi-VN" dirty="0"/>
              <a:t>), xuất hiện khi bạn phải thực hiện thay đổi ở nhiều nơi khác nhau mỗi khi cần sửa hoặc thêm một tính năng nhỏ</a:t>
            </a:r>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21</a:t>
            </a:fld>
            <a:endParaRPr lang="en-US"/>
          </a:p>
        </p:txBody>
      </p:sp>
    </p:spTree>
    <p:extLst>
      <p:ext uri="{BB962C8B-B14F-4D97-AF65-F5344CB8AC3E}">
        <p14:creationId xmlns:p14="http://schemas.microsoft.com/office/powerpoint/2010/main" val="2591066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u="none" strike="noStrike" kern="1200" dirty="0">
                <a:solidFill>
                  <a:schemeClr val="tx1"/>
                </a:solidFill>
                <a:effectLst/>
                <a:latin typeface="+mn-lt"/>
                <a:ea typeface="+mn-ea"/>
                <a:cs typeface="+mn-cs"/>
              </a:rPr>
              <a:t>Dispensable</a:t>
            </a:r>
            <a:r>
              <a:rPr lang="vi-VN" dirty="0"/>
              <a:t> trong code smell chỉ những thành phần thừa thãi, không cần thiết trong mã nguồn mà nếu loại bỏ đi, code sẽ sạch hơn, gọn gàng hơn và dễ hiểu hơn.</a:t>
            </a:r>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22</a:t>
            </a:fld>
            <a:endParaRPr lang="en-US"/>
          </a:p>
        </p:txBody>
      </p:sp>
    </p:spTree>
    <p:extLst>
      <p:ext uri="{BB962C8B-B14F-4D97-AF65-F5344CB8AC3E}">
        <p14:creationId xmlns:p14="http://schemas.microsoft.com/office/powerpoint/2010/main" val="1401248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strike="noStrike" kern="1200" dirty="0">
                <a:solidFill>
                  <a:schemeClr val="tx1"/>
                </a:solidFill>
                <a:effectLst/>
                <a:latin typeface="+mn-lt"/>
                <a:ea typeface="+mn-ea"/>
                <a:cs typeface="+mn-cs"/>
              </a:rPr>
              <a:t>Couplers</a:t>
            </a:r>
            <a:r>
              <a:rPr lang="en-US" dirty="0"/>
              <a:t> </a:t>
            </a:r>
            <a:r>
              <a:rPr lang="en-US" dirty="0" err="1"/>
              <a:t>là</a:t>
            </a:r>
            <a:r>
              <a:rPr lang="en-US" dirty="0"/>
              <a:t> </a:t>
            </a:r>
            <a:r>
              <a:rPr lang="en-US" dirty="0" err="1"/>
              <a:t>những</a:t>
            </a:r>
            <a:r>
              <a:rPr lang="en-US" dirty="0"/>
              <a:t> </a:t>
            </a:r>
            <a:r>
              <a:rPr lang="en-US" dirty="0" err="1"/>
              <a:t>dấu</a:t>
            </a:r>
            <a:r>
              <a:rPr lang="en-US" dirty="0"/>
              <a:t> </a:t>
            </a:r>
            <a:r>
              <a:rPr lang="en-US" dirty="0" err="1"/>
              <a:t>hiệu</a:t>
            </a:r>
            <a:r>
              <a:rPr lang="en-US" dirty="0"/>
              <a:t> </a:t>
            </a:r>
            <a:r>
              <a:rPr lang="en-US" dirty="0" err="1"/>
              <a:t>cho</a:t>
            </a:r>
            <a:r>
              <a:rPr lang="en-US" dirty="0"/>
              <a:t> </a:t>
            </a:r>
            <a:r>
              <a:rPr lang="en-US" dirty="0" err="1"/>
              <a:t>thấy</a:t>
            </a:r>
            <a:r>
              <a:rPr lang="en-US" dirty="0"/>
              <a:t> </a:t>
            </a:r>
            <a:r>
              <a:rPr lang="en-US" dirty="0" err="1"/>
              <a:t>các</a:t>
            </a:r>
            <a:r>
              <a:rPr lang="en-US" dirty="0"/>
              <a:t> </a:t>
            </a:r>
            <a:r>
              <a:rPr lang="en-US" dirty="0" err="1"/>
              <a:t>lớp</a:t>
            </a:r>
            <a:r>
              <a:rPr lang="en-US" dirty="0"/>
              <a:t> (classes) </a:t>
            </a:r>
            <a:r>
              <a:rPr lang="en-US" dirty="0" err="1"/>
              <a:t>hoặc</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mã</a:t>
            </a:r>
            <a:r>
              <a:rPr lang="en-US" dirty="0"/>
              <a:t> </a:t>
            </a:r>
            <a:r>
              <a:rPr lang="en-US" dirty="0" err="1"/>
              <a:t>nguồn</a:t>
            </a:r>
            <a:r>
              <a:rPr lang="en-US" dirty="0"/>
              <a:t> </a:t>
            </a:r>
            <a:r>
              <a:rPr lang="en-US" dirty="0" err="1"/>
              <a:t>phụ</a:t>
            </a:r>
            <a:r>
              <a:rPr lang="en-US" dirty="0"/>
              <a:t> </a:t>
            </a:r>
            <a:r>
              <a:rPr lang="en-US" dirty="0" err="1"/>
              <a:t>thuộc</a:t>
            </a:r>
            <a:r>
              <a:rPr lang="en-US" dirty="0"/>
              <a:t> </a:t>
            </a:r>
            <a:r>
              <a:rPr lang="en-US" dirty="0" err="1"/>
              <a:t>lẫn</a:t>
            </a:r>
            <a:r>
              <a:rPr lang="en-US" dirty="0"/>
              <a:t> </a:t>
            </a:r>
            <a:r>
              <a:rPr lang="en-US" dirty="0" err="1"/>
              <a:t>nhau</a:t>
            </a:r>
            <a:r>
              <a:rPr lang="en-US" dirty="0"/>
              <a:t> </a:t>
            </a:r>
            <a:r>
              <a:rPr lang="en-US" dirty="0" err="1"/>
              <a:t>quá</a:t>
            </a:r>
            <a:r>
              <a:rPr lang="en-US" dirty="0"/>
              <a:t> </a:t>
            </a:r>
            <a:r>
              <a:rPr lang="en-US" dirty="0" err="1"/>
              <a:t>chặt</a:t>
            </a:r>
            <a:r>
              <a:rPr lang="en-US" dirty="0"/>
              <a:t> </a:t>
            </a:r>
            <a:r>
              <a:rPr lang="en-US" dirty="0" err="1"/>
              <a:t>chẽ</a:t>
            </a:r>
            <a:r>
              <a:rPr lang="en-US" dirty="0"/>
              <a:t> (tight coupling), </a:t>
            </a:r>
            <a:r>
              <a:rPr lang="en-US" dirty="0" err="1"/>
              <a:t>hoặc</a:t>
            </a:r>
            <a:r>
              <a:rPr lang="en-US" dirty="0"/>
              <a:t> </a:t>
            </a:r>
            <a:r>
              <a:rPr lang="en-US" dirty="0" err="1"/>
              <a:t>khi</a:t>
            </a:r>
            <a:r>
              <a:rPr lang="en-US" dirty="0"/>
              <a:t> </a:t>
            </a:r>
            <a:r>
              <a:rPr lang="en-US" dirty="0" err="1"/>
              <a:t>việc</a:t>
            </a:r>
            <a:r>
              <a:rPr lang="en-US" dirty="0"/>
              <a:t> </a:t>
            </a:r>
            <a:r>
              <a:rPr lang="en-US" dirty="0" err="1"/>
              <a:t>kết</a:t>
            </a:r>
            <a:r>
              <a:rPr lang="en-US" dirty="0"/>
              <a:t> </a:t>
            </a:r>
            <a:r>
              <a:rPr lang="en-US" dirty="0" err="1"/>
              <a:t>nối</a:t>
            </a:r>
            <a:r>
              <a:rPr lang="en-US" dirty="0"/>
              <a:t> </a:t>
            </a:r>
            <a:r>
              <a:rPr lang="en-US" dirty="0" err="1"/>
              <a:t>đó</a:t>
            </a:r>
            <a:r>
              <a:rPr lang="en-US" dirty="0"/>
              <a:t> </a:t>
            </a:r>
            <a:r>
              <a:rPr lang="en-US" dirty="0" err="1"/>
              <a:t>bị</a:t>
            </a:r>
            <a:r>
              <a:rPr lang="en-US" dirty="0"/>
              <a:t> </a:t>
            </a:r>
            <a:r>
              <a:rPr lang="en-US" dirty="0" err="1"/>
              <a:t>thay</a:t>
            </a:r>
            <a:r>
              <a:rPr lang="en-US" dirty="0"/>
              <a:t> </a:t>
            </a:r>
            <a:r>
              <a:rPr lang="en-US" dirty="0" err="1"/>
              <a:t>thế</a:t>
            </a:r>
            <a:r>
              <a:rPr lang="en-US" dirty="0"/>
              <a:t> </a:t>
            </a:r>
            <a:r>
              <a:rPr lang="en-US" dirty="0" err="1"/>
              <a:t>bằng</a:t>
            </a:r>
            <a:r>
              <a:rPr lang="en-US" dirty="0"/>
              <a:t> </a:t>
            </a:r>
            <a:r>
              <a:rPr lang="en-US" dirty="0" err="1"/>
              <a:t>sự</a:t>
            </a:r>
            <a:r>
              <a:rPr lang="en-US" dirty="0"/>
              <a:t> </a:t>
            </a:r>
            <a:r>
              <a:rPr lang="en-US" dirty="0" err="1"/>
              <a:t>ủy</a:t>
            </a:r>
            <a:r>
              <a:rPr lang="en-US" dirty="0"/>
              <a:t> </a:t>
            </a:r>
            <a:r>
              <a:rPr lang="en-US" dirty="0" err="1"/>
              <a:t>quyền</a:t>
            </a:r>
            <a:r>
              <a:rPr lang="en-US" dirty="0"/>
              <a:t> </a:t>
            </a:r>
            <a:r>
              <a:rPr lang="en-US" dirty="0" err="1"/>
              <a:t>quá</a:t>
            </a:r>
            <a:r>
              <a:rPr lang="en-US" dirty="0"/>
              <a:t> </a:t>
            </a:r>
            <a:r>
              <a:rPr lang="en-US" dirty="0" err="1"/>
              <a:t>mức</a:t>
            </a:r>
            <a:r>
              <a:rPr lang="en-US" dirty="0"/>
              <a:t> (excessive delegation).</a:t>
            </a:r>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23</a:t>
            </a:fld>
            <a:endParaRPr lang="en-US"/>
          </a:p>
        </p:txBody>
      </p:sp>
    </p:spTree>
    <p:extLst>
      <p:ext uri="{BB962C8B-B14F-4D97-AF65-F5344CB8AC3E}">
        <p14:creationId xmlns:p14="http://schemas.microsoft.com/office/powerpoint/2010/main" val="2281066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Mục tiêu và đặc tính của tái cấu trúc mã nguồn (Code Refactoring)</a:t>
            </a:r>
          </a:p>
          <a:p>
            <a:r>
              <a:rPr lang="vi-VN" b="1" dirty="0"/>
              <a:t>Mục tiêu</a:t>
            </a:r>
            <a:endParaRPr lang="vi-VN" dirty="0"/>
          </a:p>
          <a:p>
            <a:r>
              <a:rPr lang="vi-VN" dirty="0"/>
              <a:t>Thay đổi </a:t>
            </a:r>
            <a:r>
              <a:rPr lang="vi-VN" b="1" dirty="0"/>
              <a:t>cấu trúc bên trong</a:t>
            </a:r>
            <a:r>
              <a:rPr lang="vi-VN" dirty="0"/>
              <a:t> của mã nguồn mà </a:t>
            </a:r>
            <a:r>
              <a:rPr lang="vi-VN" b="1" dirty="0"/>
              <a:t>không làm thay đổi hành vi bên ngoài</a:t>
            </a:r>
            <a:r>
              <a:rPr lang="vi-VN" dirty="0"/>
              <a:t>.</a:t>
            </a:r>
          </a:p>
          <a:p>
            <a:r>
              <a:rPr lang="vi-VN" dirty="0"/>
              <a:t>Loại bỏ các </a:t>
            </a:r>
            <a:r>
              <a:rPr lang="vi-VN" b="1" dirty="0"/>
              <a:t>code smell</a:t>
            </a:r>
            <a:r>
              <a:rPr lang="vi-VN" dirty="0"/>
              <a:t> nhằm cải thiện:</a:t>
            </a:r>
          </a:p>
          <a:p>
            <a:pPr marL="171450" indent="-171450">
              <a:buFont typeface="Arial" panose="020B0604020202020204" pitchFamily="34" charset="0"/>
              <a:buChar char="•"/>
            </a:pPr>
            <a:r>
              <a:rPr lang="vi-VN" b="0" dirty="0"/>
              <a:t>Khả năng đọc hiểu (Readability)</a:t>
            </a:r>
          </a:p>
          <a:p>
            <a:pPr marL="171450" indent="-171450">
              <a:buFont typeface="Arial" panose="020B0604020202020204" pitchFamily="34" charset="0"/>
              <a:buChar char="•"/>
            </a:pPr>
            <a:r>
              <a:rPr lang="vi-VN" b="0" dirty="0"/>
              <a:t>Tính nhất quán (Consistency)</a:t>
            </a:r>
          </a:p>
          <a:p>
            <a:pPr marL="171450" indent="-171450">
              <a:buFont typeface="Arial" panose="020B0604020202020204" pitchFamily="34" charset="0"/>
              <a:buChar char="•"/>
            </a:pPr>
            <a:r>
              <a:rPr lang="vi-VN" b="0" dirty="0"/>
              <a:t>Khả năng bảo trì (Maintainability)</a:t>
            </a:r>
          </a:p>
          <a:p>
            <a:r>
              <a:rPr lang="vi-VN" b="1" dirty="0"/>
              <a:t>Đặc tính</a:t>
            </a:r>
            <a:endParaRPr lang="vi-VN" dirty="0"/>
          </a:p>
          <a:p>
            <a:pPr marL="171450" indent="-171450">
              <a:buFont typeface="Arial" panose="020B0604020202020204" pitchFamily="34" charset="0"/>
              <a:buChar char="•"/>
            </a:pPr>
            <a:r>
              <a:rPr lang="vi-VN" b="1" dirty="0"/>
              <a:t>Bảo toàn tính đúng đắn (Preserve correctness):</a:t>
            </a:r>
            <a:r>
              <a:rPr lang="vi-VN" dirty="0"/>
              <a:t> Việc refactoring không được làm thay đổi hành vi đúng của chương trình.</a:t>
            </a:r>
          </a:p>
          <a:p>
            <a:pPr marL="171450" indent="-171450">
              <a:buFont typeface="Arial" panose="020B0604020202020204" pitchFamily="34" charset="0"/>
              <a:buChar char="•"/>
            </a:pPr>
            <a:r>
              <a:rPr lang="vi-VN" b="1" dirty="0"/>
              <a:t>Thực hiện từng bước nhỏ (One step at a time):</a:t>
            </a:r>
            <a:r>
              <a:rPr lang="vi-VN" dirty="0"/>
              <a:t> Mỗi lần chỉ thực hiện một thay đổi nhỏ để dễ kiểm soát và phát hiện lỗi.</a:t>
            </a:r>
          </a:p>
          <a:p>
            <a:pPr marL="171450" indent="-171450">
              <a:buFont typeface="Arial" panose="020B0604020202020204" pitchFamily="34" charset="0"/>
              <a:buChar char="•"/>
            </a:pPr>
            <a:r>
              <a:rPr lang="vi-VN" b="1" dirty="0"/>
              <a:t>Kiểm thử thường xuyên (Frequent testing):</a:t>
            </a:r>
            <a:r>
              <a:rPr lang="vi-VN" dirty="0"/>
              <a:t> Chạy test sau mỗi bước refactoring để đảm bảo chương trình vẫn hoạt động đúng.</a:t>
            </a:r>
          </a:p>
          <a:p>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24</a:t>
            </a:fld>
            <a:endParaRPr lang="en-US"/>
          </a:p>
        </p:txBody>
      </p:sp>
    </p:spTree>
    <p:extLst>
      <p:ext uri="{BB962C8B-B14F-4D97-AF65-F5344CB8AC3E}">
        <p14:creationId xmlns:p14="http://schemas.microsoft.com/office/powerpoint/2010/main" val="3505819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You have a group of parameters that naturally go together. Replace them with an object.</a:t>
            </a:r>
          </a:p>
          <a:p>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27</a:t>
            </a:fld>
            <a:endParaRPr lang="nb-NO" altLang="nb-NO"/>
          </a:p>
        </p:txBody>
      </p:sp>
    </p:spTree>
    <p:extLst>
      <p:ext uri="{BB962C8B-B14F-4D97-AF65-F5344CB8AC3E}">
        <p14:creationId xmlns:p14="http://schemas.microsoft.com/office/powerpoint/2010/main" val="3337828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may lead to large class, deal with the large class afterwards</a:t>
            </a:r>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30</a:t>
            </a:fld>
            <a:endParaRPr lang="nb-NO" altLang="nb-NO"/>
          </a:p>
        </p:txBody>
      </p:sp>
    </p:spTree>
    <p:extLst>
      <p:ext uri="{BB962C8B-B14F-4D97-AF65-F5344CB8AC3E}">
        <p14:creationId xmlns:p14="http://schemas.microsoft.com/office/powerpoint/2010/main" val="2553407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u="none" strike="noStrike" kern="1200" dirty="0">
                <a:solidFill>
                  <a:schemeClr val="tx1"/>
                </a:solidFill>
                <a:effectLst/>
                <a:latin typeface="+mn-lt"/>
                <a:ea typeface="+mn-ea"/>
                <a:cs typeface="+mn-cs"/>
              </a:rPr>
              <a:t>Feature Envy is a Code Smell which occurs in methods. A method has Feature Envy on another class, if it uses more features (i.e. fields and methods) of another class than of its own. For the method in questions, there is one arrow pointing to each referred feature. Thick arrows mean many uses of the feature, thin arrow stand for less uses. Arrows pointing to the source class are green, while arrows to other classes have one color for each class (red in the example). If the total thickness of one colors arrows, exceeds the total thickness of the green arrows, we have feature envy.</a:t>
            </a:r>
          </a:p>
          <a:p>
            <a:pPr fontAlgn="base"/>
            <a:r>
              <a:rPr lang="en-US" sz="1200" b="1" u="none" strike="noStrike" kern="1200" dirty="0">
                <a:solidFill>
                  <a:schemeClr val="tx1"/>
                </a:solidFill>
                <a:effectLst/>
                <a:latin typeface="+mn-lt"/>
                <a:ea typeface="+mn-ea"/>
                <a:cs typeface="+mn-cs"/>
              </a:rPr>
              <a:t>How to handle it?</a:t>
            </a:r>
          </a:p>
          <a:p>
            <a:pPr fontAlgn="base"/>
            <a:r>
              <a:rPr lang="en-US" sz="1200" u="none" strike="noStrike" kern="1200" dirty="0">
                <a:solidFill>
                  <a:schemeClr val="tx1"/>
                </a:solidFill>
                <a:effectLst/>
                <a:latin typeface="+mn-lt"/>
                <a:ea typeface="+mn-ea"/>
                <a:cs typeface="+mn-cs"/>
              </a:rPr>
              <a:t>Give the method what it desires – the other class! Similar to the refactoring for Data Classes, you have to move the methods to its preferred class. For the example above, you have to move </a:t>
            </a:r>
            <a:r>
              <a:rPr lang="en-US" sz="1200" i="1" u="none" strike="noStrike" kern="1200" dirty="0" err="1">
                <a:solidFill>
                  <a:schemeClr val="tx1"/>
                </a:solidFill>
                <a:effectLst/>
                <a:latin typeface="+mn-lt"/>
                <a:ea typeface="+mn-ea"/>
                <a:cs typeface="+mn-cs"/>
              </a:rPr>
              <a:t>envyMethod</a:t>
            </a:r>
            <a:r>
              <a:rPr lang="en-US" sz="1200" i="1" u="none" strike="noStrike" kern="1200" dirty="0">
                <a:solidFill>
                  <a:schemeClr val="tx1"/>
                </a:solidFill>
                <a:effectLst/>
                <a:latin typeface="+mn-lt"/>
                <a:ea typeface="+mn-ea"/>
                <a:cs typeface="+mn-cs"/>
              </a:rPr>
              <a:t>()</a:t>
            </a:r>
            <a:r>
              <a:rPr lang="en-US" sz="1200" u="none" strike="noStrike" kern="1200" dirty="0">
                <a:solidFill>
                  <a:schemeClr val="tx1"/>
                </a:solidFill>
                <a:effectLst/>
                <a:latin typeface="+mn-lt"/>
                <a:ea typeface="+mn-ea"/>
                <a:cs typeface="+mn-cs"/>
              </a:rPr>
              <a:t> to </a:t>
            </a:r>
            <a:r>
              <a:rPr lang="en-US" sz="1200" i="1" u="none" strike="noStrike" kern="1200" dirty="0" err="1">
                <a:solidFill>
                  <a:schemeClr val="tx1"/>
                </a:solidFill>
                <a:effectLst/>
                <a:latin typeface="+mn-lt"/>
                <a:ea typeface="+mn-ea"/>
                <a:cs typeface="+mn-cs"/>
              </a:rPr>
              <a:t>ClassB</a:t>
            </a:r>
            <a:r>
              <a:rPr lang="en-US" sz="1200" u="none" strike="noStrike" kern="1200" dirty="0">
                <a:solidFill>
                  <a:schemeClr val="tx1"/>
                </a:solidFill>
                <a:effectLst/>
                <a:latin typeface="+mn-lt"/>
                <a:ea typeface="+mn-ea"/>
                <a:cs typeface="+mn-cs"/>
              </a:rPr>
              <a:t>. The result looks as follows:</a:t>
            </a:r>
          </a:p>
          <a:p>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31</a:t>
            </a:fld>
            <a:endParaRPr lang="nb-NO" altLang="nb-NO"/>
          </a:p>
        </p:txBody>
      </p:sp>
    </p:spTree>
    <p:extLst>
      <p:ext uri="{BB962C8B-B14F-4D97-AF65-F5344CB8AC3E}">
        <p14:creationId xmlns:p14="http://schemas.microsoft.com/office/powerpoint/2010/main" val="42744298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32</a:t>
            </a:fld>
            <a:endParaRPr lang="nb-NO" altLang="nb-NO"/>
          </a:p>
        </p:txBody>
      </p:sp>
    </p:spTree>
    <p:extLst>
      <p:ext uri="{BB962C8B-B14F-4D97-AF65-F5344CB8AC3E}">
        <p14:creationId xmlns:p14="http://schemas.microsoft.com/office/powerpoint/2010/main" val="2899197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u="none" strike="noStrike" kern="1200" dirty="0">
                <a:solidFill>
                  <a:schemeClr val="tx1"/>
                </a:solidFill>
                <a:effectLst/>
                <a:latin typeface="+mn-lt"/>
                <a:ea typeface="+mn-ea"/>
                <a:cs typeface="+mn-cs"/>
              </a:rPr>
              <a:t>Code inspection</a:t>
            </a:r>
            <a:r>
              <a:rPr lang="vi-VN" dirty="0"/>
              <a:t> (kiểm tra mã nguồn) là một phương pháp đánh giá mã nguồn phần mềm một cách bài bản và chi tiết nhằm phát hiện lỗi, lỗ hổng bảo mật và các điểm vi phạm tiêu chuẩn lập trình trước khi đưa vào chạy thực tế.</a:t>
            </a:r>
          </a:p>
          <a:p>
            <a:endParaRPr lang="vi-VN" dirty="0"/>
          </a:p>
          <a:p>
            <a:r>
              <a:rPr lang="vi-VN" sz="1200" b="1" u="none" strike="noStrike" kern="1200" dirty="0">
                <a:solidFill>
                  <a:schemeClr val="tx1"/>
                </a:solidFill>
                <a:effectLst/>
                <a:latin typeface="+mn-lt"/>
                <a:ea typeface="+mn-ea"/>
                <a:cs typeface="+mn-cs"/>
              </a:rPr>
              <a:t>Hình thức thực hiện</a:t>
            </a:r>
            <a:r>
              <a:rPr lang="vi-VN" sz="1200" b="0" u="none" strike="noStrike" kern="1200" dirty="0">
                <a:solidFill>
                  <a:schemeClr val="tx1"/>
                </a:solidFill>
                <a:effectLst/>
                <a:latin typeface="+mn-lt"/>
                <a:ea typeface="+mn-ea"/>
                <a:cs typeface="+mn-cs"/>
              </a:rPr>
              <a:t>: Có thể làm thủ công qua các buổi họp đánh giá ngang hàng (peer review) giữa các lập trình viên hoặc tự động hóa thông qua các công cụ phân tích mã tĩnh.</a:t>
            </a:r>
          </a:p>
          <a:p>
            <a:r>
              <a:rPr lang="vi-VN" sz="1200" b="1" u="none" strike="noStrike" kern="1200" dirty="0">
                <a:solidFill>
                  <a:schemeClr val="tx1"/>
                </a:solidFill>
                <a:effectLst/>
                <a:latin typeface="+mn-lt"/>
                <a:ea typeface="+mn-ea"/>
                <a:cs typeface="+mn-cs"/>
              </a:rPr>
              <a:t>Mục tiêu</a:t>
            </a:r>
            <a:r>
              <a:rPr lang="vi-VN" sz="1200" b="0" u="none" strike="noStrike" kern="1200" dirty="0">
                <a:solidFill>
                  <a:schemeClr val="tx1"/>
                </a:solidFill>
                <a:effectLst/>
                <a:latin typeface="+mn-lt"/>
                <a:ea typeface="+mn-ea"/>
                <a:cs typeface="+mn-cs"/>
              </a:rPr>
              <a:t>: Tìm lỗi logic, biến chưa khởi tạo, lỗi cấp phát bộ nhớ, và đảm bảo code tuân thủ quy chuẩn chung của dự án.</a:t>
            </a:r>
          </a:p>
          <a:p>
            <a:r>
              <a:rPr lang="vi-VN" sz="1200" b="1" u="none" strike="noStrike" kern="1200" dirty="0">
                <a:solidFill>
                  <a:schemeClr val="tx1"/>
                </a:solidFill>
                <a:effectLst/>
                <a:latin typeface="+mn-lt"/>
                <a:ea typeface="+mn-ea"/>
                <a:cs typeface="+mn-cs"/>
              </a:rPr>
              <a:t>Lợi ích</a:t>
            </a:r>
            <a:r>
              <a:rPr lang="vi-VN" sz="1200" b="0" u="none" strike="noStrike" kern="1200" dirty="0">
                <a:solidFill>
                  <a:schemeClr val="tx1"/>
                </a:solidFill>
                <a:effectLst/>
                <a:latin typeface="+mn-lt"/>
                <a:ea typeface="+mn-ea"/>
                <a:cs typeface="+mn-cs"/>
              </a:rPr>
              <a:t>: Nâng cao chất lượng phần mềm, tiết kiệm chi phí sửa lỗi muộn ở giai đoạn vận hành</a:t>
            </a:r>
          </a:p>
          <a:p>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36</a:t>
            </a:fld>
            <a:endParaRPr lang="en-US"/>
          </a:p>
        </p:txBody>
      </p:sp>
    </p:spTree>
    <p:extLst>
      <p:ext uri="{BB962C8B-B14F-4D97-AF65-F5344CB8AC3E}">
        <p14:creationId xmlns:p14="http://schemas.microsoft.com/office/powerpoint/2010/main" val="1828150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vi-VN" b="1" dirty="0"/>
              <a:t>Tại sao cần Inspection?</a:t>
            </a:r>
          </a:p>
          <a:p>
            <a:r>
              <a:rPr lang="vi-VN" b="1" dirty="0"/>
              <a:t>Inspection (kiểm tra/đánh giá thủ công)</a:t>
            </a:r>
            <a:r>
              <a:rPr lang="vi-VN" dirty="0"/>
              <a:t> cần thiết vì </a:t>
            </a:r>
            <a:r>
              <a:rPr lang="vi-VN" b="1" dirty="0"/>
              <a:t>testing không thể phát hiện tất cả các loại vấn đề</a:t>
            </a:r>
            <a:r>
              <a:rPr lang="vi-VN" dirty="0"/>
              <a:t> trong phần mềm.</a:t>
            </a:r>
          </a:p>
          <a:p>
            <a:r>
              <a:rPr lang="vi-VN" b="1" dirty="0"/>
              <a:t>1. Nhiều software artifacts không thể kiểm tra bằng cách chạy test</a:t>
            </a:r>
            <a:endParaRPr lang="vi-VN" dirty="0"/>
          </a:p>
          <a:p>
            <a:r>
              <a:rPr lang="vi-VN" dirty="0"/>
              <a:t>Testing yêu cầu một thứ gì đó có thể thực thi. Nhưng trong quá trình phát triển phần mềm, nhiều sản phẩm không phải executable code, chẳng hạn:</a:t>
            </a:r>
          </a:p>
          <a:p>
            <a:r>
              <a:rPr lang="vi-VN" dirty="0"/>
              <a:t>Requirement specification</a:t>
            </a:r>
          </a:p>
          <a:p>
            <a:r>
              <a:rPr lang="vi-VN" dirty="0"/>
              <a:t>Design</a:t>
            </a:r>
          </a:p>
          <a:p>
            <a:r>
              <a:rPr lang="vi-VN" dirty="0"/>
              <a:t>Pseudocode</a:t>
            </a:r>
          </a:p>
          <a:p>
            <a:r>
              <a:rPr lang="vi-VN" dirty="0"/>
              <a:t>User manual</a:t>
            </a:r>
          </a:p>
          <a:p>
            <a:endParaRPr lang="en-VN" dirty="0"/>
          </a:p>
          <a:p>
            <a:r>
              <a:rPr lang="vi-VN" b="1" dirty="0"/>
              <a:t>2. Inspection giúp giảm defect rate</a:t>
            </a:r>
            <a:endParaRPr lang="vi-VN" dirty="0"/>
          </a:p>
          <a:p>
            <a:r>
              <a:rPr lang="vi-VN" dirty="0"/>
              <a:t>Inspection có thể tìm lỗi </a:t>
            </a:r>
            <a:r>
              <a:rPr lang="vi-VN" b="1" dirty="0"/>
              <a:t>sớm hơn</a:t>
            </a:r>
            <a:r>
              <a:rPr lang="vi-VN" dirty="0"/>
              <a:t>, trước khi lỗi lan sang các giai đoạn sau.</a:t>
            </a:r>
          </a:p>
          <a:p>
            <a:r>
              <a:rPr lang="vi-VN" dirty="0"/>
              <a:t>Ví dụ:</a:t>
            </a:r>
          </a:p>
          <a:p>
            <a:r>
              <a:rPr lang="vi-VN" b="1" dirty="0"/>
              <a:t>Requirement sai/thiếu</a:t>
            </a:r>
            <a:br>
              <a:rPr lang="vi-VN" dirty="0"/>
            </a:br>
            <a:r>
              <a:rPr lang="vi-VN" dirty="0"/>
              <a:t>→ Design dựa trên requirement đó</a:t>
            </a:r>
            <a:br>
              <a:rPr lang="vi-VN" dirty="0"/>
            </a:br>
            <a:r>
              <a:rPr lang="vi-VN" dirty="0"/>
              <a:t>→ Code theo design</a:t>
            </a:r>
            <a:br>
              <a:rPr lang="vi-VN" dirty="0"/>
            </a:br>
            <a:r>
              <a:rPr lang="vi-VN" dirty="0"/>
              <a:t>→ Test case cũng có thể được viết dựa trên requirement đó.</a:t>
            </a:r>
          </a:p>
          <a:p>
            <a:r>
              <a:rPr lang="vi-VN" dirty="0"/>
              <a:t>Nếu phát hiện vấn đề ngay khi inspect requirement, chi phí sửa thường thấp hơn nhiều so với phát hiện sau khi implementation đã hoàn thành.</a:t>
            </a:r>
          </a:p>
          <a:p>
            <a:endParaRPr lang="en-VN" dirty="0"/>
          </a:p>
          <a:p>
            <a:r>
              <a:rPr lang="en-US" b="1" dirty="0"/>
              <a:t>3. Inspection </a:t>
            </a:r>
            <a:r>
              <a:rPr lang="en-US" b="1" dirty="0" err="1"/>
              <a:t>bổ</a:t>
            </a:r>
            <a:r>
              <a:rPr lang="en-US" b="1" dirty="0"/>
              <a:t> sung </a:t>
            </a:r>
            <a:r>
              <a:rPr lang="en-US" b="1" dirty="0" err="1"/>
              <a:t>cho</a:t>
            </a:r>
            <a:r>
              <a:rPr lang="en-US" b="1" dirty="0"/>
              <a:t> Testing</a:t>
            </a:r>
            <a:endParaRPr lang="en-US" dirty="0"/>
          </a:p>
          <a:p>
            <a:r>
              <a:rPr lang="en-US" dirty="0"/>
              <a:t>Inspection </a:t>
            </a:r>
            <a:r>
              <a:rPr lang="en-US" dirty="0" err="1"/>
              <a:t>và</a:t>
            </a:r>
            <a:r>
              <a:rPr lang="en-US" dirty="0"/>
              <a:t> testing </a:t>
            </a:r>
            <a:r>
              <a:rPr lang="en-US" b="1" dirty="0" err="1"/>
              <a:t>không</a:t>
            </a:r>
            <a:r>
              <a:rPr lang="en-US" b="1" dirty="0"/>
              <a:t> </a:t>
            </a:r>
            <a:r>
              <a:rPr lang="en-US" b="1" dirty="0" err="1"/>
              <a:t>thay</a:t>
            </a:r>
            <a:r>
              <a:rPr lang="en-US" b="1" dirty="0"/>
              <a:t> </a:t>
            </a:r>
            <a:r>
              <a:rPr lang="en-US" b="1" dirty="0" err="1"/>
              <a:t>thế</a:t>
            </a:r>
            <a:r>
              <a:rPr lang="en-US" b="1" dirty="0"/>
              <a:t> </a:t>
            </a:r>
            <a:r>
              <a:rPr lang="en-US" b="1" dirty="0" err="1"/>
              <a:t>nhau</a:t>
            </a:r>
            <a:r>
              <a:rPr lang="en-US" dirty="0"/>
              <a:t>.</a:t>
            </a:r>
          </a:p>
          <a:p>
            <a:r>
              <a:rPr lang="en-US" b="1" dirty="0"/>
              <a:t>Testing:</a:t>
            </a:r>
            <a:r>
              <a:rPr lang="en-US" dirty="0"/>
              <a:t> “When I run the software, does it behave correctly?”</a:t>
            </a:r>
          </a:p>
          <a:p>
            <a:r>
              <a:rPr lang="en-US" b="1" dirty="0"/>
              <a:t>Inspection:</a:t>
            </a:r>
            <a:r>
              <a:rPr lang="en-US" dirty="0"/>
              <a:t> “Is there anything wrong with this artifact even without executing it?”</a:t>
            </a:r>
          </a:p>
          <a:p>
            <a:endParaRPr lang="en-VN" dirty="0"/>
          </a:p>
          <a:p>
            <a:r>
              <a:rPr lang="en-US" b="1" dirty="0"/>
              <a:t>4. Inspection </a:t>
            </a:r>
            <a:r>
              <a:rPr lang="en-US" b="1" dirty="0" err="1"/>
              <a:t>có</a:t>
            </a:r>
            <a:r>
              <a:rPr lang="en-US" b="1" dirty="0"/>
              <a:t> </a:t>
            </a:r>
            <a:r>
              <a:rPr lang="en-US" b="1" dirty="0" err="1"/>
              <a:t>thể</a:t>
            </a:r>
            <a:r>
              <a:rPr lang="en-US" b="1" dirty="0"/>
              <a:t> </a:t>
            </a:r>
            <a:r>
              <a:rPr lang="en-US" b="1" dirty="0" err="1"/>
              <a:t>phát</a:t>
            </a:r>
            <a:r>
              <a:rPr lang="en-US" b="1" dirty="0"/>
              <a:t> </a:t>
            </a:r>
            <a:r>
              <a:rPr lang="en-US" b="1" dirty="0" err="1"/>
              <a:t>hiện</a:t>
            </a:r>
            <a:r>
              <a:rPr lang="en-US" b="1" dirty="0"/>
              <a:t> Code Smells</a:t>
            </a:r>
          </a:p>
          <a:p>
            <a:endParaRPr lang="en-US" dirty="0"/>
          </a:p>
          <a:p>
            <a:r>
              <a:rPr lang="vi-VN" b="1" dirty="0"/>
              <a:t>5. Inspection còn mang lại các lợi ích khác</a:t>
            </a:r>
            <a:endParaRPr lang="vi-VN" dirty="0"/>
          </a:p>
          <a:p>
            <a:r>
              <a:rPr lang="vi-VN" dirty="0"/>
              <a:t>Ngoài việc tìm lỗi, inspection còn giúp:</a:t>
            </a:r>
          </a:p>
          <a:p>
            <a:r>
              <a:rPr lang="vi-VN" dirty="0"/>
              <a:t>chia sẻ kiến thức giữa các thành viên;</a:t>
            </a:r>
          </a:p>
          <a:p>
            <a:r>
              <a:rPr lang="vi-VN" dirty="0"/>
              <a:t>giúp developers hiểu code của nhau;</a:t>
            </a:r>
          </a:p>
          <a:p>
            <a:r>
              <a:rPr lang="vi-VN" dirty="0"/>
              <a:t>đảm bảo coding/design standards;</a:t>
            </a:r>
          </a:p>
          <a:p>
            <a:r>
              <a:rPr lang="vi-VN" dirty="0"/>
              <a:t>cải thiện tính nhất quán;</a:t>
            </a:r>
          </a:p>
          <a:p>
            <a:r>
              <a:rPr lang="vi-VN" dirty="0"/>
              <a:t>hỗ trợ developers ít kinh nghiệm học từ người có kinh nghiệm;</a:t>
            </a:r>
          </a:p>
          <a:p>
            <a:r>
              <a:rPr lang="vi-VN" dirty="0"/>
              <a:t>phát hiện các cơ hội refactoring.</a:t>
            </a:r>
          </a:p>
          <a:p>
            <a:endParaRPr lang="en-VN" dirty="0"/>
          </a:p>
        </p:txBody>
      </p:sp>
      <p:sp>
        <p:nvSpPr>
          <p:cNvPr id="4" name="Header Placeholder 3"/>
          <p:cNvSpPr>
            <a:spLocks noGrp="1"/>
          </p:cNvSpPr>
          <p:nvPr>
            <p:ph type="hdr" sz="quarter"/>
          </p:nvPr>
        </p:nvSpPr>
        <p:spPr/>
        <p:txBody>
          <a:bodyPr/>
          <a:lstStyle/>
          <a:p>
            <a:r>
              <a:rPr lang="en-US"/>
              <a:t>Software Engineering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37</a:t>
            </a:fld>
            <a:endParaRPr lang="en-US"/>
          </a:p>
        </p:txBody>
      </p:sp>
    </p:spTree>
    <p:extLst>
      <p:ext uri="{BB962C8B-B14F-4D97-AF65-F5344CB8AC3E}">
        <p14:creationId xmlns:p14="http://schemas.microsoft.com/office/powerpoint/2010/main" val="3232351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3CFFEA5B-438E-4F4F-9BD7-52B3FEEEE0BF}"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42</a:t>
            </a:fld>
            <a:endParaRPr lang="en-US"/>
          </a:p>
        </p:txBody>
      </p:sp>
    </p:spTree>
    <p:extLst>
      <p:ext uri="{BB962C8B-B14F-4D97-AF65-F5344CB8AC3E}">
        <p14:creationId xmlns:p14="http://schemas.microsoft.com/office/powerpoint/2010/main" val="3247290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02B03A4B-D0BA-4A67-A963-8862FA133C97}"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43</a:t>
            </a:fld>
            <a:endParaRPr lang="en-US"/>
          </a:p>
        </p:txBody>
      </p:sp>
    </p:spTree>
    <p:extLst>
      <p:ext uri="{BB962C8B-B14F-4D97-AF65-F5344CB8AC3E}">
        <p14:creationId xmlns:p14="http://schemas.microsoft.com/office/powerpoint/2010/main" val="3354352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64E21BE9-E252-4A1F-A061-4A8992526E3D}"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44</a:t>
            </a:fld>
            <a:endParaRPr lang="en-US"/>
          </a:p>
        </p:txBody>
      </p:sp>
    </p:spTree>
    <p:extLst>
      <p:ext uri="{BB962C8B-B14F-4D97-AF65-F5344CB8AC3E}">
        <p14:creationId xmlns:p14="http://schemas.microsoft.com/office/powerpoint/2010/main" val="2150098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AAFB75FE-2D41-4CFD-A36A-65ED4ECA618B}"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45</a:t>
            </a:fld>
            <a:endParaRPr lang="en-US"/>
          </a:p>
        </p:txBody>
      </p:sp>
    </p:spTree>
    <p:extLst>
      <p:ext uri="{BB962C8B-B14F-4D97-AF65-F5344CB8AC3E}">
        <p14:creationId xmlns:p14="http://schemas.microsoft.com/office/powerpoint/2010/main" val="40350952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D8DE262F-1AA5-4E15-B47F-AB6D8B2A3739}"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46</a:t>
            </a:fld>
            <a:endParaRPr lang="en-US"/>
          </a:p>
        </p:txBody>
      </p:sp>
    </p:spTree>
    <p:extLst>
      <p:ext uri="{BB962C8B-B14F-4D97-AF65-F5344CB8AC3E}">
        <p14:creationId xmlns:p14="http://schemas.microsoft.com/office/powerpoint/2010/main" val="34380443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6349" y="1"/>
            <a:ext cx="12192000" cy="5293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0" name="Freeform 9"/>
          <p:cNvSpPr/>
          <p:nvPr/>
        </p:nvSpPr>
        <p:spPr>
          <a:xfrm>
            <a:off x="6350" y="-24063"/>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ctrTitle"/>
          </p:nvPr>
        </p:nvSpPr>
        <p:spPr>
          <a:xfrm>
            <a:off x="457200" y="3897256"/>
            <a:ext cx="7772400" cy="1463040"/>
          </a:xfrm>
        </p:spPr>
        <p:txBody>
          <a:bodyPr anchor="ctr">
            <a:normAutofit/>
          </a:bodyPr>
          <a:lstStyle>
            <a:lvl1pPr algn="r">
              <a:defRPr sz="3600" spc="200" baseline="0"/>
            </a:lvl1pPr>
          </a:lstStyle>
          <a:p>
            <a:r>
              <a:rPr lang="en-US"/>
              <a:t>Click to edit Master title style</a:t>
            </a:r>
            <a:endParaRPr lang="en-US" dirty="0"/>
          </a:p>
        </p:txBody>
      </p:sp>
      <p:sp>
        <p:nvSpPr>
          <p:cNvPr id="3" name="Subtitle 2"/>
          <p:cNvSpPr>
            <a:spLocks noGrp="1"/>
          </p:cNvSpPr>
          <p:nvPr>
            <p:ph type="subTitle" idx="1" hasCustomPrompt="1"/>
          </p:nvPr>
        </p:nvSpPr>
        <p:spPr>
          <a:xfrm>
            <a:off x="8610600" y="3897256"/>
            <a:ext cx="3200400" cy="1463040"/>
          </a:xfrm>
        </p:spPr>
        <p:txBody>
          <a:bodyPr lIns="91440" rIns="91440" anchor="ctr">
            <a:normAutofit/>
          </a:bodyPr>
          <a:lstStyle>
            <a:lvl1pPr marL="0" indent="0" algn="l">
              <a:lnSpc>
                <a:spcPct val="100000"/>
              </a:lnSpc>
              <a:spcBef>
                <a:spcPts val="0"/>
              </a:spcBef>
              <a:buNone/>
              <a:defRPr sz="160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Thang</a:t>
            </a:r>
            <a:r>
              <a:rPr lang="en-US" dirty="0"/>
              <a:t> Bui</a:t>
            </a:r>
          </a:p>
        </p:txBody>
      </p:sp>
      <p:cxnSp>
        <p:nvCxnSpPr>
          <p:cNvPr id="8" name="Straight Connector 7"/>
          <p:cNvCxnSpPr/>
          <p:nvPr/>
        </p:nvCxnSpPr>
        <p:spPr>
          <a:xfrm flipV="1">
            <a:off x="8386843" y="420122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4709"/>
            <a:ext cx="1278800" cy="871990"/>
          </a:xfrm>
          <a:prstGeom prst="rect">
            <a:avLst/>
          </a:prstGeom>
        </p:spPr>
      </p:pic>
      <p:sp>
        <p:nvSpPr>
          <p:cNvPr id="11" name="Title 1"/>
          <p:cNvSpPr txBox="1">
            <a:spLocks/>
          </p:cNvSpPr>
          <p:nvPr/>
        </p:nvSpPr>
        <p:spPr>
          <a:xfrm>
            <a:off x="3322651" y="529389"/>
            <a:ext cx="7772400" cy="2317424"/>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4400" kern="1200" cap="all" spc="200" baseline="0">
                <a:solidFill>
                  <a:schemeClr val="tx1">
                    <a:lumMod val="95000"/>
                    <a:lumOff val="5000"/>
                  </a:schemeClr>
                </a:solidFill>
                <a:latin typeface="+mj-lt"/>
                <a:ea typeface="+mj-ea"/>
                <a:cs typeface="+mj-cs"/>
              </a:defRPr>
            </a:lvl1pPr>
          </a:lstStyle>
          <a:p>
            <a:pPr fontAlgn="auto">
              <a:spcAft>
                <a:spcPts val="0"/>
              </a:spcAft>
            </a:pPr>
            <a:r>
              <a:rPr lang="en-US" sz="8000" dirty="0"/>
              <a:t>Software engineering</a:t>
            </a:r>
          </a:p>
        </p:txBody>
      </p:sp>
      <p:sp>
        <p:nvSpPr>
          <p:cNvPr id="12" name="Rectangle 11"/>
          <p:cNvSpPr/>
          <p:nvPr/>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3" name="TextBox 12"/>
          <p:cNvSpPr txBox="1"/>
          <p:nvPr/>
        </p:nvSpPr>
        <p:spPr>
          <a:xfrm>
            <a:off x="9284299" y="2410485"/>
            <a:ext cx="1358064" cy="707886"/>
          </a:xfrm>
          <a:prstGeom prst="rect">
            <a:avLst/>
          </a:prstGeom>
          <a:noFill/>
        </p:spPr>
        <p:txBody>
          <a:bodyPr wrap="none" rtlCol="0">
            <a:spAutoFit/>
          </a:bodyPr>
          <a:lstStyle/>
          <a:p>
            <a:r>
              <a:rPr lang="en-US" sz="4000" dirty="0">
                <a:latin typeface="+mj-lt"/>
              </a:rPr>
              <a:t>CO3001</a:t>
            </a:r>
          </a:p>
        </p:txBody>
      </p:sp>
    </p:spTree>
    <p:extLst>
      <p:ext uri="{BB962C8B-B14F-4D97-AF65-F5344CB8AC3E}">
        <p14:creationId xmlns:p14="http://schemas.microsoft.com/office/powerpoint/2010/main" val="376357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35731269-D84E-417B-920D-B33105E8501B}" type="datetime1">
              <a:rPr lang="nb-NO" smtClean="0"/>
              <a:t>05.10.2026</a:t>
            </a:fld>
            <a:endParaRPr lang="en-US" dirty="0"/>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2778304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5775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3885224"/>
            <a:ext cx="77724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3885224"/>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FA94AACC-DA84-4F70-9296-06C1D6DDBA57}" type="datetime1">
              <a:rPr lang="nb-NO" smtClean="0"/>
              <a:t>05.10.2026</a:t>
            </a:fld>
            <a:endParaRPr lang="en-US" dirty="0"/>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cxnSp>
        <p:nvCxnSpPr>
          <p:cNvPr id="8" name="Straight Connector 7"/>
          <p:cNvCxnSpPr/>
          <p:nvPr/>
        </p:nvCxnSpPr>
        <p:spPr>
          <a:xfrm flipV="1">
            <a:off x="8386843" y="4189193"/>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877441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96254"/>
            <a:ext cx="10786873" cy="12272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1524002"/>
            <a:ext cx="4965192"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1011" y="1524002"/>
            <a:ext cx="5329988"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9AF012D5-FCD3-4AC0-B590-3BB7CDCBD55A}" type="datetime1">
              <a:rPr lang="nb-NO" smtClean="0"/>
              <a:t>05.10.2026</a:t>
            </a:fld>
            <a:endParaRPr lang="en-US" dirty="0"/>
          </a:p>
        </p:txBody>
      </p:sp>
      <p:sp>
        <p:nvSpPr>
          <p:cNvPr id="6" name="Footer Placeholder 5"/>
          <p:cNvSpPr>
            <a:spLocks noGrp="1"/>
          </p:cNvSpPr>
          <p:nvPr>
            <p:ph type="ftr" sz="quarter" idx="11"/>
          </p:nvPr>
        </p:nvSpPr>
        <p:spPr/>
        <p:txBody>
          <a:bodyPr/>
          <a:lstStyle/>
          <a:p>
            <a:r>
              <a:rPr lang="en-US"/>
              <a:t>Chapter 7.3. More on Implementation</a:t>
            </a:r>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44175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84222"/>
            <a:ext cx="10786873" cy="12392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524002"/>
            <a:ext cx="513604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346962"/>
            <a:ext cx="5136040"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843" y="1524002"/>
            <a:ext cx="5394157"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416843" y="2346962"/>
            <a:ext cx="5394157"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24130" y="6470704"/>
            <a:ext cx="2154143" cy="274320"/>
          </a:xfrm>
          <a:prstGeom prst="rect">
            <a:avLst/>
          </a:prstGeom>
        </p:spPr>
        <p:txBody>
          <a:bodyPr/>
          <a:lstStyle/>
          <a:p>
            <a:fld id="{31F2BBAE-6064-484C-BDBB-D9B9C726B049}" type="datetime1">
              <a:rPr lang="nb-NO" smtClean="0"/>
              <a:t>05.10.2026</a:t>
            </a:fld>
            <a:endParaRPr lang="en-US" dirty="0"/>
          </a:p>
        </p:txBody>
      </p:sp>
      <p:sp>
        <p:nvSpPr>
          <p:cNvPr id="8" name="Footer Placeholder 7"/>
          <p:cNvSpPr>
            <a:spLocks noGrp="1"/>
          </p:cNvSpPr>
          <p:nvPr>
            <p:ph type="ftr" sz="quarter" idx="11"/>
          </p:nvPr>
        </p:nvSpPr>
        <p:spPr/>
        <p:txBody>
          <a:bodyPr/>
          <a:lstStyle/>
          <a:p>
            <a:r>
              <a:rPr lang="en-US"/>
              <a:t>Chapter 7.3. More on Implementation</a:t>
            </a:r>
          </a:p>
        </p:txBody>
      </p:sp>
      <p:sp>
        <p:nvSpPr>
          <p:cNvPr id="9" name="Slide Number Placeholder 8"/>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211138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24130" y="6470704"/>
            <a:ext cx="2154143" cy="274320"/>
          </a:xfrm>
          <a:prstGeom prst="rect">
            <a:avLst/>
          </a:prstGeom>
        </p:spPr>
        <p:txBody>
          <a:bodyPr/>
          <a:lstStyle/>
          <a:p>
            <a:fld id="{F95C0B5C-2EB8-477C-8C1B-023679863D86}" type="datetime1">
              <a:rPr lang="nb-NO" smtClean="0"/>
              <a:t>05.10.2026</a:t>
            </a:fld>
            <a:endParaRPr lang="en-US" dirty="0"/>
          </a:p>
        </p:txBody>
      </p:sp>
      <p:sp>
        <p:nvSpPr>
          <p:cNvPr id="4" name="Footer Placeholder 3"/>
          <p:cNvSpPr>
            <a:spLocks noGrp="1"/>
          </p:cNvSpPr>
          <p:nvPr>
            <p:ph type="ftr" sz="quarter" idx="11"/>
          </p:nvPr>
        </p:nvSpPr>
        <p:spPr/>
        <p:txBody>
          <a:bodyPr/>
          <a:lstStyle/>
          <a:p>
            <a:r>
              <a:rPr lang="en-US"/>
              <a:t>Chapter 7.3. More on Implementation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3471852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30" y="6470704"/>
            <a:ext cx="2154143" cy="274320"/>
          </a:xfrm>
          <a:prstGeom prst="rect">
            <a:avLst/>
          </a:prstGeom>
        </p:spPr>
        <p:txBody>
          <a:bodyPr/>
          <a:lstStyle/>
          <a:p>
            <a:fld id="{47096BB5-34B9-4F3F-8D60-04A62AF84EA0}" type="datetime1">
              <a:rPr lang="nb-NO" smtClean="0"/>
              <a:t>05.10.2026</a:t>
            </a:fld>
            <a:endParaRPr lang="en-US" dirty="0"/>
          </a:p>
        </p:txBody>
      </p:sp>
      <p:sp>
        <p:nvSpPr>
          <p:cNvPr id="3" name="Footer Placeholder 2"/>
          <p:cNvSpPr>
            <a:spLocks noGrp="1"/>
          </p:cNvSpPr>
          <p:nvPr>
            <p:ph type="ftr" sz="quarter" idx="11"/>
          </p:nvPr>
        </p:nvSpPr>
        <p:spPr/>
        <p:txBody>
          <a:bodyPr/>
          <a:lstStyle/>
          <a:p>
            <a:r>
              <a:rPr lang="en-US"/>
              <a:t>Chapter 7.3. More on Implementation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13208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ADCFF27E-7040-4319-9526-0A4C46945924}" type="datetime1">
              <a:rPr lang="nb-NO" smtClean="0"/>
              <a:t>05.10.2026</a:t>
            </a:fld>
            <a:endParaRPr lang="en-US" dirty="0"/>
          </a:p>
        </p:txBody>
      </p:sp>
      <p:sp>
        <p:nvSpPr>
          <p:cNvPr id="6" name="Footer Placeholder 5"/>
          <p:cNvSpPr>
            <a:spLocks noGrp="1"/>
          </p:cNvSpPr>
          <p:nvPr>
            <p:ph type="ftr" sz="quarter" idx="11"/>
          </p:nvPr>
        </p:nvSpPr>
        <p:spPr/>
        <p:txBody>
          <a:bodyPr/>
          <a:lstStyle/>
          <a:p>
            <a:r>
              <a:rPr lang="en-US"/>
              <a:t>Chapter 7.3. More on Implementation</a:t>
            </a:r>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775014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2D48A13C-99D7-4EFE-947B-068856DD8C1E}" type="datetime1">
              <a:rPr lang="nb-NO" smtClean="0"/>
              <a:t>05.10.2026</a:t>
            </a:fld>
            <a:endParaRPr lang="en-US"/>
          </a:p>
        </p:txBody>
      </p:sp>
      <p:sp>
        <p:nvSpPr>
          <p:cNvPr id="6" name="Footer Placeholder 5"/>
          <p:cNvSpPr>
            <a:spLocks noGrp="1"/>
          </p:cNvSpPr>
          <p:nvPr>
            <p:ph type="ftr" sz="quarter" idx="11"/>
          </p:nvPr>
        </p:nvSpPr>
        <p:spPr/>
        <p:txBody>
          <a:bodyPr/>
          <a:lstStyle/>
          <a:p>
            <a:r>
              <a:rPr lang="en-US"/>
              <a:t>Chapter 7.3. More on Implementation</a:t>
            </a:r>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720526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EA267463-1597-43CB-81F7-3E2CC6B2BD59}" type="datetime1">
              <a:rPr lang="nb-NO" smtClean="0"/>
              <a:t>05.10.2026</a:t>
            </a:fld>
            <a:endParaRPr lang="en-US"/>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295486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3CD53F29-7FAE-4ED3-A22A-A0AC411E841E}" type="datetime1">
              <a:rPr lang="nb-NO" smtClean="0"/>
              <a:t>05.10.2026</a:t>
            </a:fld>
            <a:endParaRPr lang="en-US"/>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4292444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30" y="6470704"/>
            <a:ext cx="2154143" cy="274320"/>
          </a:xfrm>
          <a:prstGeom prst="rect">
            <a:avLst/>
          </a:prstGeom>
        </p:spPr>
        <p:txBody>
          <a:bodyPr rtlCol="0"/>
          <a:lstStyle>
            <a:lvl1pPr>
              <a:defRPr smtClean="0">
                <a:latin typeface="Arial" pitchFamily="34" charset="0"/>
                <a:cs typeface="Arial" pitchFamily="34" charset="0"/>
              </a:defRPr>
            </a:lvl1pPr>
          </a:lstStyle>
          <a:p>
            <a:fld id="{4567E816-16E4-423A-9B29-3F8133B30BE1}" type="datetime1">
              <a:rPr lang="nb-NO" smtClean="0"/>
              <a:t>05.10.2026</a:t>
            </a:fld>
            <a:endParaRPr lang="en-US" dirty="0"/>
          </a:p>
        </p:txBody>
      </p:sp>
      <p:sp>
        <p:nvSpPr>
          <p:cNvPr id="3" name="Footer Placeholder 2"/>
          <p:cNvSpPr>
            <a:spLocks noGrp="1"/>
          </p:cNvSpPr>
          <p:nvPr>
            <p:ph type="ftr" sz="quarter" idx="11"/>
          </p:nvPr>
        </p:nvSpPr>
        <p:spPr/>
        <p:txBody>
          <a:bodyPr/>
          <a:lstStyle>
            <a:lvl1pPr>
              <a:defRPr/>
            </a:lvl1pPr>
          </a:lstStyle>
          <a:p>
            <a:r>
              <a:rPr lang="en-US"/>
              <a:t>Chapter 7.3. More on Implementation</a:t>
            </a:r>
          </a:p>
        </p:txBody>
      </p:sp>
      <p:sp>
        <p:nvSpPr>
          <p:cNvPr id="4" name="Slide Number Placeholder 3"/>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
        <p:nvSpPr>
          <p:cNvPr id="7" name="Content Placeholder 2"/>
          <p:cNvSpPr>
            <a:spLocks noGrp="1"/>
          </p:cNvSpPr>
          <p:nvPr>
            <p:ph idx="1"/>
          </p:nvPr>
        </p:nvSpPr>
        <p:spPr>
          <a:xfrm>
            <a:off x="609600" y="673100"/>
            <a:ext cx="10972800" cy="580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634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96254"/>
            <a:ext cx="10786871" cy="12151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1528012"/>
            <a:ext cx="10786872" cy="4781349"/>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Chapter 7.3. More on Implementation</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33B370-F672-B743-B3AF-248A63C17270}" type="slidenum">
              <a:rPr lang="en-US" smtClean="0"/>
              <a:pPr/>
              <a:t>‹#›</a:t>
            </a:fld>
            <a:endParaRPr lang="en-US"/>
          </a:p>
        </p:txBody>
      </p:sp>
      <p:cxnSp>
        <p:nvCxnSpPr>
          <p:cNvPr id="7" name="Straight Connector 6"/>
          <p:cNvCxnSpPr/>
          <p:nvPr/>
        </p:nvCxnSpPr>
        <p:spPr>
          <a:xfrm flipV="1">
            <a:off x="762000" y="224745"/>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77113139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hdr="0"/>
  <p:txStyles>
    <p:titleStyle>
      <a:lvl1pPr algn="l" defTabSz="914400" rtl="0" eaLnBrk="1" latinLnBrk="0" hangingPunct="1">
        <a:lnSpc>
          <a:spcPct val="80000"/>
        </a:lnSpc>
        <a:spcBef>
          <a:spcPct val="0"/>
        </a:spcBef>
        <a:buNone/>
        <a:defRPr sz="3600" kern="1200" cap="all" spc="100" baseline="0">
          <a:solidFill>
            <a:schemeClr val="tx1">
              <a:lumMod val="95000"/>
              <a:lumOff val="5000"/>
            </a:schemeClr>
          </a:solidFill>
          <a:latin typeface="+mj-lt"/>
          <a:ea typeface="+mj-ea"/>
          <a:cs typeface="+mj-cs"/>
        </a:defRPr>
      </a:lvl1pPr>
    </p:titleStyle>
    <p:body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www.oracle.com/technetwork/java/codeconventions-150003.pdf"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AU" dirty="0"/>
              <a:t>Chapter </a:t>
            </a:r>
            <a:r>
              <a:rPr lang="nb-NO" dirty="0"/>
              <a:t>8 – software </a:t>
            </a:r>
            <a:r>
              <a:rPr lang="en-AU" dirty="0"/>
              <a:t>Implementation</a:t>
            </a:r>
          </a:p>
        </p:txBody>
      </p:sp>
      <p:sp>
        <p:nvSpPr>
          <p:cNvPr id="4" name="Subtitle 3"/>
          <p:cNvSpPr>
            <a:spLocks noGrp="1"/>
          </p:cNvSpPr>
          <p:nvPr>
            <p:ph type="subTitle" idx="1"/>
          </p:nvPr>
        </p:nvSpPr>
        <p:spPr/>
        <p:txBody>
          <a:bodyPr/>
          <a:lstStyle/>
          <a:p>
            <a:r>
              <a:rPr lang="en-US" dirty="0"/>
              <a:t>Anh Nguyen-Duc</a:t>
            </a:r>
          </a:p>
          <a:p>
            <a:r>
              <a:rPr lang="en-US" dirty="0"/>
              <a:t>Tho Quan-Thanh</a:t>
            </a:r>
          </a:p>
        </p:txBody>
      </p:sp>
      <p:sp>
        <p:nvSpPr>
          <p:cNvPr id="5" name="TextBox 4"/>
          <p:cNvSpPr txBox="1"/>
          <p:nvPr/>
        </p:nvSpPr>
        <p:spPr>
          <a:xfrm>
            <a:off x="7752184" y="6165304"/>
            <a:ext cx="2736304" cy="369332"/>
          </a:xfrm>
          <a:prstGeom prst="rect">
            <a:avLst/>
          </a:prstGeom>
          <a:noFill/>
        </p:spPr>
        <p:txBody>
          <a:bodyPr wrap="square" rtlCol="0">
            <a:spAutoFit/>
          </a:bodyPr>
          <a:lstStyle/>
          <a:p>
            <a:pPr algn="ctr"/>
            <a:r>
              <a:rPr lang="en-US" b="1" dirty="0">
                <a:solidFill>
                  <a:srgbClr val="0000FF"/>
                </a:solidFill>
              </a:rPr>
              <a:t>WEEK 8</a:t>
            </a:r>
          </a:p>
        </p:txBody>
      </p:sp>
    </p:spTree>
    <p:extLst>
      <p:ext uri="{BB962C8B-B14F-4D97-AF65-F5344CB8AC3E}">
        <p14:creationId xmlns:p14="http://schemas.microsoft.com/office/powerpoint/2010/main" val="3679777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lstStyle/>
          <a:p>
            <a:r>
              <a:rPr lang="en-US" dirty="0"/>
              <a:t>Implementation meaning</a:t>
            </a:r>
          </a:p>
          <a:p>
            <a:r>
              <a:rPr lang="en-US" dirty="0"/>
              <a:t>Coding style &amp; standards</a:t>
            </a:r>
            <a:endParaRPr lang="en-GB" dirty="0"/>
          </a:p>
          <a:p>
            <a:r>
              <a:rPr lang="en-US" dirty="0"/>
              <a:t>Code with correctness justification</a:t>
            </a:r>
          </a:p>
          <a:p>
            <a:r>
              <a:rPr lang="en-US" dirty="0"/>
              <a:t>Code smell and some good practices</a:t>
            </a:r>
          </a:p>
          <a:p>
            <a:r>
              <a:rPr lang="en-US" dirty="0"/>
              <a:t>Code inspection</a:t>
            </a:r>
          </a:p>
          <a:p>
            <a:r>
              <a:rPr lang="en-US" dirty="0"/>
              <a:t>Exercise</a:t>
            </a:r>
            <a:endParaRPr lang="en-GB" dirty="0"/>
          </a:p>
        </p:txBody>
      </p:sp>
      <p:sp>
        <p:nvSpPr>
          <p:cNvPr id="10" name="Date Placeholder 9"/>
          <p:cNvSpPr>
            <a:spLocks noGrp="1"/>
          </p:cNvSpPr>
          <p:nvPr>
            <p:ph type="dt" sz="half" idx="10"/>
          </p:nvPr>
        </p:nvSpPr>
        <p:spPr/>
        <p:txBody>
          <a:bodyPr/>
          <a:lstStyle/>
          <a:p>
            <a:fld id="{1BD26329-1625-4859-BD41-121AC17F2B6B}" type="datetime1">
              <a:rPr lang="nb-NO" smtClean="0"/>
              <a:t>05.10.2026</a:t>
            </a:fld>
            <a:endParaRPr lang="en-US"/>
          </a:p>
        </p:txBody>
      </p:sp>
      <p:sp>
        <p:nvSpPr>
          <p:cNvPr id="5" name="Footer Placeholder 4"/>
          <p:cNvSpPr>
            <a:spLocks noGrp="1"/>
          </p:cNvSpPr>
          <p:nvPr>
            <p:ph type="ftr" sz="quarter" idx="11"/>
          </p:nvPr>
        </p:nvSpPr>
        <p:spPr/>
        <p:txBody>
          <a:bodyPr/>
          <a:lstStyle/>
          <a:p>
            <a:r>
              <a:rPr lang="en-US"/>
              <a:t>Chapter 7.3. More on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a:t>
            </a:fld>
            <a:endParaRPr lang="en-US"/>
          </a:p>
        </p:txBody>
      </p:sp>
    </p:spTree>
    <p:extLst>
      <p:ext uri="{BB962C8B-B14F-4D97-AF65-F5344CB8AC3E}">
        <p14:creationId xmlns:p14="http://schemas.microsoft.com/office/powerpoint/2010/main" val="1788750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Implementation</a:t>
            </a:r>
          </a:p>
        </p:txBody>
      </p:sp>
      <p:sp>
        <p:nvSpPr>
          <p:cNvPr id="8195" name="Rectangle 3"/>
          <p:cNvSpPr>
            <a:spLocks noGrp="1" noChangeArrowheads="1"/>
          </p:cNvSpPr>
          <p:nvPr>
            <p:ph idx="1"/>
          </p:nvPr>
        </p:nvSpPr>
        <p:spPr>
          <a:xfrm>
            <a:off x="1804416" y="1311443"/>
            <a:ext cx="8583168" cy="4781349"/>
          </a:xfrm>
        </p:spPr>
        <p:txBody>
          <a:bodyPr/>
          <a:lstStyle/>
          <a:p>
            <a:endParaRPr lang="en-US" dirty="0"/>
          </a:p>
          <a:p>
            <a:endParaRPr lang="en-US" dirty="0"/>
          </a:p>
          <a:p>
            <a:endParaRPr lang="en-US" dirty="0"/>
          </a:p>
          <a:p>
            <a:pPr marL="0" indent="0">
              <a:buNone/>
            </a:pPr>
            <a:r>
              <a:rPr lang="en-US" dirty="0"/>
              <a:t>Implementation = Unit Implementation + Integration</a:t>
            </a:r>
          </a:p>
        </p:txBody>
      </p:sp>
      <p:sp>
        <p:nvSpPr>
          <p:cNvPr id="6" name="Date Placeholder 5"/>
          <p:cNvSpPr>
            <a:spLocks noGrp="1"/>
          </p:cNvSpPr>
          <p:nvPr>
            <p:ph type="dt" sz="half" idx="10"/>
          </p:nvPr>
        </p:nvSpPr>
        <p:spPr/>
        <p:txBody>
          <a:bodyPr/>
          <a:lstStyle/>
          <a:p>
            <a:fld id="{B57AAF5F-6621-4E58-A51A-93FA88ACAAEB}"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3</a:t>
            </a:fld>
            <a:endParaRPr lang="en-AU"/>
          </a:p>
        </p:txBody>
      </p:sp>
      <p:sp>
        <p:nvSpPr>
          <p:cNvPr id="10" name="Rectangle 9"/>
          <p:cNvSpPr/>
          <p:nvPr/>
        </p:nvSpPr>
        <p:spPr>
          <a:xfrm>
            <a:off x="7624224" y="5122356"/>
            <a:ext cx="2376264" cy="369332"/>
          </a:xfrm>
          <a:prstGeom prst="rect">
            <a:avLst/>
          </a:prstGeom>
        </p:spPr>
        <p:txBody>
          <a:bodyPr wrap="square">
            <a:spAutoFit/>
          </a:bodyPr>
          <a:lstStyle/>
          <a:p>
            <a:r>
              <a:rPr lang="en-US" dirty="0"/>
              <a:t>put them all together</a:t>
            </a:r>
          </a:p>
        </p:txBody>
      </p:sp>
      <p:sp>
        <p:nvSpPr>
          <p:cNvPr id="12" name="Freeform 11"/>
          <p:cNvSpPr/>
          <p:nvPr/>
        </p:nvSpPr>
        <p:spPr>
          <a:xfrm>
            <a:off x="6428817" y="2118070"/>
            <a:ext cx="1020549" cy="1094362"/>
          </a:xfrm>
          <a:custGeom>
            <a:avLst/>
            <a:gdLst>
              <a:gd name="connsiteX0" fmla="*/ 408561 w 1020549"/>
              <a:gd name="connsiteY0" fmla="*/ 0 h 1420239"/>
              <a:gd name="connsiteX1" fmla="*/ 1011676 w 1020549"/>
              <a:gd name="connsiteY1" fmla="*/ 564205 h 1420239"/>
              <a:gd name="connsiteX2" fmla="*/ 0 w 1020549"/>
              <a:gd name="connsiteY2" fmla="*/ 1420239 h 1420239"/>
            </a:gdLst>
            <a:ahLst/>
            <a:cxnLst>
              <a:cxn ang="0">
                <a:pos x="connsiteX0" y="connsiteY0"/>
              </a:cxn>
              <a:cxn ang="0">
                <a:pos x="connsiteX1" y="connsiteY1"/>
              </a:cxn>
              <a:cxn ang="0">
                <a:pos x="connsiteX2" y="connsiteY2"/>
              </a:cxn>
            </a:cxnLst>
            <a:rect l="l" t="t" r="r" b="b"/>
            <a:pathLst>
              <a:path w="1020549" h="1420239">
                <a:moveTo>
                  <a:pt x="408561" y="0"/>
                </a:moveTo>
                <a:cubicBezTo>
                  <a:pt x="744165" y="163749"/>
                  <a:pt x="1079769" y="327499"/>
                  <a:pt x="1011676" y="564205"/>
                </a:cubicBezTo>
                <a:cubicBezTo>
                  <a:pt x="943583" y="800911"/>
                  <a:pt x="471791" y="1110575"/>
                  <a:pt x="0" y="14202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428488" y="1780655"/>
            <a:ext cx="4572000" cy="369332"/>
          </a:xfrm>
          <a:prstGeom prst="rect">
            <a:avLst/>
          </a:prstGeom>
        </p:spPr>
        <p:txBody>
          <a:bodyPr>
            <a:spAutoFit/>
          </a:bodyPr>
          <a:lstStyle/>
          <a:p>
            <a:r>
              <a:rPr lang="en-US" dirty="0"/>
              <a:t>smallest part that will be separately maintained</a:t>
            </a:r>
          </a:p>
        </p:txBody>
      </p:sp>
      <p:sp>
        <p:nvSpPr>
          <p:cNvPr id="13" name="Freeform 12"/>
          <p:cNvSpPr/>
          <p:nvPr/>
        </p:nvSpPr>
        <p:spPr>
          <a:xfrm>
            <a:off x="7714488" y="3702117"/>
            <a:ext cx="1560507" cy="1420239"/>
          </a:xfrm>
          <a:custGeom>
            <a:avLst/>
            <a:gdLst>
              <a:gd name="connsiteX0" fmla="*/ 1212384 w 1560507"/>
              <a:gd name="connsiteY0" fmla="*/ 0 h 1420239"/>
              <a:gd name="connsiteX1" fmla="*/ 1484758 w 1560507"/>
              <a:gd name="connsiteY1" fmla="*/ 525294 h 1420239"/>
              <a:gd name="connsiteX2" fmla="*/ 6154 w 1560507"/>
              <a:gd name="connsiteY2" fmla="*/ 914400 h 1420239"/>
              <a:gd name="connsiteX3" fmla="*/ 1056741 w 1560507"/>
              <a:gd name="connsiteY3" fmla="*/ 1420239 h 1420239"/>
            </a:gdLst>
            <a:ahLst/>
            <a:cxnLst>
              <a:cxn ang="0">
                <a:pos x="connsiteX0" y="connsiteY0"/>
              </a:cxn>
              <a:cxn ang="0">
                <a:pos x="connsiteX1" y="connsiteY1"/>
              </a:cxn>
              <a:cxn ang="0">
                <a:pos x="connsiteX2" y="connsiteY2"/>
              </a:cxn>
              <a:cxn ang="0">
                <a:pos x="connsiteX3" y="connsiteY3"/>
              </a:cxn>
            </a:cxnLst>
            <a:rect l="l" t="t" r="r" b="b"/>
            <a:pathLst>
              <a:path w="1560507" h="1420239">
                <a:moveTo>
                  <a:pt x="1212384" y="0"/>
                </a:moveTo>
                <a:cubicBezTo>
                  <a:pt x="1449090" y="186447"/>
                  <a:pt x="1685796" y="372894"/>
                  <a:pt x="1484758" y="525294"/>
                </a:cubicBezTo>
                <a:cubicBezTo>
                  <a:pt x="1283720" y="677694"/>
                  <a:pt x="77490" y="765243"/>
                  <a:pt x="6154" y="914400"/>
                </a:cubicBezTo>
                <a:cubicBezTo>
                  <a:pt x="-65182" y="1063558"/>
                  <a:pt x="495779" y="1241898"/>
                  <a:pt x="1056741" y="14202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Golden rule (!?)</a:t>
            </a:r>
          </a:p>
        </p:txBody>
      </p:sp>
      <p:sp>
        <p:nvSpPr>
          <p:cNvPr id="3" name="Content Placeholder 2"/>
          <p:cNvSpPr>
            <a:spLocks noGrp="1"/>
          </p:cNvSpPr>
          <p:nvPr>
            <p:ph idx="1"/>
          </p:nvPr>
        </p:nvSpPr>
        <p:spPr/>
        <p:txBody>
          <a:bodyPr/>
          <a:lstStyle/>
          <a:p>
            <a:r>
              <a:rPr lang="en-US"/>
              <a:t>Requirements to satisfy Customers</a:t>
            </a:r>
          </a:p>
          <a:p>
            <a:r>
              <a:rPr lang="en-US"/>
              <a:t>Design again requirements only</a:t>
            </a:r>
          </a:p>
          <a:p>
            <a:r>
              <a:rPr lang="en-US"/>
              <a:t>Implement again design only</a:t>
            </a:r>
          </a:p>
          <a:p>
            <a:r>
              <a:rPr lang="en-US"/>
              <a:t>Test again design and requirements</a:t>
            </a:r>
            <a:endParaRPr lang="en-US" dirty="0"/>
          </a:p>
        </p:txBody>
      </p:sp>
      <p:sp>
        <p:nvSpPr>
          <p:cNvPr id="4" name="Date Placeholder 3"/>
          <p:cNvSpPr>
            <a:spLocks noGrp="1"/>
          </p:cNvSpPr>
          <p:nvPr>
            <p:ph type="dt" sz="half" idx="10"/>
          </p:nvPr>
        </p:nvSpPr>
        <p:spPr/>
        <p:txBody>
          <a:bodyPr/>
          <a:lstStyle/>
          <a:p>
            <a:fld id="{61BE0C35-E10B-4014-8F68-06CEC72B4AEF}" type="datetime1">
              <a:rPr lang="nb-NO" smtClean="0"/>
              <a:t>05.10.2026</a:t>
            </a:fld>
            <a:endParaRPr lang="en-US"/>
          </a:p>
        </p:txBody>
      </p:sp>
      <p:sp>
        <p:nvSpPr>
          <p:cNvPr id="5" name="Footer Placeholder 4"/>
          <p:cNvSpPr>
            <a:spLocks noGrp="1"/>
          </p:cNvSpPr>
          <p:nvPr>
            <p:ph type="ftr" sz="quarter" idx="11"/>
          </p:nvPr>
        </p:nvSpPr>
        <p:spPr/>
        <p:txBody>
          <a:bodyPr/>
          <a:lstStyle/>
          <a:p>
            <a:r>
              <a:rPr lang="fr-FR"/>
              <a:t>Chapter 7.3. More on Implementation</a:t>
            </a:r>
            <a:endParaRPr lang="en-AU"/>
          </a:p>
        </p:txBody>
      </p:sp>
      <p:sp>
        <p:nvSpPr>
          <p:cNvPr id="6" name="Slide Number Placeholder 5"/>
          <p:cNvSpPr>
            <a:spLocks noGrp="1"/>
          </p:cNvSpPr>
          <p:nvPr>
            <p:ph type="sldNum" sz="quarter" idx="12"/>
          </p:nvPr>
        </p:nvSpPr>
        <p:spPr/>
        <p:txBody>
          <a:bodyPr/>
          <a:lstStyle/>
          <a:p>
            <a:fld id="{958E74C3-62C2-46AF-942D-53E7E0CA0864}" type="slidenum">
              <a:rPr lang="en-AU" smtClean="0"/>
              <a:pPr/>
              <a:t>4</a:t>
            </a:fld>
            <a:endParaRPr lang="en-AU"/>
          </a:p>
        </p:txBody>
      </p:sp>
    </p:spTree>
    <p:extLst>
      <p:ext uri="{BB962C8B-B14F-4D97-AF65-F5344CB8AC3E}">
        <p14:creationId xmlns:p14="http://schemas.microsoft.com/office/powerpoint/2010/main" val="3133358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27AE-4974-D093-C90F-8F8F3CE93F50}"/>
              </a:ext>
            </a:extLst>
          </p:cNvPr>
          <p:cNvSpPr>
            <a:spLocks noGrp="1"/>
          </p:cNvSpPr>
          <p:nvPr>
            <p:ph type="title"/>
          </p:nvPr>
        </p:nvSpPr>
        <p:spPr/>
        <p:txBody>
          <a:bodyPr/>
          <a:lstStyle/>
          <a:p>
            <a:r>
              <a:rPr lang="nb-NO" dirty="0"/>
              <a:t>Code </a:t>
            </a:r>
            <a:r>
              <a:rPr lang="nb-NO" dirty="0" err="1"/>
              <a:t>quality</a:t>
            </a:r>
            <a:endParaRPr lang="nb-NO" dirty="0"/>
          </a:p>
        </p:txBody>
      </p:sp>
      <p:sp>
        <p:nvSpPr>
          <p:cNvPr id="3" name="Content Placeholder 2">
            <a:extLst>
              <a:ext uri="{FF2B5EF4-FFF2-40B4-BE49-F238E27FC236}">
                <a16:creationId xmlns:a16="http://schemas.microsoft.com/office/drawing/2014/main" id="{52F9B12B-A08C-FBDA-850A-43236EF14936}"/>
              </a:ext>
            </a:extLst>
          </p:cNvPr>
          <p:cNvSpPr>
            <a:spLocks noGrp="1"/>
          </p:cNvSpPr>
          <p:nvPr>
            <p:ph idx="1"/>
          </p:nvPr>
        </p:nvSpPr>
        <p:spPr/>
        <p:txBody>
          <a:bodyPr/>
          <a:lstStyle/>
          <a:p>
            <a:endParaRPr lang="nb-NO" dirty="0"/>
          </a:p>
        </p:txBody>
      </p:sp>
      <p:sp>
        <p:nvSpPr>
          <p:cNvPr id="4" name="Date Placeholder 3">
            <a:extLst>
              <a:ext uri="{FF2B5EF4-FFF2-40B4-BE49-F238E27FC236}">
                <a16:creationId xmlns:a16="http://schemas.microsoft.com/office/drawing/2014/main" id="{E0BEC617-800F-DF5F-6774-0408A1442CFF}"/>
              </a:ext>
            </a:extLst>
          </p:cNvPr>
          <p:cNvSpPr>
            <a:spLocks noGrp="1"/>
          </p:cNvSpPr>
          <p:nvPr>
            <p:ph type="dt" sz="half" idx="10"/>
          </p:nvPr>
        </p:nvSpPr>
        <p:spPr/>
        <p:txBody>
          <a:bodyPr/>
          <a:lstStyle/>
          <a:p>
            <a:pPr>
              <a:defRPr/>
            </a:pPr>
            <a:fld id="{F0847A7C-3E5E-4403-9BF7-825F3BFD5149}" type="datetime1">
              <a:rPr lang="nb-NO" smtClean="0"/>
              <a:t>05.10.2026</a:t>
            </a:fld>
            <a:endParaRPr lang="en-US" dirty="0"/>
          </a:p>
        </p:txBody>
      </p:sp>
      <p:sp>
        <p:nvSpPr>
          <p:cNvPr id="5" name="Footer Placeholder 4">
            <a:extLst>
              <a:ext uri="{FF2B5EF4-FFF2-40B4-BE49-F238E27FC236}">
                <a16:creationId xmlns:a16="http://schemas.microsoft.com/office/drawing/2014/main" id="{0B5AB215-C784-361F-8389-CC55585BF093}"/>
              </a:ext>
            </a:extLst>
          </p:cNvPr>
          <p:cNvSpPr>
            <a:spLocks noGrp="1"/>
          </p:cNvSpPr>
          <p:nvPr>
            <p:ph type="ftr" sz="quarter" idx="4294967295"/>
          </p:nvPr>
        </p:nvSpPr>
        <p:spPr>
          <a:xfrm>
            <a:off x="4842933" y="6470704"/>
            <a:ext cx="5901459" cy="274320"/>
          </a:xfrm>
          <a:prstGeom prst="rect">
            <a:avLst/>
          </a:prstGeom>
        </p:spPr>
        <p:txBody>
          <a:bodyPr/>
          <a:lstStyle/>
          <a:p>
            <a:pPr>
              <a:defRPr/>
            </a:pPr>
            <a:r>
              <a:rPr lang="en-US"/>
              <a:t>Chapter 2. Software Processes</a:t>
            </a:r>
          </a:p>
        </p:txBody>
      </p:sp>
      <p:sp>
        <p:nvSpPr>
          <p:cNvPr id="6" name="Slide Number Placeholder 5">
            <a:extLst>
              <a:ext uri="{FF2B5EF4-FFF2-40B4-BE49-F238E27FC236}">
                <a16:creationId xmlns:a16="http://schemas.microsoft.com/office/drawing/2014/main" id="{C4068E78-3EF2-A298-8872-7154FA658322}"/>
              </a:ext>
            </a:extLst>
          </p:cNvPr>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pic>
        <p:nvPicPr>
          <p:cNvPr id="3074" name="Picture 2" descr="The exponential cost of fixing bugs - DeepSource">
            <a:extLst>
              <a:ext uri="{FF2B5EF4-FFF2-40B4-BE49-F238E27FC236}">
                <a16:creationId xmlns:a16="http://schemas.microsoft.com/office/drawing/2014/main" id="{C0928861-53C3-C994-9F3F-9BF5DEC81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242" y="1020051"/>
            <a:ext cx="10372725" cy="5191125"/>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887DB123-2AD6-A43D-CCF8-A85710C5C06F}"/>
              </a:ext>
            </a:extLst>
          </p:cNvPr>
          <p:cNvSpPr/>
          <p:nvPr/>
        </p:nvSpPr>
        <p:spPr>
          <a:xfrm>
            <a:off x="3890865" y="2379306"/>
            <a:ext cx="1866123" cy="383187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xtBox 7">
            <a:extLst>
              <a:ext uri="{FF2B5EF4-FFF2-40B4-BE49-F238E27FC236}">
                <a16:creationId xmlns:a16="http://schemas.microsoft.com/office/drawing/2014/main" id="{75AF5D21-EC4A-61BB-0553-6D4F622FEFA5}"/>
              </a:ext>
            </a:extLst>
          </p:cNvPr>
          <p:cNvSpPr txBox="1"/>
          <p:nvPr/>
        </p:nvSpPr>
        <p:spPr>
          <a:xfrm flipH="1">
            <a:off x="3983240" y="3337075"/>
            <a:ext cx="2650826" cy="369332"/>
          </a:xfrm>
          <a:prstGeom prst="rect">
            <a:avLst/>
          </a:prstGeom>
          <a:noFill/>
        </p:spPr>
        <p:txBody>
          <a:bodyPr wrap="square" rtlCol="0">
            <a:spAutoFit/>
          </a:bodyPr>
          <a:lstStyle/>
          <a:p>
            <a:r>
              <a:rPr lang="nb-NO" b="1" dirty="0" err="1"/>
              <a:t>Potential</a:t>
            </a:r>
            <a:r>
              <a:rPr lang="nb-NO" b="1" dirty="0"/>
              <a:t> </a:t>
            </a:r>
            <a:r>
              <a:rPr lang="nb-NO" b="1" dirty="0" err="1"/>
              <a:t>saving</a:t>
            </a:r>
            <a:endParaRPr lang="nb-NO" b="1" dirty="0"/>
          </a:p>
        </p:txBody>
      </p:sp>
    </p:spTree>
    <p:extLst>
      <p:ext uri="{BB962C8B-B14F-4D97-AF65-F5344CB8AC3E}">
        <p14:creationId xmlns:p14="http://schemas.microsoft.com/office/powerpoint/2010/main" val="385713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title"/>
          </p:nvPr>
        </p:nvSpPr>
        <p:spPr/>
        <p:txBody>
          <a:bodyPr/>
          <a:lstStyle/>
          <a:p>
            <a:r>
              <a:rPr lang="en-US"/>
              <a:t>Implement Code</a:t>
            </a:r>
            <a:endParaRPr lang="en-US" dirty="0"/>
          </a:p>
        </p:txBody>
      </p:sp>
      <p:sp>
        <p:nvSpPr>
          <p:cNvPr id="17411" name="Rectangle 8"/>
          <p:cNvSpPr>
            <a:spLocks noGrp="1" noChangeArrowheads="1"/>
          </p:cNvSpPr>
          <p:nvPr>
            <p:ph idx="1"/>
          </p:nvPr>
        </p:nvSpPr>
        <p:spPr/>
        <p:txBody>
          <a:bodyPr/>
          <a:lstStyle/>
          <a:p>
            <a:r>
              <a:rPr lang="en-US" dirty="0"/>
              <a:t>1. Plan the structure and residual design for your code</a:t>
            </a:r>
          </a:p>
          <a:p>
            <a:r>
              <a:rPr lang="en-US" dirty="0"/>
              <a:t>2. Self-inspect your design and/or structure</a:t>
            </a:r>
          </a:p>
          <a:p>
            <a:r>
              <a:rPr lang="en-US" dirty="0"/>
              <a:t>3. Type your code</a:t>
            </a:r>
          </a:p>
          <a:p>
            <a:r>
              <a:rPr lang="en-US" dirty="0"/>
              <a:t>4. Self-inspect your code</a:t>
            </a:r>
          </a:p>
          <a:p>
            <a:r>
              <a:rPr lang="en-US" dirty="0"/>
              <a:t>5. Compile your code</a:t>
            </a:r>
          </a:p>
          <a:p>
            <a:r>
              <a:rPr lang="en-US" dirty="0"/>
              <a:t>6. Test your code</a:t>
            </a:r>
          </a:p>
        </p:txBody>
      </p:sp>
      <p:sp>
        <p:nvSpPr>
          <p:cNvPr id="6" name="Date Placeholder 5"/>
          <p:cNvSpPr>
            <a:spLocks noGrp="1"/>
          </p:cNvSpPr>
          <p:nvPr>
            <p:ph type="dt" sz="half" idx="10"/>
          </p:nvPr>
        </p:nvSpPr>
        <p:spPr/>
        <p:txBody>
          <a:bodyPr/>
          <a:lstStyle/>
          <a:p>
            <a:fld id="{87E6440A-CF34-4E68-99D9-149901A2F961}"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6</a:t>
            </a:fld>
            <a:endParaRPr lang="en-AU"/>
          </a:p>
        </p:txBody>
      </p:sp>
      <p:sp>
        <p:nvSpPr>
          <p:cNvPr id="17414" name="WordArt 4"/>
          <p:cNvSpPr>
            <a:spLocks noChangeArrowheads="1" noChangeShapeType="1" noTextEdit="1"/>
          </p:cNvSpPr>
          <p:nvPr/>
        </p:nvSpPr>
        <p:spPr bwMode="auto">
          <a:xfrm>
            <a:off x="8544272" y="476673"/>
            <a:ext cx="1936750" cy="428625"/>
          </a:xfrm>
          <a:prstGeom prst="rect">
            <a:avLst/>
          </a:prstGeom>
        </p:spPr>
        <p:txBody>
          <a:bodyPr wrap="none" fromWordArt="1">
            <a:prstTxWarp prst="textFadeUp">
              <a:avLst>
                <a:gd name="adj" fmla="val 12634"/>
              </a:avLst>
            </a:prstTxWarp>
          </a:bodyPr>
          <a:lstStyle/>
          <a:p>
            <a:pPr algn="ctr"/>
            <a:r>
              <a:rPr lang="en-US"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One way to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5"/>
          <p:cNvSpPr>
            <a:spLocks noGrp="1" noChangeArrowheads="1"/>
          </p:cNvSpPr>
          <p:nvPr>
            <p:ph type="title"/>
          </p:nvPr>
        </p:nvSpPr>
        <p:spPr/>
        <p:txBody>
          <a:bodyPr/>
          <a:lstStyle/>
          <a:p>
            <a:r>
              <a:rPr lang="en-US"/>
              <a:t>General Principles in Programming Practice</a:t>
            </a:r>
          </a:p>
        </p:txBody>
      </p:sp>
      <p:sp>
        <p:nvSpPr>
          <p:cNvPr id="19459" name="Rectangle 6"/>
          <p:cNvSpPr>
            <a:spLocks noGrp="1" noChangeArrowheads="1"/>
          </p:cNvSpPr>
          <p:nvPr>
            <p:ph idx="1"/>
          </p:nvPr>
        </p:nvSpPr>
        <p:spPr/>
        <p:txBody>
          <a:bodyPr/>
          <a:lstStyle/>
          <a:p>
            <a:r>
              <a:rPr lang="en-US" dirty="0"/>
              <a:t>1. Try to re-use first</a:t>
            </a:r>
          </a:p>
          <a:p>
            <a:r>
              <a:rPr lang="en-US" dirty="0"/>
              <a:t>2. Enforce intentions</a:t>
            </a:r>
          </a:p>
          <a:p>
            <a:pPr lvl="1"/>
            <a:r>
              <a:rPr lang="en-US" dirty="0"/>
              <a:t>If your code is intended to be used in particular ways only, write it so that the code cannot be used in any other way.</a:t>
            </a:r>
          </a:p>
          <a:p>
            <a:pPr lvl="1"/>
            <a:r>
              <a:rPr lang="en-US" dirty="0"/>
              <a:t>If a member is not intended to be used by other functions, enforce this by making it private or protected etc.</a:t>
            </a:r>
          </a:p>
          <a:p>
            <a:pPr lvl="1"/>
            <a:r>
              <a:rPr lang="en-US" dirty="0"/>
              <a:t>Use qualifiers such as final and abstract etc. to enforce intentions</a:t>
            </a:r>
          </a:p>
        </p:txBody>
      </p:sp>
      <p:sp>
        <p:nvSpPr>
          <p:cNvPr id="6" name="Date Placeholder 5"/>
          <p:cNvSpPr>
            <a:spLocks noGrp="1"/>
          </p:cNvSpPr>
          <p:nvPr>
            <p:ph type="dt" sz="half" idx="10"/>
          </p:nvPr>
        </p:nvSpPr>
        <p:spPr/>
        <p:txBody>
          <a:bodyPr/>
          <a:lstStyle/>
          <a:p>
            <a:fld id="{8378FEA5-801C-4DCA-83B6-DB334B5BA3F0}"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7</a:t>
            </a:fld>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5"/>
          <p:cNvSpPr>
            <a:spLocks noGrp="1" noChangeArrowheads="1"/>
          </p:cNvSpPr>
          <p:nvPr>
            <p:ph type="title"/>
          </p:nvPr>
        </p:nvSpPr>
        <p:spPr/>
        <p:txBody>
          <a:bodyPr/>
          <a:lstStyle/>
          <a:p>
            <a:r>
              <a:rPr lang="en-US"/>
              <a:t>“Think Globally, Program Locally”</a:t>
            </a:r>
            <a:endParaRPr lang="en-US" dirty="0"/>
          </a:p>
        </p:txBody>
      </p:sp>
      <p:sp>
        <p:nvSpPr>
          <p:cNvPr id="21507" name="Rectangle 6"/>
          <p:cNvSpPr>
            <a:spLocks noGrp="1" noChangeArrowheads="1"/>
          </p:cNvSpPr>
          <p:nvPr>
            <p:ph idx="1"/>
          </p:nvPr>
        </p:nvSpPr>
        <p:spPr/>
        <p:txBody>
          <a:bodyPr/>
          <a:lstStyle/>
          <a:p>
            <a:r>
              <a:rPr lang="en-US" dirty="0"/>
              <a:t>Make all members</a:t>
            </a:r>
          </a:p>
          <a:p>
            <a:pPr lvl="1"/>
            <a:r>
              <a:rPr lang="en-US" dirty="0"/>
              <a:t>as local as possible</a:t>
            </a:r>
          </a:p>
          <a:p>
            <a:pPr lvl="1"/>
            <a:r>
              <a:rPr lang="en-US" dirty="0"/>
              <a:t>as invisible as possible</a:t>
            </a:r>
          </a:p>
          <a:p>
            <a:pPr lvl="2"/>
            <a:r>
              <a:rPr lang="en-US" dirty="0"/>
              <a:t>attributes private:</a:t>
            </a:r>
          </a:p>
          <a:p>
            <a:pPr lvl="3"/>
            <a:r>
              <a:rPr lang="en-US" dirty="0"/>
              <a:t>access them through more public accessor functions if required.  </a:t>
            </a:r>
          </a:p>
          <a:p>
            <a:pPr lvl="3"/>
            <a:r>
              <a:rPr lang="en-US" dirty="0"/>
              <a:t>(Making attributes protected gives objects of subclasses access to members of their base classes -- not usually what you want)</a:t>
            </a:r>
          </a:p>
        </p:txBody>
      </p:sp>
      <p:sp>
        <p:nvSpPr>
          <p:cNvPr id="6" name="Date Placeholder 5"/>
          <p:cNvSpPr>
            <a:spLocks noGrp="1"/>
          </p:cNvSpPr>
          <p:nvPr>
            <p:ph type="dt" sz="half" idx="10"/>
          </p:nvPr>
        </p:nvSpPr>
        <p:spPr/>
        <p:txBody>
          <a:bodyPr/>
          <a:lstStyle/>
          <a:p>
            <a:fld id="{674B3DC1-4A8C-4CB8-9B48-DC1150CEB639}"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8</a:t>
            </a:fld>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7"/>
          <p:cNvSpPr>
            <a:spLocks noGrp="1" noChangeArrowheads="1"/>
          </p:cNvSpPr>
          <p:nvPr>
            <p:ph type="title"/>
          </p:nvPr>
        </p:nvSpPr>
        <p:spPr/>
        <p:txBody>
          <a:bodyPr/>
          <a:lstStyle/>
          <a:p>
            <a:r>
              <a:rPr lang="en-US"/>
              <a:t>Exceptions Handling</a:t>
            </a:r>
          </a:p>
        </p:txBody>
      </p:sp>
      <p:sp>
        <p:nvSpPr>
          <p:cNvPr id="599048" name="Rectangle 8"/>
          <p:cNvSpPr>
            <a:spLocks noGrp="1" noChangeArrowheads="1"/>
          </p:cNvSpPr>
          <p:nvPr>
            <p:ph idx="1"/>
          </p:nvPr>
        </p:nvSpPr>
        <p:spPr/>
        <p:txBody>
          <a:bodyPr/>
          <a:lstStyle/>
          <a:p>
            <a:endParaRPr lang="en-US" dirty="0"/>
          </a:p>
          <a:p>
            <a:r>
              <a:rPr lang="en-US" dirty="0"/>
              <a:t>Catch only those exceptions that you know how to handle </a:t>
            </a:r>
          </a:p>
          <a:p>
            <a:r>
              <a:rPr lang="en-US" dirty="0"/>
              <a:t>Be reasonable about exceptions callers must handle</a:t>
            </a:r>
          </a:p>
          <a:p>
            <a:r>
              <a:rPr lang="en-US" dirty="0"/>
              <a:t>Don’t substitute the use of exceptions for issue that should be the subject of testing</a:t>
            </a:r>
          </a:p>
        </p:txBody>
      </p:sp>
      <p:sp>
        <p:nvSpPr>
          <p:cNvPr id="6" name="Date Placeholder 5"/>
          <p:cNvSpPr>
            <a:spLocks noGrp="1"/>
          </p:cNvSpPr>
          <p:nvPr>
            <p:ph type="dt" sz="half" idx="10"/>
          </p:nvPr>
        </p:nvSpPr>
        <p:spPr/>
        <p:txBody>
          <a:bodyPr/>
          <a:lstStyle/>
          <a:p>
            <a:fld id="{2EF1A5E2-EB71-488C-818A-C87A5F4AC6AA}"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9</a:t>
            </a:fld>
            <a:endParaRPr lang="en-AU"/>
          </a:p>
        </p:txBody>
      </p:sp>
      <p:sp>
        <p:nvSpPr>
          <p:cNvPr id="2" name="Rectangle 1"/>
          <p:cNvSpPr/>
          <p:nvPr/>
        </p:nvSpPr>
        <p:spPr>
          <a:xfrm>
            <a:off x="5230284" y="1020180"/>
            <a:ext cx="5437717" cy="1015663"/>
          </a:xfrm>
          <a:prstGeom prst="rect">
            <a:avLst/>
          </a:prstGeom>
        </p:spPr>
        <p:txBody>
          <a:bodyPr wrap="square">
            <a:spAutoFit/>
          </a:bodyPr>
          <a:lstStyle/>
          <a:p>
            <a:r>
              <a:rPr lang="en-US" sz="2000" i="1" dirty="0"/>
              <a:t>“If you must choice between throwing an exception and continuing the computation, continue if you can” (Cay </a:t>
            </a:r>
            <a:r>
              <a:rPr lang="en-US" sz="2000" i="1" dirty="0" err="1"/>
              <a:t>Horstmann</a:t>
            </a:r>
            <a:r>
              <a:rPr lang="en-US" sz="2000" i="1"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5"/>
          <p:cNvSpPr>
            <a:spLocks noGrp="1" noChangeArrowheads="1"/>
          </p:cNvSpPr>
          <p:nvPr>
            <p:ph type="title"/>
          </p:nvPr>
        </p:nvSpPr>
        <p:spPr/>
        <p:txBody>
          <a:bodyPr/>
          <a:lstStyle/>
          <a:p>
            <a:r>
              <a:rPr lang="en-US"/>
              <a:t>Naming Conventions</a:t>
            </a:r>
          </a:p>
        </p:txBody>
      </p:sp>
      <p:sp>
        <p:nvSpPr>
          <p:cNvPr id="605190" name="Rectangle 6"/>
          <p:cNvSpPr>
            <a:spLocks noGrp="1" noChangeArrowheads="1"/>
          </p:cNvSpPr>
          <p:nvPr>
            <p:ph idx="1"/>
          </p:nvPr>
        </p:nvSpPr>
        <p:spPr/>
        <p:txBody>
          <a:bodyPr>
            <a:normAutofit fontScale="85000" lnSpcReduction="20000"/>
          </a:bodyPr>
          <a:lstStyle/>
          <a:p>
            <a:r>
              <a:rPr lang="en-US" dirty="0"/>
              <a:t>Use concatenated words </a:t>
            </a:r>
          </a:p>
          <a:p>
            <a:pPr lvl="2"/>
            <a:r>
              <a:rPr lang="en-US" dirty="0"/>
              <a:t>e.g., </a:t>
            </a:r>
            <a:r>
              <a:rPr lang="en-US" dirty="0" err="1"/>
              <a:t>cylinderLength</a:t>
            </a:r>
            <a:endParaRPr lang="en-US" dirty="0"/>
          </a:p>
          <a:p>
            <a:r>
              <a:rPr lang="en-US" dirty="0"/>
              <a:t>Begin class names with capitals</a:t>
            </a:r>
          </a:p>
          <a:p>
            <a:r>
              <a:rPr lang="en-US" dirty="0"/>
              <a:t>Variable names begin with lowercase </a:t>
            </a:r>
          </a:p>
          <a:p>
            <a:r>
              <a:rPr lang="en-US" dirty="0"/>
              <a:t>Constants with capitals </a:t>
            </a:r>
          </a:p>
          <a:p>
            <a:pPr lvl="2"/>
            <a:r>
              <a:rPr lang="en-US" dirty="0"/>
              <a:t>as in MAX_N or use static final</a:t>
            </a:r>
          </a:p>
          <a:p>
            <a:r>
              <a:rPr lang="en-US" dirty="0"/>
              <a:t>Data members of classes with an underscore </a:t>
            </a:r>
          </a:p>
          <a:p>
            <a:pPr lvl="2"/>
            <a:r>
              <a:rPr lang="en-US" dirty="0"/>
              <a:t>as in _</a:t>
            </a:r>
            <a:r>
              <a:rPr lang="en-US" dirty="0" err="1"/>
              <a:t>timeOfDay</a:t>
            </a:r>
            <a:r>
              <a:rPr lang="en-US" dirty="0"/>
              <a:t> </a:t>
            </a:r>
          </a:p>
          <a:p>
            <a:r>
              <a:rPr lang="en-US" dirty="0"/>
              <a:t>Use get…, set…., and is… for accessor methods 	</a:t>
            </a:r>
          </a:p>
          <a:p>
            <a:r>
              <a:rPr lang="en-US" dirty="0"/>
              <a:t>Additional getters and setters of collections</a:t>
            </a:r>
          </a:p>
          <a:p>
            <a:r>
              <a:rPr lang="en-US" dirty="0"/>
              <a:t>And/or distinguish between instance variables, local variables and parameters</a:t>
            </a:r>
          </a:p>
        </p:txBody>
      </p:sp>
      <p:sp>
        <p:nvSpPr>
          <p:cNvPr id="6" name="Date Placeholder 5"/>
          <p:cNvSpPr>
            <a:spLocks noGrp="1"/>
          </p:cNvSpPr>
          <p:nvPr>
            <p:ph type="dt" sz="half" idx="10"/>
          </p:nvPr>
        </p:nvSpPr>
        <p:spPr/>
        <p:txBody>
          <a:bodyPr/>
          <a:lstStyle/>
          <a:p>
            <a:fld id="{EAFC9A63-C123-4424-A354-89D855219E74}"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10</a:t>
            </a:fld>
            <a:endParaRPr lang="en-A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7"/>
          <p:cNvSpPr>
            <a:spLocks noGrp="1" noChangeArrowheads="1"/>
          </p:cNvSpPr>
          <p:nvPr>
            <p:ph type="title"/>
          </p:nvPr>
        </p:nvSpPr>
        <p:spPr/>
        <p:txBody>
          <a:bodyPr/>
          <a:lstStyle/>
          <a:p>
            <a:r>
              <a:rPr lang="en-US"/>
              <a:t>Documenting Methods</a:t>
            </a:r>
          </a:p>
        </p:txBody>
      </p:sp>
      <p:sp>
        <p:nvSpPr>
          <p:cNvPr id="608264" name="Rectangle 8"/>
          <p:cNvSpPr>
            <a:spLocks noGrp="1" noChangeArrowheads="1"/>
          </p:cNvSpPr>
          <p:nvPr>
            <p:ph idx="1"/>
          </p:nvPr>
        </p:nvSpPr>
        <p:spPr/>
        <p:txBody>
          <a:bodyPr>
            <a:normAutofit fontScale="70000" lnSpcReduction="20000"/>
          </a:bodyPr>
          <a:lstStyle/>
          <a:p>
            <a:r>
              <a:rPr lang="en-US" dirty="0"/>
              <a:t>what the method does</a:t>
            </a:r>
          </a:p>
          <a:p>
            <a:r>
              <a:rPr lang="en-US" dirty="0"/>
              <a:t>why it does so </a:t>
            </a:r>
          </a:p>
          <a:p>
            <a:r>
              <a:rPr lang="en-US" dirty="0"/>
              <a:t>what parameters it must be passed (use @</a:t>
            </a:r>
            <a:r>
              <a:rPr lang="en-US" dirty="0" err="1"/>
              <a:t>param</a:t>
            </a:r>
            <a:r>
              <a:rPr lang="en-US" dirty="0"/>
              <a:t> tag)</a:t>
            </a:r>
          </a:p>
          <a:p>
            <a:r>
              <a:rPr lang="en-US" dirty="0"/>
              <a:t>exceptions it throws (use @exception tag)</a:t>
            </a:r>
          </a:p>
          <a:p>
            <a:r>
              <a:rPr lang="en-US" dirty="0"/>
              <a:t>reason for choice of visibility </a:t>
            </a:r>
          </a:p>
          <a:p>
            <a:r>
              <a:rPr lang="en-US" dirty="0"/>
              <a:t>known bugs</a:t>
            </a:r>
          </a:p>
          <a:p>
            <a:r>
              <a:rPr lang="en-US" dirty="0"/>
              <a:t>test description, describing whether the method has been tested, and the location of its test script</a:t>
            </a:r>
          </a:p>
          <a:p>
            <a:r>
              <a:rPr lang="en-US" dirty="0"/>
              <a:t>history of changes if you are not using a sub-version system</a:t>
            </a:r>
          </a:p>
          <a:p>
            <a:r>
              <a:rPr lang="en-US" dirty="0"/>
              <a:t>example of how the method works</a:t>
            </a:r>
          </a:p>
          <a:p>
            <a:r>
              <a:rPr lang="en-US" dirty="0"/>
              <a:t>pre- and post-conditions </a:t>
            </a:r>
          </a:p>
          <a:p>
            <a:r>
              <a:rPr lang="en-US" dirty="0"/>
              <a:t>special documentation on threaded and synchronized methods</a:t>
            </a:r>
          </a:p>
        </p:txBody>
      </p:sp>
      <p:sp>
        <p:nvSpPr>
          <p:cNvPr id="6" name="Date Placeholder 5"/>
          <p:cNvSpPr>
            <a:spLocks noGrp="1"/>
          </p:cNvSpPr>
          <p:nvPr>
            <p:ph type="dt" sz="half" idx="10"/>
          </p:nvPr>
        </p:nvSpPr>
        <p:spPr/>
        <p:txBody>
          <a:bodyPr/>
          <a:lstStyle/>
          <a:p>
            <a:fld id="{217C6F69-EC7D-49DB-A295-66AD3B13022F}"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11</a:t>
            </a:fld>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84A4E50-1F10-4BD5-9720-4056E8CC58B9}"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12</a:t>
            </a:fld>
            <a:endParaRPr lang="en-AU"/>
          </a:p>
        </p:txBody>
      </p:sp>
      <p:sp>
        <p:nvSpPr>
          <p:cNvPr id="4" name="TextBox 3"/>
          <p:cNvSpPr txBox="1"/>
          <p:nvPr/>
        </p:nvSpPr>
        <p:spPr>
          <a:xfrm>
            <a:off x="1524000" y="461665"/>
            <a:ext cx="8363272" cy="4524315"/>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r>
              <a:rPr lang="en-US" dirty="0"/>
              <a:t>/* Class Name           : </a:t>
            </a:r>
            <a:r>
              <a:rPr lang="en-US" dirty="0" err="1"/>
              <a:t>EncounterCast</a:t>
            </a:r>
            <a:endParaRPr lang="en-US" dirty="0"/>
          </a:p>
          <a:p>
            <a:r>
              <a:rPr lang="en-US" dirty="0"/>
              <a:t>* Version information   : Version 0.1</a:t>
            </a:r>
          </a:p>
          <a:p>
            <a:r>
              <a:rPr lang="en-US" dirty="0"/>
              <a:t>* Date                  : 6/19/1999</a:t>
            </a:r>
          </a:p>
          <a:p>
            <a:r>
              <a:rPr lang="en-US" dirty="0"/>
              <a:t>* Copyright Notice      : see below</a:t>
            </a:r>
          </a:p>
          <a:p>
            <a:r>
              <a:rPr lang="en-US" dirty="0"/>
              <a:t>* Edit history:</a:t>
            </a:r>
          </a:p>
          <a:p>
            <a:r>
              <a:rPr lang="en-US" dirty="0"/>
              <a:t>*   11 Feb 2000     Tom </a:t>
            </a:r>
            <a:r>
              <a:rPr lang="en-US" dirty="0" err="1"/>
              <a:t>VanCourt</a:t>
            </a:r>
            <a:r>
              <a:rPr lang="en-US" dirty="0"/>
              <a:t>    Used simplified test interface.</a:t>
            </a:r>
          </a:p>
          <a:p>
            <a:r>
              <a:rPr lang="en-US" dirty="0"/>
              <a:t>*    8 Feb 2000     Tom </a:t>
            </a:r>
            <a:r>
              <a:rPr lang="en-US" dirty="0" err="1"/>
              <a:t>VanCourt</a:t>
            </a:r>
            <a:r>
              <a:rPr lang="en-US" dirty="0"/>
              <a:t>    Minor cleanup.</a:t>
            </a:r>
          </a:p>
          <a:p>
            <a:r>
              <a:rPr lang="en-US" dirty="0"/>
              <a:t>*   08 Jan 2000     Tom </a:t>
            </a:r>
            <a:r>
              <a:rPr lang="en-US" dirty="0" err="1"/>
              <a:t>VanCourt</a:t>
            </a:r>
            <a:r>
              <a:rPr lang="en-US" dirty="0"/>
              <a:t>    Change to conform to coding standards</a:t>
            </a:r>
          </a:p>
          <a:p>
            <a:r>
              <a:rPr lang="en-US" dirty="0"/>
              <a:t>*/</a:t>
            </a:r>
          </a:p>
          <a:p>
            <a:endParaRPr lang="en-US" dirty="0"/>
          </a:p>
          <a:p>
            <a:r>
              <a:rPr lang="en-US" dirty="0"/>
              <a:t>/*</a:t>
            </a:r>
          </a:p>
          <a:p>
            <a:r>
              <a:rPr lang="en-US" dirty="0"/>
              <a:t>    Copyright (C) 2000 Eric J. </a:t>
            </a:r>
            <a:r>
              <a:rPr lang="en-US" dirty="0" err="1"/>
              <a:t>Braude</a:t>
            </a:r>
            <a:r>
              <a:rPr lang="en-US" dirty="0"/>
              <a:t> and Thomas D. Van Court. </a:t>
            </a:r>
          </a:p>
          <a:p>
            <a:r>
              <a:rPr lang="en-US" dirty="0"/>
              <a:t> </a:t>
            </a:r>
          </a:p>
          <a:p>
            <a:r>
              <a:rPr lang="en-US" dirty="0"/>
              <a:t>    This program is the implementation of the case study specified in </a:t>
            </a:r>
          </a:p>
          <a:p>
            <a:r>
              <a:rPr lang="en-US" dirty="0"/>
              <a:t>    "Software Engineering: an Object-Oriented Perspective," Wiley 2001,   </a:t>
            </a:r>
          </a:p>
          <a:p>
            <a:r>
              <a:rPr lang="en-US" dirty="0"/>
              <a:t>    by Eric J. </a:t>
            </a:r>
            <a:r>
              <a:rPr lang="en-US" dirty="0" err="1"/>
              <a:t>Braude</a:t>
            </a:r>
            <a:r>
              <a:rPr lang="en-US" dirty="0"/>
              <a:t>.</a:t>
            </a:r>
          </a:p>
        </p:txBody>
      </p:sp>
      <p:sp>
        <p:nvSpPr>
          <p:cNvPr id="10" name="TextBox 9"/>
          <p:cNvSpPr txBox="1"/>
          <p:nvPr/>
        </p:nvSpPr>
        <p:spPr>
          <a:xfrm>
            <a:off x="2567609" y="1824258"/>
            <a:ext cx="7886817" cy="5078313"/>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r>
              <a:rPr lang="en-US" dirty="0"/>
              <a:t>/** Facade class/object for the </a:t>
            </a:r>
            <a:r>
              <a:rPr lang="en-US" dirty="0" err="1"/>
              <a:t>EncounterCharacters</a:t>
            </a:r>
            <a:r>
              <a:rPr lang="en-US" dirty="0"/>
              <a:t> package. Used to </a:t>
            </a:r>
          </a:p>
          <a:p>
            <a:r>
              <a:rPr lang="en-US" dirty="0"/>
              <a:t>* reference all characters of the Encounter game.</a:t>
            </a:r>
          </a:p>
          <a:p>
            <a:r>
              <a:rPr lang="en-US" dirty="0"/>
              <a:t>* &lt;p&gt; Design: SDD 3.1 Module decomposition</a:t>
            </a:r>
          </a:p>
          <a:p>
            <a:r>
              <a:rPr lang="en-US" dirty="0"/>
              <a:t>* &lt;</a:t>
            </a:r>
            <a:r>
              <a:rPr lang="en-US" dirty="0" err="1"/>
              <a:t>br</a:t>
            </a:r>
            <a:r>
              <a:rPr lang="en-US" dirty="0"/>
              <a:t>&gt; SDD 5.1.2 Interface to the </a:t>
            </a:r>
            <a:r>
              <a:rPr lang="en-US" dirty="0" err="1"/>
              <a:t>EncounterCharacters</a:t>
            </a:r>
            <a:r>
              <a:rPr lang="en-US" dirty="0"/>
              <a:t> package</a:t>
            </a:r>
          </a:p>
          <a:p>
            <a:r>
              <a:rPr lang="en-US" dirty="0"/>
              <a:t>*</a:t>
            </a:r>
          </a:p>
          <a:p>
            <a:r>
              <a:rPr lang="en-US" dirty="0"/>
              <a:t>* &lt;p&gt;Design issues:&lt;</a:t>
            </a:r>
            <a:r>
              <a:rPr lang="en-US" dirty="0" err="1"/>
              <a:t>ul</a:t>
            </a:r>
            <a:r>
              <a:rPr lang="en-US" dirty="0"/>
              <a:t>&gt;</a:t>
            </a:r>
          </a:p>
          <a:p>
            <a:r>
              <a:rPr lang="en-US" dirty="0"/>
              <a:t>* &lt;li&gt; SDD 5.1.2.4 method </a:t>
            </a:r>
            <a:r>
              <a:rPr lang="en-US" dirty="0" err="1"/>
              <a:t>engagePlayerWithForeignCharacter</a:t>
            </a:r>
            <a:r>
              <a:rPr lang="en-US" dirty="0"/>
              <a:t> was</a:t>
            </a:r>
          </a:p>
          <a:p>
            <a:r>
              <a:rPr lang="en-US" dirty="0"/>
              <a:t>*   not implemented, since engagements are handled more directly</a:t>
            </a:r>
          </a:p>
          <a:p>
            <a:r>
              <a:rPr lang="en-US" dirty="0"/>
              <a:t>*   from the Engaging state object.</a:t>
            </a:r>
          </a:p>
          <a:p>
            <a:r>
              <a:rPr lang="en-US" dirty="0"/>
              <a:t>* &lt;/</a:t>
            </a:r>
            <a:r>
              <a:rPr lang="en-US" dirty="0" err="1"/>
              <a:t>ul</a:t>
            </a:r>
            <a:r>
              <a:rPr lang="en-US" dirty="0"/>
              <a:t>&gt;</a:t>
            </a:r>
          </a:p>
          <a:p>
            <a:r>
              <a:rPr lang="en-US" dirty="0"/>
              <a:t>*</a:t>
            </a:r>
          </a:p>
          <a:p>
            <a:r>
              <a:rPr lang="en-US" dirty="0"/>
              <a:t>* @author   Dr. Eric </a:t>
            </a:r>
            <a:r>
              <a:rPr lang="en-US" dirty="0" err="1"/>
              <a:t>Braude</a:t>
            </a:r>
            <a:endParaRPr lang="en-US" dirty="0"/>
          </a:p>
          <a:p>
            <a:r>
              <a:rPr lang="en-US" dirty="0"/>
              <a:t>* @version  0.1</a:t>
            </a:r>
          </a:p>
          <a:p>
            <a:r>
              <a:rPr lang="en-US" dirty="0"/>
              <a:t>*/</a:t>
            </a:r>
          </a:p>
          <a:p>
            <a:r>
              <a:rPr lang="en-US" dirty="0"/>
              <a:t>public class </a:t>
            </a:r>
            <a:r>
              <a:rPr lang="en-US" dirty="0" err="1"/>
              <a:t>EncounterCast</a:t>
            </a:r>
            <a:r>
              <a:rPr lang="en-US" dirty="0"/>
              <a:t> </a:t>
            </a:r>
          </a:p>
          <a:p>
            <a:r>
              <a:rPr lang="en-US" dirty="0"/>
              <a:t>{</a:t>
            </a:r>
          </a:p>
          <a:p>
            <a:r>
              <a:rPr lang="en-US" dirty="0"/>
              <a:t>    /** Name for human player */</a:t>
            </a:r>
          </a:p>
          <a:p>
            <a:r>
              <a:rPr lang="en-US" dirty="0"/>
              <a:t>    private static final String MAIN_PLAYER_NAME = "Elena";</a:t>
            </a:r>
          </a:p>
        </p:txBody>
      </p:sp>
      <p:sp>
        <p:nvSpPr>
          <p:cNvPr id="11" name="TextBox 10"/>
          <p:cNvSpPr txBox="1"/>
          <p:nvPr/>
        </p:nvSpPr>
        <p:spPr>
          <a:xfrm>
            <a:off x="3179168" y="4317248"/>
            <a:ext cx="7488832" cy="2031325"/>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r>
              <a:rPr lang="en-US" dirty="0"/>
              <a:t> /** Gets </a:t>
            </a:r>
            <a:r>
              <a:rPr lang="en-US" dirty="0" err="1"/>
              <a:t>encounterCast</a:t>
            </a:r>
            <a:r>
              <a:rPr lang="en-US" dirty="0"/>
              <a:t>, the one and only instance of </a:t>
            </a:r>
            <a:r>
              <a:rPr lang="en-US" dirty="0" err="1"/>
              <a:t>EncounterCast</a:t>
            </a:r>
            <a:r>
              <a:rPr lang="en-US" dirty="0"/>
              <a:t>.</a:t>
            </a:r>
          </a:p>
          <a:p>
            <a:r>
              <a:rPr lang="en-US" dirty="0"/>
              <a:t>    * &lt;p&gt; Requirement: SDD 5.1.2</a:t>
            </a:r>
          </a:p>
          <a:p>
            <a:r>
              <a:rPr lang="en-US" dirty="0"/>
              <a:t>    *</a:t>
            </a:r>
          </a:p>
          <a:p>
            <a:r>
              <a:rPr lang="en-US" dirty="0"/>
              <a:t>    * @return       The </a:t>
            </a:r>
            <a:r>
              <a:rPr lang="en-US" dirty="0" err="1"/>
              <a:t>EncounterCast</a:t>
            </a:r>
            <a:r>
              <a:rPr lang="en-US" dirty="0"/>
              <a:t> singleton.</a:t>
            </a:r>
          </a:p>
          <a:p>
            <a:r>
              <a:rPr lang="en-US" dirty="0"/>
              <a:t>    */</a:t>
            </a:r>
          </a:p>
          <a:p>
            <a:r>
              <a:rPr lang="en-US" dirty="0"/>
              <a:t>    public static </a:t>
            </a:r>
            <a:r>
              <a:rPr lang="en-US" dirty="0" err="1"/>
              <a:t>EncounterCast</a:t>
            </a:r>
            <a:r>
              <a:rPr lang="en-US" dirty="0"/>
              <a:t> </a:t>
            </a:r>
            <a:r>
              <a:rPr lang="en-US" dirty="0" err="1"/>
              <a:t>getEncounterCast</a:t>
            </a:r>
            <a:r>
              <a:rPr lang="en-US" dirty="0"/>
              <a:t>()</a:t>
            </a:r>
          </a:p>
          <a:p>
            <a:r>
              <a:rPr lang="en-US" dirty="0"/>
              <a:t>        { return </a:t>
            </a:r>
            <a:r>
              <a:rPr lang="en-US" dirty="0" err="1"/>
              <a:t>encounterCastS</a:t>
            </a:r>
            <a:r>
              <a:rPr lang="en-US" dirty="0"/>
              <a:t>; }</a:t>
            </a:r>
          </a:p>
        </p:txBody>
      </p:sp>
    </p:spTree>
    <p:extLst>
      <p:ext uri="{BB962C8B-B14F-4D97-AF65-F5344CB8AC3E}">
        <p14:creationId xmlns:p14="http://schemas.microsoft.com/office/powerpoint/2010/main" val="91006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5"/>
          <p:cNvSpPr>
            <a:spLocks noGrp="1" noChangeArrowheads="1"/>
          </p:cNvSpPr>
          <p:nvPr>
            <p:ph type="title"/>
          </p:nvPr>
        </p:nvSpPr>
        <p:spPr/>
        <p:txBody>
          <a:bodyPr/>
          <a:lstStyle/>
          <a:p>
            <a:r>
              <a:rPr lang="en-US"/>
              <a:t>Documenting Attributes</a:t>
            </a:r>
          </a:p>
        </p:txBody>
      </p:sp>
      <p:sp>
        <p:nvSpPr>
          <p:cNvPr id="610310" name="Rectangle 6"/>
          <p:cNvSpPr>
            <a:spLocks noGrp="1" noChangeArrowheads="1"/>
          </p:cNvSpPr>
          <p:nvPr>
            <p:ph idx="1"/>
          </p:nvPr>
        </p:nvSpPr>
        <p:spPr/>
        <p:txBody>
          <a:bodyPr/>
          <a:lstStyle/>
          <a:p>
            <a:r>
              <a:rPr lang="en-US"/>
              <a:t>Description -- what it's used for</a:t>
            </a:r>
          </a:p>
          <a:p>
            <a:r>
              <a:rPr lang="en-US"/>
              <a:t>All applicable invariants </a:t>
            </a:r>
          </a:p>
          <a:p>
            <a:pPr lvl="1"/>
            <a:r>
              <a:rPr lang="en-US"/>
              <a:t>quantitative facts about the attribute, </a:t>
            </a:r>
          </a:p>
          <a:p>
            <a:pPr lvl="2"/>
            <a:r>
              <a:rPr lang="en-US"/>
              <a:t>such as "1 &lt; _age &lt; 130"  </a:t>
            </a:r>
          </a:p>
          <a:p>
            <a:pPr lvl="2"/>
            <a:r>
              <a:rPr lang="en-US"/>
              <a:t>or " 36 &lt; _length * _width &lt; 193".</a:t>
            </a:r>
          </a:p>
        </p:txBody>
      </p:sp>
      <p:sp>
        <p:nvSpPr>
          <p:cNvPr id="6" name="Date Placeholder 5"/>
          <p:cNvSpPr>
            <a:spLocks noGrp="1"/>
          </p:cNvSpPr>
          <p:nvPr>
            <p:ph type="dt" sz="half" idx="10"/>
          </p:nvPr>
        </p:nvSpPr>
        <p:spPr/>
        <p:txBody>
          <a:bodyPr/>
          <a:lstStyle/>
          <a:p>
            <a:fld id="{DAB47079-70AF-4F0F-9628-9E8AE32DFE12}"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13</a:t>
            </a:fld>
            <a:endParaRPr lang="en-A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title"/>
          </p:nvPr>
        </p:nvSpPr>
        <p:spPr/>
        <p:txBody>
          <a:bodyPr/>
          <a:lstStyle/>
          <a:p>
            <a:r>
              <a:rPr lang="en-US"/>
              <a:t>Constants</a:t>
            </a:r>
          </a:p>
        </p:txBody>
      </p:sp>
      <p:sp>
        <p:nvSpPr>
          <p:cNvPr id="31747" name="Rectangle 10"/>
          <p:cNvSpPr>
            <a:spLocks noGrp="1" noChangeArrowheads="1"/>
          </p:cNvSpPr>
          <p:nvPr>
            <p:ph idx="1"/>
          </p:nvPr>
        </p:nvSpPr>
        <p:spPr/>
        <p:txBody>
          <a:bodyPr>
            <a:normAutofit/>
          </a:bodyPr>
          <a:lstStyle/>
          <a:p>
            <a:r>
              <a:rPr lang="en-US" dirty="0"/>
              <a:t>Before designating a final variable, be sure that it is, indeed, final.  You’re going to want to change "final" quantities in most cases.  Consider using method instead.</a:t>
            </a:r>
          </a:p>
          <a:p>
            <a:r>
              <a:rPr lang="en-AU" dirty="0"/>
              <a:t>Ex:</a:t>
            </a:r>
          </a:p>
          <a:p>
            <a:pPr lvl="1"/>
            <a:r>
              <a:rPr lang="en-US" dirty="0"/>
              <a:t>instead of ...</a:t>
            </a:r>
          </a:p>
          <a:p>
            <a:pPr lvl="1"/>
            <a:r>
              <a:rPr lang="en-US" dirty="0"/>
              <a:t>	protected static final MAX_CHARS_IN_NAME;</a:t>
            </a:r>
          </a:p>
          <a:p>
            <a:pPr lvl="1"/>
            <a:r>
              <a:rPr lang="en-US" dirty="0"/>
              <a:t>consider using ...</a:t>
            </a:r>
          </a:p>
          <a:p>
            <a:pPr lvl="1"/>
            <a:r>
              <a:rPr lang="en-US" dirty="0"/>
              <a:t>	protected final static int </a:t>
            </a:r>
            <a:r>
              <a:rPr lang="en-US" dirty="0" err="1"/>
              <a:t>getMaxCharsInName</a:t>
            </a:r>
            <a:r>
              <a:rPr lang="en-US" dirty="0"/>
              <a:t>() { return 20; }</a:t>
            </a:r>
            <a:endParaRPr lang="en-AU" dirty="0"/>
          </a:p>
        </p:txBody>
      </p:sp>
      <p:sp>
        <p:nvSpPr>
          <p:cNvPr id="6" name="Date Placeholder 5"/>
          <p:cNvSpPr>
            <a:spLocks noGrp="1"/>
          </p:cNvSpPr>
          <p:nvPr>
            <p:ph type="dt" sz="half" idx="10"/>
          </p:nvPr>
        </p:nvSpPr>
        <p:spPr/>
        <p:txBody>
          <a:bodyPr/>
          <a:lstStyle/>
          <a:p>
            <a:fld id="{0929FDDF-0B3F-4C88-A9D0-F1255DFBCD28}"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14</a:t>
            </a:fld>
            <a:endParaRPr lang="en-A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8"/>
          <p:cNvSpPr>
            <a:spLocks noGrp="1" noChangeArrowheads="1"/>
          </p:cNvSpPr>
          <p:nvPr>
            <p:ph type="title"/>
          </p:nvPr>
        </p:nvSpPr>
        <p:spPr/>
        <p:txBody>
          <a:bodyPr/>
          <a:lstStyle/>
          <a:p>
            <a:r>
              <a:rPr lang="en-US"/>
              <a:t>Initializing Attributes</a:t>
            </a:r>
          </a:p>
        </p:txBody>
      </p:sp>
      <p:sp>
        <p:nvSpPr>
          <p:cNvPr id="32771" name="Rectangle 9"/>
          <p:cNvSpPr>
            <a:spLocks noGrp="1" noChangeArrowheads="1"/>
          </p:cNvSpPr>
          <p:nvPr>
            <p:ph idx="1"/>
          </p:nvPr>
        </p:nvSpPr>
        <p:spPr/>
        <p:txBody>
          <a:bodyPr>
            <a:normAutofit/>
          </a:bodyPr>
          <a:lstStyle/>
          <a:p>
            <a:r>
              <a:rPr lang="en-AU" dirty="0"/>
              <a:t>Attributes should be always be initialized, think of</a:t>
            </a:r>
          </a:p>
          <a:p>
            <a:pPr lvl="1"/>
            <a:r>
              <a:rPr lang="en-AU" dirty="0"/>
              <a:t>private float _balance = 0;</a:t>
            </a:r>
          </a:p>
          <a:p>
            <a:r>
              <a:rPr lang="en-AU" dirty="0"/>
              <a:t>Attribute may be an object of another class, as in</a:t>
            </a:r>
          </a:p>
          <a:p>
            <a:pPr lvl="1"/>
            <a:r>
              <a:rPr lang="en-AU" dirty="0"/>
              <a:t>private Customer _customer; </a:t>
            </a:r>
          </a:p>
          <a:p>
            <a:r>
              <a:rPr lang="en-AU" dirty="0"/>
              <a:t>Traditionally done using the constructor, as in </a:t>
            </a:r>
          </a:p>
          <a:p>
            <a:pPr lvl="1"/>
            <a:r>
              <a:rPr lang="en-AU" dirty="0"/>
              <a:t>private Customer _customer = new Customer( "Edward", "Jones" );</a:t>
            </a:r>
          </a:p>
          <a:p>
            <a:r>
              <a:rPr lang="en-AU" dirty="0"/>
              <a:t>Problem is maintainability.  When new attributes added to Customer, all have to be updated.  Also accessing persistent storage unnecessarily.</a:t>
            </a:r>
          </a:p>
        </p:txBody>
      </p:sp>
      <p:sp>
        <p:nvSpPr>
          <p:cNvPr id="6" name="Date Placeholder 5"/>
          <p:cNvSpPr>
            <a:spLocks noGrp="1"/>
          </p:cNvSpPr>
          <p:nvPr>
            <p:ph type="dt" sz="half" idx="10"/>
          </p:nvPr>
        </p:nvSpPr>
        <p:spPr/>
        <p:txBody>
          <a:bodyPr/>
          <a:lstStyle/>
          <a:p>
            <a:fld id="{4FE06600-B7B6-4C06-AF91-BB3E981FFBF5}"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15</a:t>
            </a:fld>
            <a:endParaRPr lang="en-A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C1FCF-BB2A-41DF-B17E-8191B37405CF}"/>
              </a:ext>
            </a:extLst>
          </p:cNvPr>
          <p:cNvSpPr>
            <a:spLocks noGrp="1"/>
          </p:cNvSpPr>
          <p:nvPr>
            <p:ph type="title"/>
          </p:nvPr>
        </p:nvSpPr>
        <p:spPr/>
        <p:txBody>
          <a:bodyPr/>
          <a:lstStyle/>
          <a:p>
            <a:r>
              <a:rPr lang="en-US"/>
              <a:t>Relevant books</a:t>
            </a:r>
          </a:p>
        </p:txBody>
      </p:sp>
      <p:pic>
        <p:nvPicPr>
          <p:cNvPr id="4" name="Picture 3">
            <a:extLst>
              <a:ext uri="{FF2B5EF4-FFF2-40B4-BE49-F238E27FC236}">
                <a16:creationId xmlns:a16="http://schemas.microsoft.com/office/drawing/2014/main" id="{1526123F-A585-4300-BAF5-0FC94CE0DE03}"/>
              </a:ext>
            </a:extLst>
          </p:cNvPr>
          <p:cNvPicPr>
            <a:picLocks noChangeAspect="1"/>
          </p:cNvPicPr>
          <p:nvPr/>
        </p:nvPicPr>
        <p:blipFill>
          <a:blip r:embed="rId2"/>
          <a:stretch>
            <a:fillRect/>
          </a:stretch>
        </p:blipFill>
        <p:spPr>
          <a:xfrm>
            <a:off x="2135560" y="1417639"/>
            <a:ext cx="3440702" cy="4373501"/>
          </a:xfrm>
          <a:prstGeom prst="rect">
            <a:avLst/>
          </a:prstGeom>
        </p:spPr>
      </p:pic>
      <p:pic>
        <p:nvPicPr>
          <p:cNvPr id="6" name="Picture 5">
            <a:extLst>
              <a:ext uri="{FF2B5EF4-FFF2-40B4-BE49-F238E27FC236}">
                <a16:creationId xmlns:a16="http://schemas.microsoft.com/office/drawing/2014/main" id="{A566258A-B71F-4C6A-8280-0466E6B0F51F}"/>
              </a:ext>
            </a:extLst>
          </p:cNvPr>
          <p:cNvPicPr>
            <a:picLocks noChangeAspect="1"/>
          </p:cNvPicPr>
          <p:nvPr/>
        </p:nvPicPr>
        <p:blipFill>
          <a:blip r:embed="rId3"/>
          <a:stretch>
            <a:fillRect/>
          </a:stretch>
        </p:blipFill>
        <p:spPr>
          <a:xfrm>
            <a:off x="4375649" y="1311443"/>
            <a:ext cx="3440702" cy="4373501"/>
          </a:xfrm>
          <a:prstGeom prst="rect">
            <a:avLst/>
          </a:prstGeom>
        </p:spPr>
      </p:pic>
      <p:sp>
        <p:nvSpPr>
          <p:cNvPr id="7" name="TextBox 6">
            <a:extLst>
              <a:ext uri="{FF2B5EF4-FFF2-40B4-BE49-F238E27FC236}">
                <a16:creationId xmlns:a16="http://schemas.microsoft.com/office/drawing/2014/main" id="{5024E86B-BF81-46CF-8863-23FB5E2FF84F}"/>
              </a:ext>
            </a:extLst>
          </p:cNvPr>
          <p:cNvSpPr txBox="1"/>
          <p:nvPr/>
        </p:nvSpPr>
        <p:spPr>
          <a:xfrm>
            <a:off x="4591674" y="5943395"/>
            <a:ext cx="2450611" cy="369332"/>
          </a:xfrm>
          <a:prstGeom prst="rect">
            <a:avLst/>
          </a:prstGeom>
          <a:noFill/>
        </p:spPr>
        <p:txBody>
          <a:bodyPr wrap="square" rtlCol="0">
            <a:spAutoFit/>
          </a:bodyPr>
          <a:lstStyle/>
          <a:p>
            <a:r>
              <a:rPr lang="en-US"/>
              <a:t>New edition</a:t>
            </a:r>
          </a:p>
        </p:txBody>
      </p:sp>
      <p:sp>
        <p:nvSpPr>
          <p:cNvPr id="3" name="Date Placeholder 2">
            <a:extLst>
              <a:ext uri="{FF2B5EF4-FFF2-40B4-BE49-F238E27FC236}">
                <a16:creationId xmlns:a16="http://schemas.microsoft.com/office/drawing/2014/main" id="{853699D2-4DFC-3124-3C15-0C6E3178C282}"/>
              </a:ext>
            </a:extLst>
          </p:cNvPr>
          <p:cNvSpPr>
            <a:spLocks noGrp="1"/>
          </p:cNvSpPr>
          <p:nvPr>
            <p:ph type="dt" sz="half" idx="10"/>
          </p:nvPr>
        </p:nvSpPr>
        <p:spPr/>
        <p:txBody>
          <a:bodyPr/>
          <a:lstStyle/>
          <a:p>
            <a:fld id="{5BAA0272-818E-4AC2-B2E6-3461ED76981A}" type="datetime1">
              <a:rPr lang="nb-NO" smtClean="0"/>
              <a:t>05.10.2026</a:t>
            </a:fld>
            <a:endParaRPr lang="en-US" dirty="0"/>
          </a:p>
        </p:txBody>
      </p:sp>
      <p:sp>
        <p:nvSpPr>
          <p:cNvPr id="8" name="Footer Placeholder 7">
            <a:extLst>
              <a:ext uri="{FF2B5EF4-FFF2-40B4-BE49-F238E27FC236}">
                <a16:creationId xmlns:a16="http://schemas.microsoft.com/office/drawing/2014/main" id="{31DFFDDE-4DB6-5C6C-C6A5-FFAFAE5B4D3D}"/>
              </a:ext>
            </a:extLst>
          </p:cNvPr>
          <p:cNvSpPr>
            <a:spLocks noGrp="1"/>
          </p:cNvSpPr>
          <p:nvPr>
            <p:ph type="ftr" sz="quarter" idx="11"/>
          </p:nvPr>
        </p:nvSpPr>
        <p:spPr/>
        <p:txBody>
          <a:bodyPr/>
          <a:lstStyle/>
          <a:p>
            <a:r>
              <a:rPr lang="en-US"/>
              <a:t>Chapter 7.3. More on Implementation</a:t>
            </a:r>
          </a:p>
        </p:txBody>
      </p:sp>
      <p:sp>
        <p:nvSpPr>
          <p:cNvPr id="9" name="Slide Number Placeholder 8">
            <a:extLst>
              <a:ext uri="{FF2B5EF4-FFF2-40B4-BE49-F238E27FC236}">
                <a16:creationId xmlns:a16="http://schemas.microsoft.com/office/drawing/2014/main" id="{54DAC674-661C-CC50-BEE6-DB8D1B9E5D9D}"/>
              </a:ext>
            </a:extLst>
          </p:cNvPr>
          <p:cNvSpPr>
            <a:spLocks noGrp="1"/>
          </p:cNvSpPr>
          <p:nvPr>
            <p:ph type="sldNum" sz="quarter" idx="12"/>
          </p:nvPr>
        </p:nvSpPr>
        <p:spPr/>
        <p:txBody>
          <a:bodyPr/>
          <a:lstStyle/>
          <a:p>
            <a:fld id="{EC33B370-F672-B743-B3AF-248A63C17270}" type="slidenum">
              <a:rPr lang="en-US" smtClean="0"/>
              <a:pPr/>
              <a:t>16</a:t>
            </a:fld>
            <a:endParaRPr lang="en-US"/>
          </a:p>
        </p:txBody>
      </p:sp>
    </p:spTree>
    <p:extLst>
      <p:ext uri="{BB962C8B-B14F-4D97-AF65-F5344CB8AC3E}">
        <p14:creationId xmlns:p14="http://schemas.microsoft.com/office/powerpoint/2010/main" val="657134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C22E-9013-4515-BC99-E51B25E47819}"/>
              </a:ext>
            </a:extLst>
          </p:cNvPr>
          <p:cNvSpPr>
            <a:spLocks noGrp="1"/>
          </p:cNvSpPr>
          <p:nvPr>
            <p:ph type="title"/>
          </p:nvPr>
        </p:nvSpPr>
        <p:spPr/>
        <p:txBody>
          <a:bodyPr/>
          <a:lstStyle/>
          <a:p>
            <a:r>
              <a:rPr lang="en-US"/>
              <a:t>Bad smells in code (code smells)</a:t>
            </a:r>
          </a:p>
        </p:txBody>
      </p:sp>
      <p:sp>
        <p:nvSpPr>
          <p:cNvPr id="3" name="Content Placeholder 2">
            <a:extLst>
              <a:ext uri="{FF2B5EF4-FFF2-40B4-BE49-F238E27FC236}">
                <a16:creationId xmlns:a16="http://schemas.microsoft.com/office/drawing/2014/main" id="{2DECF0B9-F1F2-4F0D-B7A9-82339089FA47}"/>
              </a:ext>
            </a:extLst>
          </p:cNvPr>
          <p:cNvSpPr>
            <a:spLocks noGrp="1"/>
          </p:cNvSpPr>
          <p:nvPr>
            <p:ph idx="1"/>
          </p:nvPr>
        </p:nvSpPr>
        <p:spPr/>
        <p:txBody>
          <a:bodyPr/>
          <a:lstStyle/>
          <a:p>
            <a:pPr>
              <a:lnSpc>
                <a:spcPct val="150000"/>
              </a:lnSpc>
            </a:pPr>
            <a:r>
              <a:rPr lang="en-US" dirty="0">
                <a:latin typeface="Arial" panose="020B0604020202020204" pitchFamily="34" charset="0"/>
                <a:cs typeface="Arial" panose="020B0604020202020204" pitchFamily="34" charset="0"/>
              </a:rPr>
              <a:t>Code smells are any violation of fundamental design principles that decrease the overall quality of the code. </a:t>
            </a:r>
          </a:p>
          <a:p>
            <a:pPr>
              <a:lnSpc>
                <a:spcPct val="150000"/>
              </a:lnSpc>
            </a:pPr>
            <a:r>
              <a:rPr lang="en-US" dirty="0">
                <a:latin typeface="Arial" panose="020B0604020202020204" pitchFamily="34" charset="0"/>
                <a:cs typeface="Arial" panose="020B0604020202020204" pitchFamily="34" charset="0"/>
              </a:rPr>
              <a:t>Not bugs or errors</a:t>
            </a:r>
          </a:p>
          <a:p>
            <a:pPr>
              <a:lnSpc>
                <a:spcPct val="150000"/>
              </a:lnSpc>
            </a:pPr>
            <a:r>
              <a:rPr lang="en-US" dirty="0">
                <a:latin typeface="Arial" panose="020B0604020202020204" pitchFamily="34" charset="0"/>
                <a:cs typeface="Arial" panose="020B0604020202020204" pitchFamily="34" charset="0"/>
              </a:rPr>
              <a:t>Can certainly add to the chance of bugs and failures down the line.</a:t>
            </a:r>
          </a:p>
        </p:txBody>
      </p:sp>
      <p:sp>
        <p:nvSpPr>
          <p:cNvPr id="4" name="Date Placeholder 3">
            <a:extLst>
              <a:ext uri="{FF2B5EF4-FFF2-40B4-BE49-F238E27FC236}">
                <a16:creationId xmlns:a16="http://schemas.microsoft.com/office/drawing/2014/main" id="{35CD351A-9407-4242-5D4B-2B7AC811B6D4}"/>
              </a:ext>
            </a:extLst>
          </p:cNvPr>
          <p:cNvSpPr>
            <a:spLocks noGrp="1"/>
          </p:cNvSpPr>
          <p:nvPr>
            <p:ph type="dt" sz="half" idx="10"/>
          </p:nvPr>
        </p:nvSpPr>
        <p:spPr/>
        <p:txBody>
          <a:bodyPr/>
          <a:lstStyle/>
          <a:p>
            <a:fld id="{7B01DD19-DFBB-4D15-8030-D1EA4C1504F6}" type="datetime1">
              <a:rPr lang="nb-NO" smtClean="0"/>
              <a:t>05.10.2026</a:t>
            </a:fld>
            <a:endParaRPr lang="en-US" dirty="0"/>
          </a:p>
        </p:txBody>
      </p:sp>
      <p:sp>
        <p:nvSpPr>
          <p:cNvPr id="5" name="Footer Placeholder 4">
            <a:extLst>
              <a:ext uri="{FF2B5EF4-FFF2-40B4-BE49-F238E27FC236}">
                <a16:creationId xmlns:a16="http://schemas.microsoft.com/office/drawing/2014/main" id="{D5F0F2DA-82CD-A741-804E-64B310E7A3AF}"/>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F295D476-A474-26EA-A980-AA79B2B41BAB}"/>
              </a:ext>
            </a:extLst>
          </p:cNvPr>
          <p:cNvSpPr>
            <a:spLocks noGrp="1"/>
          </p:cNvSpPr>
          <p:nvPr>
            <p:ph type="sldNum" sz="quarter" idx="12"/>
          </p:nvPr>
        </p:nvSpPr>
        <p:spPr/>
        <p:txBody>
          <a:bodyPr/>
          <a:lstStyle/>
          <a:p>
            <a:fld id="{EC33B370-F672-B743-B3AF-248A63C17270}" type="slidenum">
              <a:rPr lang="en-US" smtClean="0"/>
              <a:pPr/>
              <a:t>17</a:t>
            </a:fld>
            <a:endParaRPr lang="en-US"/>
          </a:p>
        </p:txBody>
      </p:sp>
    </p:spTree>
    <p:extLst>
      <p:ext uri="{BB962C8B-B14F-4D97-AF65-F5344CB8AC3E}">
        <p14:creationId xmlns:p14="http://schemas.microsoft.com/office/powerpoint/2010/main" val="288614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F70C0-89E0-CE36-C983-5F99C17AFC00}"/>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DD5C81DB-A065-3322-2A15-F90044C34052}"/>
              </a:ext>
            </a:extLst>
          </p:cNvPr>
          <p:cNvSpPr>
            <a:spLocks noGrp="1"/>
          </p:cNvSpPr>
          <p:nvPr>
            <p:ph idx="1"/>
          </p:nvPr>
        </p:nvSpPr>
        <p:spPr/>
        <p:txBody>
          <a:bodyPr/>
          <a:lstStyle/>
          <a:p>
            <a:endParaRPr lang="nb-NO"/>
          </a:p>
        </p:txBody>
      </p:sp>
      <p:pic>
        <p:nvPicPr>
          <p:cNvPr id="4098" name="Picture 2" descr="Code smells that are found the most in software projects">
            <a:extLst>
              <a:ext uri="{FF2B5EF4-FFF2-40B4-BE49-F238E27FC236}">
                <a16:creationId xmlns:a16="http://schemas.microsoft.com/office/drawing/2014/main" id="{D9C8F8C1-5A70-8EB3-B57D-175C07A51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00"/>
            <a:ext cx="12192000" cy="6832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77850DB-5D57-4E77-3C5F-001A749407C9}"/>
              </a:ext>
            </a:extLst>
          </p:cNvPr>
          <p:cNvSpPr/>
          <p:nvPr/>
        </p:nvSpPr>
        <p:spPr>
          <a:xfrm>
            <a:off x="5781368" y="4522839"/>
            <a:ext cx="3224980" cy="11307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827991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5" name="Picture 4">
            <a:extLst>
              <a:ext uri="{FF2B5EF4-FFF2-40B4-BE49-F238E27FC236}">
                <a16:creationId xmlns:a16="http://schemas.microsoft.com/office/drawing/2014/main" id="{970BD4D2-812F-5A23-6968-2D67FFB932E4}"/>
              </a:ext>
            </a:extLst>
          </p:cNvPr>
          <p:cNvPicPr>
            <a:picLocks noChangeAspect="1"/>
          </p:cNvPicPr>
          <p:nvPr/>
        </p:nvPicPr>
        <p:blipFill rotWithShape="1">
          <a:blip r:embed="rId3"/>
          <a:srcRect l="17742" t="22795" r="17017" b="39785"/>
          <a:stretch/>
        </p:blipFill>
        <p:spPr>
          <a:xfrm>
            <a:off x="98322" y="68826"/>
            <a:ext cx="11855257" cy="3824748"/>
          </a:xfrm>
          <a:prstGeom prst="rect">
            <a:avLst/>
          </a:prstGeom>
        </p:spPr>
      </p:pic>
      <p:pic>
        <p:nvPicPr>
          <p:cNvPr id="9218" name="Picture 2" descr="Large Class - Code Smells">
            <a:extLst>
              <a:ext uri="{FF2B5EF4-FFF2-40B4-BE49-F238E27FC236}">
                <a16:creationId xmlns:a16="http://schemas.microsoft.com/office/drawing/2014/main" id="{8000D448-9D5E-F195-61A2-7923620C96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1366" y="3816220"/>
            <a:ext cx="5069633" cy="3041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289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7" name="Picture 6">
            <a:extLst>
              <a:ext uri="{FF2B5EF4-FFF2-40B4-BE49-F238E27FC236}">
                <a16:creationId xmlns:a16="http://schemas.microsoft.com/office/drawing/2014/main" id="{4FEEDF7A-39A9-93A0-6594-1B837DE85A4B}"/>
              </a:ext>
            </a:extLst>
          </p:cNvPr>
          <p:cNvPicPr>
            <a:picLocks noChangeAspect="1"/>
          </p:cNvPicPr>
          <p:nvPr/>
        </p:nvPicPr>
        <p:blipFill rotWithShape="1">
          <a:blip r:embed="rId3"/>
          <a:srcRect l="19597" t="34409" r="22096" b="30322"/>
          <a:stretch/>
        </p:blipFill>
        <p:spPr>
          <a:xfrm>
            <a:off x="316672" y="112976"/>
            <a:ext cx="11212134" cy="3814916"/>
          </a:xfrm>
          <a:prstGeom prst="rect">
            <a:avLst/>
          </a:prstGeom>
        </p:spPr>
      </p:pic>
      <p:pic>
        <p:nvPicPr>
          <p:cNvPr id="8194" name="Picture 2">
            <a:extLst>
              <a:ext uri="{FF2B5EF4-FFF2-40B4-BE49-F238E27FC236}">
                <a16:creationId xmlns:a16="http://schemas.microsoft.com/office/drawing/2014/main" id="{70AB372F-56B2-F40B-A259-C82BB6E67F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5354" y="3194568"/>
            <a:ext cx="4762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1758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5" name="Picture 4">
            <a:extLst>
              <a:ext uri="{FF2B5EF4-FFF2-40B4-BE49-F238E27FC236}">
                <a16:creationId xmlns:a16="http://schemas.microsoft.com/office/drawing/2014/main" id="{92D25071-559D-67FE-709D-F85D9E4E0DB5}"/>
              </a:ext>
            </a:extLst>
          </p:cNvPr>
          <p:cNvPicPr>
            <a:picLocks noChangeAspect="1"/>
          </p:cNvPicPr>
          <p:nvPr/>
        </p:nvPicPr>
        <p:blipFill rotWithShape="1">
          <a:blip r:embed="rId3"/>
          <a:srcRect l="20887" t="31685" r="16935" b="32760"/>
          <a:stretch/>
        </p:blipFill>
        <p:spPr>
          <a:xfrm>
            <a:off x="412954" y="112976"/>
            <a:ext cx="11508851" cy="3701940"/>
          </a:xfrm>
          <a:prstGeom prst="rect">
            <a:avLst/>
          </a:prstGeom>
        </p:spPr>
      </p:pic>
      <p:pic>
        <p:nvPicPr>
          <p:cNvPr id="7170" name="Picture 2" descr="This visualizes a shotgun surgery">
            <a:extLst>
              <a:ext uri="{FF2B5EF4-FFF2-40B4-BE49-F238E27FC236}">
                <a16:creationId xmlns:a16="http://schemas.microsoft.com/office/drawing/2014/main" id="{7976169A-B16B-3697-6FD4-E6AD98CE09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6146" y="2510771"/>
            <a:ext cx="3692627" cy="434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898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7" name="Picture 6">
            <a:extLst>
              <a:ext uri="{FF2B5EF4-FFF2-40B4-BE49-F238E27FC236}">
                <a16:creationId xmlns:a16="http://schemas.microsoft.com/office/drawing/2014/main" id="{597C7131-1C35-1037-E396-6AD41B3BBEB5}"/>
              </a:ext>
            </a:extLst>
          </p:cNvPr>
          <p:cNvPicPr>
            <a:picLocks noChangeAspect="1"/>
          </p:cNvPicPr>
          <p:nvPr/>
        </p:nvPicPr>
        <p:blipFill rotWithShape="1">
          <a:blip r:embed="rId3"/>
          <a:srcRect l="20323" t="31111" r="16130" b="35341"/>
          <a:stretch/>
        </p:blipFill>
        <p:spPr>
          <a:xfrm>
            <a:off x="155574" y="112975"/>
            <a:ext cx="11804159" cy="3505295"/>
          </a:xfrm>
          <a:prstGeom prst="rect">
            <a:avLst/>
          </a:prstGeom>
        </p:spPr>
      </p:pic>
      <p:pic>
        <p:nvPicPr>
          <p:cNvPr id="6146" name="Picture 2" descr="Dead code has a few possible definitions. Source: Boomsma 2012, fig. 2.1.">
            <a:extLst>
              <a:ext uri="{FF2B5EF4-FFF2-40B4-BE49-F238E27FC236}">
                <a16:creationId xmlns:a16="http://schemas.microsoft.com/office/drawing/2014/main" id="{D7290BF3-0E97-B122-66C8-7565EE8E1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1870" y="3389058"/>
            <a:ext cx="5760616" cy="3468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594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5" name="Picture 4">
            <a:extLst>
              <a:ext uri="{FF2B5EF4-FFF2-40B4-BE49-F238E27FC236}">
                <a16:creationId xmlns:a16="http://schemas.microsoft.com/office/drawing/2014/main" id="{7106050D-2102-40A3-C9A9-3A1E6CC3B812}"/>
              </a:ext>
            </a:extLst>
          </p:cNvPr>
          <p:cNvPicPr>
            <a:picLocks noChangeAspect="1"/>
          </p:cNvPicPr>
          <p:nvPr/>
        </p:nvPicPr>
        <p:blipFill rotWithShape="1">
          <a:blip r:embed="rId3"/>
          <a:srcRect l="19677" t="32545" r="16935" b="29462"/>
          <a:stretch/>
        </p:blipFill>
        <p:spPr>
          <a:xfrm>
            <a:off x="629263" y="139138"/>
            <a:ext cx="11135801" cy="3754436"/>
          </a:xfrm>
          <a:prstGeom prst="rect">
            <a:avLst/>
          </a:prstGeom>
        </p:spPr>
      </p:pic>
      <p:pic>
        <p:nvPicPr>
          <p:cNvPr id="5122" name="Picture 2" descr="Coupling (computer programming) - Wikipedia">
            <a:extLst>
              <a:ext uri="{FF2B5EF4-FFF2-40B4-BE49-F238E27FC236}">
                <a16:creationId xmlns:a16="http://schemas.microsoft.com/office/drawing/2014/main" id="{494C70F7-9DD5-70BA-76CC-34904D697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9763" y="3085069"/>
            <a:ext cx="4172974" cy="3633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591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98DF-D8AF-480A-A68D-5ADC41430E0F}"/>
              </a:ext>
            </a:extLst>
          </p:cNvPr>
          <p:cNvSpPr>
            <a:spLocks noGrp="1"/>
          </p:cNvSpPr>
          <p:nvPr>
            <p:ph type="title"/>
          </p:nvPr>
        </p:nvSpPr>
        <p:spPr/>
        <p:txBody>
          <a:bodyPr/>
          <a:lstStyle/>
          <a:p>
            <a:r>
              <a:rPr lang="en-US"/>
              <a:t>Cod refactoring goals and properties</a:t>
            </a:r>
          </a:p>
        </p:txBody>
      </p:sp>
      <p:sp>
        <p:nvSpPr>
          <p:cNvPr id="3" name="Content Placeholder 2">
            <a:extLst>
              <a:ext uri="{FF2B5EF4-FFF2-40B4-BE49-F238E27FC236}">
                <a16:creationId xmlns:a16="http://schemas.microsoft.com/office/drawing/2014/main" id="{F826B7F2-3321-4F18-BAA4-DAB0A43E27B2}"/>
              </a:ext>
            </a:extLst>
          </p:cNvPr>
          <p:cNvSpPr>
            <a:spLocks noGrp="1"/>
          </p:cNvSpPr>
          <p:nvPr>
            <p:ph idx="1"/>
          </p:nvPr>
        </p:nvSpPr>
        <p:spPr>
          <a:xfrm>
            <a:off x="1024127" y="1556792"/>
            <a:ext cx="10151873" cy="4752528"/>
          </a:xfrm>
        </p:spPr>
        <p:txBody>
          <a:bodyPr>
            <a:normAutofit lnSpcReduction="10000"/>
          </a:bodyPr>
          <a:lstStyle/>
          <a:p>
            <a:r>
              <a:rPr lang="en-US" dirty="0"/>
              <a:t>Change the internal structure without changing external behavior</a:t>
            </a:r>
          </a:p>
          <a:p>
            <a:r>
              <a:rPr lang="en-US" altLang="en-US" dirty="0"/>
              <a:t>Eliminate code smells for</a:t>
            </a:r>
          </a:p>
          <a:p>
            <a:pPr lvl="1"/>
            <a:r>
              <a:rPr lang="nb-NO" dirty="0" err="1"/>
              <a:t>Readability</a:t>
            </a:r>
            <a:endParaRPr lang="nb-NO" dirty="0"/>
          </a:p>
          <a:p>
            <a:pPr lvl="1"/>
            <a:r>
              <a:rPr lang="nb-NO" dirty="0" err="1"/>
              <a:t>Consistency</a:t>
            </a:r>
            <a:endParaRPr lang="nb-NO" dirty="0"/>
          </a:p>
          <a:p>
            <a:pPr lvl="1"/>
            <a:r>
              <a:rPr lang="nb-NO" dirty="0" err="1"/>
              <a:t>Maintainability</a:t>
            </a:r>
            <a:endParaRPr lang="en-US" dirty="0"/>
          </a:p>
          <a:p>
            <a:r>
              <a:rPr lang="en-US" dirty="0"/>
              <a:t>Properties</a:t>
            </a:r>
          </a:p>
          <a:p>
            <a:pPr lvl="1"/>
            <a:r>
              <a:rPr lang="en-US" altLang="en-US" dirty="0"/>
              <a:t>Preserve correctness</a:t>
            </a:r>
          </a:p>
          <a:p>
            <a:pPr lvl="1"/>
            <a:r>
              <a:rPr lang="en-US" altLang="en-US" dirty="0"/>
              <a:t>One step at a time</a:t>
            </a:r>
          </a:p>
          <a:p>
            <a:pPr lvl="1"/>
            <a:r>
              <a:rPr lang="en-US" altLang="en-US" dirty="0"/>
              <a:t>Frequent testing</a:t>
            </a:r>
          </a:p>
        </p:txBody>
      </p:sp>
      <p:sp>
        <p:nvSpPr>
          <p:cNvPr id="4" name="Date Placeholder 3">
            <a:extLst>
              <a:ext uri="{FF2B5EF4-FFF2-40B4-BE49-F238E27FC236}">
                <a16:creationId xmlns:a16="http://schemas.microsoft.com/office/drawing/2014/main" id="{D2B2E889-B958-9834-EAC9-E817182DCC92}"/>
              </a:ext>
            </a:extLst>
          </p:cNvPr>
          <p:cNvSpPr>
            <a:spLocks noGrp="1"/>
          </p:cNvSpPr>
          <p:nvPr>
            <p:ph type="dt" sz="half" idx="10"/>
          </p:nvPr>
        </p:nvSpPr>
        <p:spPr/>
        <p:txBody>
          <a:bodyPr/>
          <a:lstStyle/>
          <a:p>
            <a:fld id="{4F6CCC63-496F-4037-9B2C-EA655F006A4B}" type="datetime1">
              <a:rPr lang="nb-NO" smtClean="0"/>
              <a:t>05.10.2026</a:t>
            </a:fld>
            <a:endParaRPr lang="en-US" dirty="0"/>
          </a:p>
        </p:txBody>
      </p:sp>
      <p:sp>
        <p:nvSpPr>
          <p:cNvPr id="5" name="Footer Placeholder 4">
            <a:extLst>
              <a:ext uri="{FF2B5EF4-FFF2-40B4-BE49-F238E27FC236}">
                <a16:creationId xmlns:a16="http://schemas.microsoft.com/office/drawing/2014/main" id="{CAA2C67D-84CC-A416-16D6-1ECE0C96DD60}"/>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A9B70193-E6F8-9BEA-8A4D-385D8E65AE46}"/>
              </a:ext>
            </a:extLst>
          </p:cNvPr>
          <p:cNvSpPr>
            <a:spLocks noGrp="1"/>
          </p:cNvSpPr>
          <p:nvPr>
            <p:ph type="sldNum" sz="quarter" idx="12"/>
          </p:nvPr>
        </p:nvSpPr>
        <p:spPr/>
        <p:txBody>
          <a:bodyPr/>
          <a:lstStyle/>
          <a:p>
            <a:fld id="{EC33B370-F672-B743-B3AF-248A63C17270}" type="slidenum">
              <a:rPr lang="en-US" smtClean="0"/>
              <a:pPr/>
              <a:t>24</a:t>
            </a:fld>
            <a:endParaRPr lang="en-US"/>
          </a:p>
        </p:txBody>
      </p:sp>
    </p:spTree>
    <p:extLst>
      <p:ext uri="{BB962C8B-B14F-4D97-AF65-F5344CB8AC3E}">
        <p14:creationId xmlns:p14="http://schemas.microsoft.com/office/powerpoint/2010/main" val="871301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AEEC-7686-4CB0-AB5B-522AF3B0DBD2}"/>
              </a:ext>
            </a:extLst>
          </p:cNvPr>
          <p:cNvSpPr>
            <a:spLocks noGrp="1"/>
          </p:cNvSpPr>
          <p:nvPr>
            <p:ph type="title"/>
          </p:nvPr>
        </p:nvSpPr>
        <p:spPr/>
        <p:txBody>
          <a:bodyPr/>
          <a:lstStyle/>
          <a:p>
            <a:r>
              <a:rPr lang="en-US" altLang="en-US"/>
              <a:t>Remove Duplicated Code – Pull up method (Don’t repeat yourself (DRY))</a:t>
            </a:r>
            <a:endParaRPr lang="en-US"/>
          </a:p>
        </p:txBody>
      </p:sp>
      <p:sp>
        <p:nvSpPr>
          <p:cNvPr id="3" name="Content Placeholder 2">
            <a:extLst>
              <a:ext uri="{FF2B5EF4-FFF2-40B4-BE49-F238E27FC236}">
                <a16:creationId xmlns:a16="http://schemas.microsoft.com/office/drawing/2014/main" id="{7CCBF108-7105-4CEB-B22C-B3126277BF5B}"/>
              </a:ext>
            </a:extLst>
          </p:cNvPr>
          <p:cNvSpPr>
            <a:spLocks noGrp="1"/>
          </p:cNvSpPr>
          <p:nvPr>
            <p:ph idx="1"/>
          </p:nvPr>
        </p:nvSpPr>
        <p:spPr>
          <a:xfrm>
            <a:off x="1981200" y="1556792"/>
            <a:ext cx="8488108" cy="720080"/>
          </a:xfrm>
        </p:spPr>
        <p:txBody>
          <a:bodyPr>
            <a:normAutofit fontScale="85000" lnSpcReduction="10000"/>
          </a:bodyPr>
          <a:lstStyle/>
          <a:p>
            <a:r>
              <a:rPr lang="en-US"/>
              <a:t>You have methods with identical results on subclasses.</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4" name="Picture 3">
            <a:extLst>
              <a:ext uri="{FF2B5EF4-FFF2-40B4-BE49-F238E27FC236}">
                <a16:creationId xmlns:a16="http://schemas.microsoft.com/office/drawing/2014/main" id="{BF64F81C-474E-4693-A5B2-FD702283C45D}"/>
              </a:ext>
            </a:extLst>
          </p:cNvPr>
          <p:cNvPicPr>
            <a:picLocks noChangeAspect="1"/>
          </p:cNvPicPr>
          <p:nvPr/>
        </p:nvPicPr>
        <p:blipFill>
          <a:blip r:embed="rId2"/>
          <a:stretch>
            <a:fillRect/>
          </a:stretch>
        </p:blipFill>
        <p:spPr>
          <a:xfrm>
            <a:off x="2397178" y="2775465"/>
            <a:ext cx="7397644" cy="2527838"/>
          </a:xfrm>
          <a:prstGeom prst="rect">
            <a:avLst/>
          </a:prstGeom>
        </p:spPr>
      </p:pic>
      <p:sp>
        <p:nvSpPr>
          <p:cNvPr id="5" name="Date Placeholder 4">
            <a:extLst>
              <a:ext uri="{FF2B5EF4-FFF2-40B4-BE49-F238E27FC236}">
                <a16:creationId xmlns:a16="http://schemas.microsoft.com/office/drawing/2014/main" id="{76E6EF11-2133-5D5F-DD05-3336913E2CD8}"/>
              </a:ext>
            </a:extLst>
          </p:cNvPr>
          <p:cNvSpPr>
            <a:spLocks noGrp="1"/>
          </p:cNvSpPr>
          <p:nvPr>
            <p:ph type="dt" sz="half" idx="10"/>
          </p:nvPr>
        </p:nvSpPr>
        <p:spPr/>
        <p:txBody>
          <a:bodyPr/>
          <a:lstStyle/>
          <a:p>
            <a:fld id="{2FB24B99-19FA-49D1-AE78-E6D1524CE7AC}" type="datetime1">
              <a:rPr lang="nb-NO" smtClean="0"/>
              <a:t>05.10.2026</a:t>
            </a:fld>
            <a:endParaRPr lang="en-US" dirty="0"/>
          </a:p>
        </p:txBody>
      </p:sp>
      <p:sp>
        <p:nvSpPr>
          <p:cNvPr id="6" name="Footer Placeholder 5">
            <a:extLst>
              <a:ext uri="{FF2B5EF4-FFF2-40B4-BE49-F238E27FC236}">
                <a16:creationId xmlns:a16="http://schemas.microsoft.com/office/drawing/2014/main" id="{DF89A96E-7312-063C-34FF-9BD058278BF8}"/>
              </a:ext>
            </a:extLst>
          </p:cNvPr>
          <p:cNvSpPr>
            <a:spLocks noGrp="1"/>
          </p:cNvSpPr>
          <p:nvPr>
            <p:ph type="ftr" sz="quarter" idx="11"/>
          </p:nvPr>
        </p:nvSpPr>
        <p:spPr/>
        <p:txBody>
          <a:bodyPr/>
          <a:lstStyle/>
          <a:p>
            <a:r>
              <a:rPr lang="en-US"/>
              <a:t>Chapter 7.3. More on Implementation</a:t>
            </a:r>
          </a:p>
        </p:txBody>
      </p:sp>
      <p:sp>
        <p:nvSpPr>
          <p:cNvPr id="7" name="Slide Number Placeholder 6">
            <a:extLst>
              <a:ext uri="{FF2B5EF4-FFF2-40B4-BE49-F238E27FC236}">
                <a16:creationId xmlns:a16="http://schemas.microsoft.com/office/drawing/2014/main" id="{E4F98099-F054-6C6C-8B75-E9663209B8A8}"/>
              </a:ext>
            </a:extLst>
          </p:cNvPr>
          <p:cNvSpPr>
            <a:spLocks noGrp="1"/>
          </p:cNvSpPr>
          <p:nvPr>
            <p:ph type="sldNum" sz="quarter" idx="12"/>
          </p:nvPr>
        </p:nvSpPr>
        <p:spPr/>
        <p:txBody>
          <a:bodyPr/>
          <a:lstStyle/>
          <a:p>
            <a:fld id="{EC33B370-F672-B743-B3AF-248A63C17270}" type="slidenum">
              <a:rPr lang="en-US" smtClean="0"/>
              <a:pPr/>
              <a:t>25</a:t>
            </a:fld>
            <a:endParaRPr lang="en-US"/>
          </a:p>
        </p:txBody>
      </p:sp>
    </p:spTree>
    <p:extLst>
      <p:ext uri="{BB962C8B-B14F-4D97-AF65-F5344CB8AC3E}">
        <p14:creationId xmlns:p14="http://schemas.microsoft.com/office/powerpoint/2010/main" val="2390536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9D95-429D-460B-A3C0-449D9BDC4ED5}"/>
              </a:ext>
            </a:extLst>
          </p:cNvPr>
          <p:cNvSpPr>
            <a:spLocks noGrp="1"/>
          </p:cNvSpPr>
          <p:nvPr>
            <p:ph type="title"/>
          </p:nvPr>
        </p:nvSpPr>
        <p:spPr/>
        <p:txBody>
          <a:bodyPr/>
          <a:lstStyle/>
          <a:p>
            <a:r>
              <a:rPr lang="en-US"/>
              <a:t>Remove Duplicated code - Substitute Algorithm </a:t>
            </a:r>
          </a:p>
        </p:txBody>
      </p:sp>
      <p:sp>
        <p:nvSpPr>
          <p:cNvPr id="3" name="Content Placeholder 2">
            <a:extLst>
              <a:ext uri="{FF2B5EF4-FFF2-40B4-BE49-F238E27FC236}">
                <a16:creationId xmlns:a16="http://schemas.microsoft.com/office/drawing/2014/main" id="{FB08945F-508F-4447-9083-34CEEA43812F}"/>
              </a:ext>
            </a:extLst>
          </p:cNvPr>
          <p:cNvSpPr>
            <a:spLocks noGrp="1"/>
          </p:cNvSpPr>
          <p:nvPr>
            <p:ph idx="1"/>
          </p:nvPr>
        </p:nvSpPr>
        <p:spPr>
          <a:xfrm>
            <a:off x="1981200" y="1600201"/>
            <a:ext cx="8229600" cy="460648"/>
          </a:xfrm>
        </p:spPr>
        <p:txBody>
          <a:bodyPr>
            <a:normAutofit fontScale="77500" lnSpcReduction="20000"/>
          </a:bodyPr>
          <a:lstStyle/>
          <a:p>
            <a:r>
              <a:rPr lang="en-US"/>
              <a:t>You want to replace an algorithm with one that is clearer.</a:t>
            </a:r>
          </a:p>
        </p:txBody>
      </p:sp>
      <p:sp>
        <p:nvSpPr>
          <p:cNvPr id="7" name="Rectangle 6">
            <a:extLst>
              <a:ext uri="{FF2B5EF4-FFF2-40B4-BE49-F238E27FC236}">
                <a16:creationId xmlns:a16="http://schemas.microsoft.com/office/drawing/2014/main" id="{DFE5CF92-EF84-4F70-A3D0-26CFAAE6DBA8}"/>
              </a:ext>
            </a:extLst>
          </p:cNvPr>
          <p:cNvSpPr/>
          <p:nvPr/>
        </p:nvSpPr>
        <p:spPr>
          <a:xfrm>
            <a:off x="1847529" y="2251606"/>
            <a:ext cx="4104457" cy="3970318"/>
          </a:xfrm>
          <a:prstGeom prst="rect">
            <a:avLst/>
          </a:prstGeom>
        </p:spPr>
        <p:txBody>
          <a:bodyPr wrap="square">
            <a:spAutoFit/>
          </a:bodyPr>
          <a:lstStyle/>
          <a:p>
            <a:r>
              <a:rPr lang="en-US"/>
              <a:t>String </a:t>
            </a:r>
            <a:r>
              <a:rPr lang="en-US" err="1"/>
              <a:t>foundPerson</a:t>
            </a:r>
            <a:r>
              <a:rPr lang="en-US"/>
              <a:t>(String[] people){        </a:t>
            </a:r>
          </a:p>
          <a:p>
            <a:r>
              <a:rPr lang="en-US"/>
              <a:t> </a:t>
            </a:r>
          </a:p>
          <a:p>
            <a:r>
              <a:rPr lang="en-US"/>
              <a:t>  for (int </a:t>
            </a:r>
            <a:r>
              <a:rPr lang="en-US" err="1"/>
              <a:t>i</a:t>
            </a:r>
            <a:r>
              <a:rPr lang="en-US"/>
              <a:t> = 0; </a:t>
            </a:r>
            <a:r>
              <a:rPr lang="en-US" err="1"/>
              <a:t>i</a:t>
            </a:r>
            <a:r>
              <a:rPr lang="en-US"/>
              <a:t> &lt; </a:t>
            </a:r>
            <a:r>
              <a:rPr lang="en-US" err="1"/>
              <a:t>people.length</a:t>
            </a:r>
            <a:r>
              <a:rPr lang="en-US"/>
              <a:t>; </a:t>
            </a:r>
            <a:r>
              <a:rPr lang="en-US" err="1"/>
              <a:t>i</a:t>
            </a:r>
            <a:r>
              <a:rPr lang="en-US"/>
              <a:t>++) {              </a:t>
            </a:r>
          </a:p>
          <a:p>
            <a:r>
              <a:rPr lang="en-US">
                <a:solidFill>
                  <a:srgbClr val="FF0000"/>
                </a:solidFill>
              </a:rPr>
              <a:t>      if (people[</a:t>
            </a:r>
            <a:r>
              <a:rPr lang="en-US" err="1">
                <a:solidFill>
                  <a:srgbClr val="FF0000"/>
                </a:solidFill>
              </a:rPr>
              <a:t>i</a:t>
            </a:r>
            <a:r>
              <a:rPr lang="en-US">
                <a:solidFill>
                  <a:srgbClr val="FF0000"/>
                </a:solidFill>
              </a:rPr>
              <a:t>].equals ("Don"))</a:t>
            </a:r>
          </a:p>
          <a:p>
            <a:r>
              <a:rPr lang="en-US">
                <a:solidFill>
                  <a:srgbClr val="FF0000"/>
                </a:solidFill>
              </a:rPr>
              <a:t>      { return "Don"; }</a:t>
            </a:r>
          </a:p>
          <a:p>
            <a:endParaRPr lang="en-US">
              <a:solidFill>
                <a:srgbClr val="FF0000"/>
              </a:solidFill>
            </a:endParaRPr>
          </a:p>
          <a:p>
            <a:r>
              <a:rPr lang="en-US">
                <a:solidFill>
                  <a:srgbClr val="FF0000"/>
                </a:solidFill>
              </a:rPr>
              <a:t>       if (people[</a:t>
            </a:r>
            <a:r>
              <a:rPr lang="en-US" err="1">
                <a:solidFill>
                  <a:srgbClr val="FF0000"/>
                </a:solidFill>
              </a:rPr>
              <a:t>i</a:t>
            </a:r>
            <a:r>
              <a:rPr lang="en-US">
                <a:solidFill>
                  <a:srgbClr val="FF0000"/>
                </a:solidFill>
              </a:rPr>
              <a:t>].equals ("John"))</a:t>
            </a:r>
          </a:p>
          <a:p>
            <a:r>
              <a:rPr lang="en-US">
                <a:solidFill>
                  <a:srgbClr val="FF0000"/>
                </a:solidFill>
              </a:rPr>
              <a:t>       { return "John"; }            </a:t>
            </a:r>
          </a:p>
          <a:p>
            <a:endParaRPr lang="en-US">
              <a:solidFill>
                <a:srgbClr val="FF0000"/>
              </a:solidFill>
            </a:endParaRPr>
          </a:p>
          <a:p>
            <a:r>
              <a:rPr lang="en-US">
                <a:solidFill>
                  <a:srgbClr val="FF0000"/>
                </a:solidFill>
              </a:rPr>
              <a:t>       if (people[</a:t>
            </a:r>
            <a:r>
              <a:rPr lang="en-US" err="1">
                <a:solidFill>
                  <a:srgbClr val="FF0000"/>
                </a:solidFill>
              </a:rPr>
              <a:t>i</a:t>
            </a:r>
            <a:r>
              <a:rPr lang="en-US">
                <a:solidFill>
                  <a:srgbClr val="FF0000"/>
                </a:solidFill>
              </a:rPr>
              <a:t>].equals ("Kent"))</a:t>
            </a:r>
          </a:p>
          <a:p>
            <a:r>
              <a:rPr lang="en-US">
                <a:solidFill>
                  <a:srgbClr val="FF0000"/>
                </a:solidFill>
              </a:rPr>
              <a:t>       { return "Kent";  }      </a:t>
            </a:r>
          </a:p>
          <a:p>
            <a:r>
              <a:rPr lang="en-US"/>
              <a:t>    }        </a:t>
            </a:r>
          </a:p>
          <a:p>
            <a:r>
              <a:rPr lang="en-US"/>
              <a:t>    return "";    </a:t>
            </a:r>
          </a:p>
          <a:p>
            <a:r>
              <a:rPr lang="en-US"/>
              <a:t>}</a:t>
            </a:r>
          </a:p>
        </p:txBody>
      </p:sp>
      <p:grpSp>
        <p:nvGrpSpPr>
          <p:cNvPr id="4" name="Group 3">
            <a:extLst>
              <a:ext uri="{FF2B5EF4-FFF2-40B4-BE49-F238E27FC236}">
                <a16:creationId xmlns:a16="http://schemas.microsoft.com/office/drawing/2014/main" id="{571DA21F-C38E-4A7A-BAE4-25669E2AFA4F}"/>
              </a:ext>
            </a:extLst>
          </p:cNvPr>
          <p:cNvGrpSpPr/>
          <p:nvPr/>
        </p:nvGrpSpPr>
        <p:grpSpPr>
          <a:xfrm>
            <a:off x="5475823" y="2255772"/>
            <a:ext cx="4956881" cy="3139321"/>
            <a:chOff x="3951822" y="2255771"/>
            <a:chExt cx="4956881" cy="3139321"/>
          </a:xfrm>
        </p:grpSpPr>
        <p:sp>
          <p:nvSpPr>
            <p:cNvPr id="8" name="Arrow: Right 7">
              <a:extLst>
                <a:ext uri="{FF2B5EF4-FFF2-40B4-BE49-F238E27FC236}">
                  <a16:creationId xmlns:a16="http://schemas.microsoft.com/office/drawing/2014/main" id="{0B6359B8-9CEB-45EF-8555-344DEA8DEF90}"/>
                </a:ext>
              </a:extLst>
            </p:cNvPr>
            <p:cNvSpPr/>
            <p:nvPr/>
          </p:nvSpPr>
          <p:spPr>
            <a:xfrm>
              <a:off x="3951822" y="3732709"/>
              <a:ext cx="648072" cy="5040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5F946A4-F505-4399-9FB1-D5A80EB7B6DE}"/>
                </a:ext>
              </a:extLst>
            </p:cNvPr>
            <p:cNvSpPr/>
            <p:nvPr/>
          </p:nvSpPr>
          <p:spPr>
            <a:xfrm>
              <a:off x="4716017" y="2255771"/>
              <a:ext cx="4192686" cy="3139321"/>
            </a:xfrm>
            <a:prstGeom prst="rect">
              <a:avLst/>
            </a:prstGeom>
          </p:spPr>
          <p:txBody>
            <a:bodyPr wrap="square">
              <a:spAutoFit/>
            </a:bodyPr>
            <a:lstStyle/>
            <a:p>
              <a:r>
                <a:rPr lang="en-US"/>
                <a:t>String </a:t>
              </a:r>
              <a:r>
                <a:rPr lang="en-US" err="1"/>
                <a:t>foundPerson</a:t>
              </a:r>
              <a:r>
                <a:rPr lang="en-US"/>
                <a:t>(String[] people){   </a:t>
              </a:r>
            </a:p>
            <a:p>
              <a:r>
                <a:rPr lang="en-US"/>
                <a:t>     </a:t>
              </a:r>
              <a:r>
                <a:rPr lang="en-US">
                  <a:solidFill>
                    <a:srgbClr val="FF0000"/>
                  </a:solidFill>
                </a:rPr>
                <a:t>List candidates = </a:t>
              </a:r>
              <a:r>
                <a:rPr lang="en-US" err="1">
                  <a:solidFill>
                    <a:srgbClr val="FF0000"/>
                  </a:solidFill>
                </a:rPr>
                <a:t>Arrays.asList</a:t>
              </a:r>
              <a:r>
                <a:rPr lang="en-US">
                  <a:solidFill>
                    <a:srgbClr val="FF0000"/>
                  </a:solidFill>
                </a:rPr>
                <a:t>(new String[] {"Don", "John", "Kent"});      </a:t>
              </a:r>
            </a:p>
            <a:p>
              <a:endParaRPr lang="en-US"/>
            </a:p>
            <a:p>
              <a:r>
                <a:rPr lang="en-US"/>
                <a:t>  for (int </a:t>
              </a:r>
              <a:r>
                <a:rPr lang="en-US" err="1"/>
                <a:t>i</a:t>
              </a:r>
              <a:r>
                <a:rPr lang="en-US"/>
                <a:t>=0; </a:t>
              </a:r>
              <a:r>
                <a:rPr lang="en-US" err="1"/>
                <a:t>i</a:t>
              </a:r>
              <a:r>
                <a:rPr lang="en-US"/>
                <a:t>&lt;</a:t>
              </a:r>
              <a:r>
                <a:rPr lang="en-US" err="1"/>
                <a:t>people.length</a:t>
              </a:r>
              <a:r>
                <a:rPr lang="en-US"/>
                <a:t>; </a:t>
              </a:r>
              <a:r>
                <a:rPr lang="en-US" err="1"/>
                <a:t>i</a:t>
              </a:r>
              <a:r>
                <a:rPr lang="en-US"/>
                <a:t>++)             </a:t>
              </a:r>
            </a:p>
            <a:p>
              <a:r>
                <a:rPr lang="en-US"/>
                <a:t>       if (</a:t>
              </a:r>
              <a:r>
                <a:rPr lang="en-US" err="1"/>
                <a:t>candidates.contains</a:t>
              </a:r>
              <a:r>
                <a:rPr lang="en-US"/>
                <a:t>(people[</a:t>
              </a:r>
              <a:r>
                <a:rPr lang="en-US" err="1"/>
                <a:t>i</a:t>
              </a:r>
              <a:r>
                <a:rPr lang="en-US"/>
                <a:t>]))               </a:t>
              </a:r>
            </a:p>
            <a:p>
              <a:r>
                <a:rPr lang="en-US"/>
                <a:t>               return people[</a:t>
              </a:r>
              <a:r>
                <a:rPr lang="en-US" err="1"/>
                <a:t>i</a:t>
              </a:r>
              <a:r>
                <a:rPr lang="en-US"/>
                <a:t>];       </a:t>
              </a:r>
            </a:p>
            <a:p>
              <a:endParaRPr lang="en-US"/>
            </a:p>
            <a:p>
              <a:r>
                <a:rPr lang="en-US"/>
                <a:t>    return "";    </a:t>
              </a:r>
            </a:p>
            <a:p>
              <a:endParaRPr lang="en-US"/>
            </a:p>
            <a:p>
              <a:r>
                <a:rPr lang="en-US"/>
                <a:t>}</a:t>
              </a:r>
            </a:p>
          </p:txBody>
        </p:sp>
      </p:grpSp>
      <p:sp>
        <p:nvSpPr>
          <p:cNvPr id="5" name="Date Placeholder 4">
            <a:extLst>
              <a:ext uri="{FF2B5EF4-FFF2-40B4-BE49-F238E27FC236}">
                <a16:creationId xmlns:a16="http://schemas.microsoft.com/office/drawing/2014/main" id="{2FB19A35-D590-ED1A-AC3B-141D42E320B2}"/>
              </a:ext>
            </a:extLst>
          </p:cNvPr>
          <p:cNvSpPr>
            <a:spLocks noGrp="1"/>
          </p:cNvSpPr>
          <p:nvPr>
            <p:ph type="dt" sz="half" idx="10"/>
          </p:nvPr>
        </p:nvSpPr>
        <p:spPr/>
        <p:txBody>
          <a:bodyPr/>
          <a:lstStyle/>
          <a:p>
            <a:fld id="{164FCC62-F05B-4436-B4B8-CB7497EB7613}" type="datetime1">
              <a:rPr lang="nb-NO" smtClean="0"/>
              <a:t>05.10.2026</a:t>
            </a:fld>
            <a:endParaRPr lang="en-US" dirty="0"/>
          </a:p>
        </p:txBody>
      </p:sp>
      <p:sp>
        <p:nvSpPr>
          <p:cNvPr id="6" name="Footer Placeholder 5">
            <a:extLst>
              <a:ext uri="{FF2B5EF4-FFF2-40B4-BE49-F238E27FC236}">
                <a16:creationId xmlns:a16="http://schemas.microsoft.com/office/drawing/2014/main" id="{AC6DCED3-3E4A-51B5-D528-5FE322A807A4}"/>
              </a:ext>
            </a:extLst>
          </p:cNvPr>
          <p:cNvSpPr>
            <a:spLocks noGrp="1"/>
          </p:cNvSpPr>
          <p:nvPr>
            <p:ph type="ftr" sz="quarter" idx="11"/>
          </p:nvPr>
        </p:nvSpPr>
        <p:spPr/>
        <p:txBody>
          <a:bodyPr/>
          <a:lstStyle/>
          <a:p>
            <a:r>
              <a:rPr lang="en-US"/>
              <a:t>Chapter 7.3. More on Implementation</a:t>
            </a:r>
          </a:p>
        </p:txBody>
      </p:sp>
      <p:sp>
        <p:nvSpPr>
          <p:cNvPr id="10" name="Slide Number Placeholder 9">
            <a:extLst>
              <a:ext uri="{FF2B5EF4-FFF2-40B4-BE49-F238E27FC236}">
                <a16:creationId xmlns:a16="http://schemas.microsoft.com/office/drawing/2014/main" id="{815E8325-3CA2-2A1D-7324-57867AA6EE6F}"/>
              </a:ext>
            </a:extLst>
          </p:cNvPr>
          <p:cNvSpPr>
            <a:spLocks noGrp="1"/>
          </p:cNvSpPr>
          <p:nvPr>
            <p:ph type="sldNum" sz="quarter" idx="12"/>
          </p:nvPr>
        </p:nvSpPr>
        <p:spPr/>
        <p:txBody>
          <a:bodyPr/>
          <a:lstStyle/>
          <a:p>
            <a:fld id="{EC33B370-F672-B743-B3AF-248A63C17270}" type="slidenum">
              <a:rPr lang="en-US" smtClean="0"/>
              <a:pPr/>
              <a:t>26</a:t>
            </a:fld>
            <a:endParaRPr lang="en-US"/>
          </a:p>
        </p:txBody>
      </p:sp>
    </p:spTree>
    <p:extLst>
      <p:ext uri="{BB962C8B-B14F-4D97-AF65-F5344CB8AC3E}">
        <p14:creationId xmlns:p14="http://schemas.microsoft.com/office/powerpoint/2010/main" val="2635433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55D9-A32E-4F06-BEC3-C9C028EE7B30}"/>
              </a:ext>
            </a:extLst>
          </p:cNvPr>
          <p:cNvSpPr>
            <a:spLocks noGrp="1"/>
          </p:cNvSpPr>
          <p:nvPr>
            <p:ph type="title"/>
          </p:nvPr>
        </p:nvSpPr>
        <p:spPr/>
        <p:txBody>
          <a:bodyPr/>
          <a:lstStyle/>
          <a:p>
            <a:r>
              <a:rPr lang="en-US" altLang="en-US"/>
              <a:t>Reduce size – shorten method/class</a:t>
            </a:r>
            <a:endParaRPr lang="en-US"/>
          </a:p>
        </p:txBody>
      </p:sp>
      <p:sp>
        <p:nvSpPr>
          <p:cNvPr id="3" name="Content Placeholder 2">
            <a:extLst>
              <a:ext uri="{FF2B5EF4-FFF2-40B4-BE49-F238E27FC236}">
                <a16:creationId xmlns:a16="http://schemas.microsoft.com/office/drawing/2014/main" id="{88EB7CFA-99CB-44E9-9626-3653425F38FC}"/>
              </a:ext>
            </a:extLst>
          </p:cNvPr>
          <p:cNvSpPr>
            <a:spLocks noGrp="1"/>
          </p:cNvSpPr>
          <p:nvPr>
            <p:ph idx="1"/>
          </p:nvPr>
        </p:nvSpPr>
        <p:spPr>
          <a:xfrm>
            <a:off x="1981200" y="1772816"/>
            <a:ext cx="8229600" cy="3019474"/>
          </a:xfrm>
        </p:spPr>
        <p:txBody>
          <a:bodyPr/>
          <a:lstStyle/>
          <a:p>
            <a:pPr>
              <a:lnSpc>
                <a:spcPct val="90000"/>
              </a:lnSpc>
              <a:spcBef>
                <a:spcPct val="0"/>
              </a:spcBef>
              <a:buClr>
                <a:schemeClr val="accent2"/>
              </a:buClr>
            </a:pPr>
            <a:r>
              <a:rPr lang="en-US" altLang="en-US" b="1"/>
              <a:t>Long Method</a:t>
            </a:r>
          </a:p>
          <a:p>
            <a:pPr lvl="1">
              <a:lnSpc>
                <a:spcPct val="90000"/>
              </a:lnSpc>
              <a:buClr>
                <a:schemeClr val="accent2"/>
              </a:buClr>
            </a:pPr>
            <a:r>
              <a:rPr lang="en-US" altLang="en-US" sz="2400"/>
              <a:t>E.g., Extract method</a:t>
            </a:r>
          </a:p>
          <a:p>
            <a:pPr>
              <a:lnSpc>
                <a:spcPct val="90000"/>
              </a:lnSpc>
              <a:spcBef>
                <a:spcPct val="0"/>
              </a:spcBef>
              <a:buClr>
                <a:schemeClr val="accent2"/>
              </a:buClr>
            </a:pPr>
            <a:endParaRPr lang="en-US" altLang="en-US" b="1"/>
          </a:p>
          <a:p>
            <a:pPr>
              <a:lnSpc>
                <a:spcPct val="90000"/>
              </a:lnSpc>
              <a:spcBef>
                <a:spcPct val="0"/>
              </a:spcBef>
              <a:buClr>
                <a:schemeClr val="accent2"/>
              </a:buClr>
            </a:pPr>
            <a:r>
              <a:rPr lang="en-US" altLang="en-US" b="1"/>
              <a:t>Large Class</a:t>
            </a:r>
          </a:p>
          <a:p>
            <a:pPr lvl="1">
              <a:lnSpc>
                <a:spcPct val="90000"/>
              </a:lnSpc>
              <a:buClr>
                <a:schemeClr val="accent2"/>
              </a:buClr>
            </a:pPr>
            <a:r>
              <a:rPr lang="en-US" altLang="en-US" sz="2400"/>
              <a:t>E.g., Extract class, subclass, interface</a:t>
            </a:r>
          </a:p>
          <a:p>
            <a:pPr marL="0" indent="0">
              <a:spcBef>
                <a:spcPct val="0"/>
              </a:spcBef>
              <a:buClr>
                <a:schemeClr val="accent2"/>
              </a:buClr>
              <a:buNone/>
            </a:pPr>
            <a:endParaRPr lang="en-US" altLang="en-US" b="1"/>
          </a:p>
          <a:p>
            <a:pPr>
              <a:lnSpc>
                <a:spcPct val="90000"/>
              </a:lnSpc>
              <a:spcBef>
                <a:spcPct val="0"/>
              </a:spcBef>
              <a:buClr>
                <a:schemeClr val="accent2"/>
              </a:buClr>
            </a:pPr>
            <a:endParaRPr lang="en-US" altLang="en-US" b="1"/>
          </a:p>
          <a:p>
            <a:pPr marL="0" indent="0">
              <a:buNone/>
            </a:pPr>
            <a:endParaRPr lang="en-US"/>
          </a:p>
        </p:txBody>
      </p:sp>
      <p:sp>
        <p:nvSpPr>
          <p:cNvPr id="4" name="Date Placeholder 3">
            <a:extLst>
              <a:ext uri="{FF2B5EF4-FFF2-40B4-BE49-F238E27FC236}">
                <a16:creationId xmlns:a16="http://schemas.microsoft.com/office/drawing/2014/main" id="{E2D881CA-6026-AE10-8D0A-977DBDFFB9AE}"/>
              </a:ext>
            </a:extLst>
          </p:cNvPr>
          <p:cNvSpPr>
            <a:spLocks noGrp="1"/>
          </p:cNvSpPr>
          <p:nvPr>
            <p:ph type="dt" sz="half" idx="10"/>
          </p:nvPr>
        </p:nvSpPr>
        <p:spPr/>
        <p:txBody>
          <a:bodyPr/>
          <a:lstStyle/>
          <a:p>
            <a:fld id="{9E5C7E3B-FA97-4B86-A015-A24EA0C88E49}" type="datetime1">
              <a:rPr lang="nb-NO" smtClean="0"/>
              <a:t>05.10.2026</a:t>
            </a:fld>
            <a:endParaRPr lang="en-US" dirty="0"/>
          </a:p>
        </p:txBody>
      </p:sp>
      <p:sp>
        <p:nvSpPr>
          <p:cNvPr id="5" name="Footer Placeholder 4">
            <a:extLst>
              <a:ext uri="{FF2B5EF4-FFF2-40B4-BE49-F238E27FC236}">
                <a16:creationId xmlns:a16="http://schemas.microsoft.com/office/drawing/2014/main" id="{6478EB2C-518C-31EC-EC8D-5BA4CA31A103}"/>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B1503D3B-DEC4-05A0-21C8-EB274E2CE6FE}"/>
              </a:ext>
            </a:extLst>
          </p:cNvPr>
          <p:cNvSpPr>
            <a:spLocks noGrp="1"/>
          </p:cNvSpPr>
          <p:nvPr>
            <p:ph type="sldNum" sz="quarter" idx="12"/>
          </p:nvPr>
        </p:nvSpPr>
        <p:spPr/>
        <p:txBody>
          <a:bodyPr/>
          <a:lstStyle/>
          <a:p>
            <a:fld id="{EC33B370-F672-B743-B3AF-248A63C17270}" type="slidenum">
              <a:rPr lang="en-US" smtClean="0"/>
              <a:pPr/>
              <a:t>27</a:t>
            </a:fld>
            <a:endParaRPr lang="en-US"/>
          </a:p>
        </p:txBody>
      </p:sp>
    </p:spTree>
    <p:extLst>
      <p:ext uri="{BB962C8B-B14F-4D97-AF65-F5344CB8AC3E}">
        <p14:creationId xmlns:p14="http://schemas.microsoft.com/office/powerpoint/2010/main" val="10954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F72D-93F1-492F-8071-57199A0CAF18}"/>
              </a:ext>
            </a:extLst>
          </p:cNvPr>
          <p:cNvSpPr>
            <a:spLocks noGrp="1"/>
          </p:cNvSpPr>
          <p:nvPr>
            <p:ph type="title"/>
          </p:nvPr>
        </p:nvSpPr>
        <p:spPr/>
        <p:txBody>
          <a:bodyPr/>
          <a:lstStyle/>
          <a:p>
            <a:r>
              <a:rPr lang="en-US" dirty="0"/>
              <a:t>Extract method example</a:t>
            </a:r>
          </a:p>
        </p:txBody>
      </p:sp>
      <p:sp>
        <p:nvSpPr>
          <p:cNvPr id="4" name="Text Box 4">
            <a:extLst>
              <a:ext uri="{FF2B5EF4-FFF2-40B4-BE49-F238E27FC236}">
                <a16:creationId xmlns:a16="http://schemas.microsoft.com/office/drawing/2014/main" id="{CF3138C7-68AE-4B4A-8D91-233C970633DC}"/>
              </a:ext>
            </a:extLst>
          </p:cNvPr>
          <p:cNvSpPr txBox="1">
            <a:spLocks noChangeArrowheads="1"/>
          </p:cNvSpPr>
          <p:nvPr/>
        </p:nvSpPr>
        <p:spPr bwMode="auto">
          <a:xfrm>
            <a:off x="1887148" y="3037389"/>
            <a:ext cx="3657600" cy="297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1800" i="1" dirty="0">
                <a:latin typeface="Arial Unicode MS" pitchFamily="34" charset="-128"/>
                <a:ea typeface="Arial Unicode MS" pitchFamily="34" charset="-128"/>
              </a:rPr>
              <a:t>void </a:t>
            </a:r>
            <a:r>
              <a:rPr lang="en-US" altLang="en-US" sz="1800" i="1" dirty="0" err="1">
                <a:latin typeface="Arial Unicode MS" pitchFamily="34" charset="-128"/>
                <a:ea typeface="Arial Unicode MS" pitchFamily="34" charset="-128"/>
              </a:rPr>
              <a:t>printOwing</a:t>
            </a:r>
            <a:r>
              <a:rPr lang="en-US" altLang="en-US" sz="1800" i="1" dirty="0">
                <a:latin typeface="Arial Unicode MS" pitchFamily="34" charset="-128"/>
                <a:ea typeface="Arial Unicode MS" pitchFamily="34" charset="-128"/>
              </a:rPr>
              <a:t>() </a:t>
            </a:r>
          </a:p>
          <a:p>
            <a:pPr>
              <a:spcBef>
                <a:spcPct val="50000"/>
              </a:spcBef>
            </a:pPr>
            <a:r>
              <a:rPr lang="en-US" altLang="en-US" sz="1800" i="1" dirty="0">
                <a:latin typeface="Arial Unicode MS" pitchFamily="34" charset="-128"/>
                <a:ea typeface="Arial Unicode MS" pitchFamily="34" charset="-128"/>
              </a:rPr>
              <a:t>{ </a:t>
            </a:r>
          </a:p>
          <a:p>
            <a:pPr>
              <a:spcBef>
                <a:spcPct val="50000"/>
              </a:spcBef>
            </a:pPr>
            <a:r>
              <a:rPr lang="en-US" altLang="en-US" sz="1800" i="1" dirty="0">
                <a:latin typeface="Arial Unicode MS" pitchFamily="34" charset="-128"/>
                <a:ea typeface="Arial Unicode MS" pitchFamily="34" charset="-128"/>
              </a:rPr>
              <a:t>  </a:t>
            </a:r>
            <a:r>
              <a:rPr lang="en-US" altLang="en-US" sz="1800" i="1" dirty="0" err="1">
                <a:latin typeface="Arial Unicode MS" pitchFamily="34" charset="-128"/>
                <a:ea typeface="Arial Unicode MS" pitchFamily="34" charset="-128"/>
              </a:rPr>
              <a:t>printBanner</a:t>
            </a:r>
            <a:r>
              <a:rPr lang="en-US" altLang="en-US" sz="1800" i="1" dirty="0">
                <a:latin typeface="Arial Unicode MS" pitchFamily="34" charset="-128"/>
                <a:ea typeface="Arial Unicode MS" pitchFamily="34" charset="-128"/>
              </a:rPr>
              <a:t>(); //print details</a:t>
            </a:r>
          </a:p>
          <a:p>
            <a:pPr>
              <a:spcBef>
                <a:spcPct val="50000"/>
              </a:spcBef>
            </a:pPr>
            <a:r>
              <a:rPr lang="en-US" altLang="en-US" sz="1800" i="1" dirty="0">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("name:	" + _name);</a:t>
            </a:r>
          </a:p>
          <a:p>
            <a:pPr>
              <a:spcBef>
                <a:spcPct val="50000"/>
              </a:spcBef>
            </a:pPr>
            <a:r>
              <a:rPr lang="en-US" altLang="en-US" sz="1800" i="1" dirty="0">
                <a:solidFill>
                  <a:srgbClr val="FF0000"/>
                </a:solidFill>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("amount	" + </a:t>
            </a:r>
            <a:r>
              <a:rPr lang="en-US" altLang="en-US" sz="1800" i="1" dirty="0" err="1">
                <a:solidFill>
                  <a:srgbClr val="FF0000"/>
                </a:solidFill>
                <a:latin typeface="Arial Unicode MS" pitchFamily="34" charset="-128"/>
                <a:ea typeface="Arial Unicode MS" pitchFamily="34" charset="-128"/>
              </a:rPr>
              <a:t>getOutstanding</a:t>
            </a:r>
            <a:r>
              <a:rPr lang="en-US" altLang="en-US" sz="1800" i="1" dirty="0">
                <a:solidFill>
                  <a:srgbClr val="FF0000"/>
                </a:solidFill>
                <a:latin typeface="Arial Unicode MS" pitchFamily="34" charset="-128"/>
                <a:ea typeface="Arial Unicode MS" pitchFamily="34" charset="-128"/>
              </a:rPr>
              <a:t>());</a:t>
            </a:r>
          </a:p>
          <a:p>
            <a:pPr>
              <a:spcBef>
                <a:spcPct val="50000"/>
              </a:spcBef>
            </a:pPr>
            <a:r>
              <a:rPr lang="en-US" altLang="en-US" sz="1800" i="1" dirty="0">
                <a:latin typeface="Arial Unicode MS" pitchFamily="34" charset="-128"/>
                <a:ea typeface="Arial Unicode MS" pitchFamily="34" charset="-128"/>
              </a:rPr>
              <a:t>}</a:t>
            </a:r>
            <a:r>
              <a:rPr lang="en-US" altLang="en-US" sz="1800" dirty="0"/>
              <a:t> </a:t>
            </a:r>
          </a:p>
        </p:txBody>
      </p:sp>
      <p:grpSp>
        <p:nvGrpSpPr>
          <p:cNvPr id="9" name="Group 8">
            <a:extLst>
              <a:ext uri="{FF2B5EF4-FFF2-40B4-BE49-F238E27FC236}">
                <a16:creationId xmlns:a16="http://schemas.microsoft.com/office/drawing/2014/main" id="{A8FDA394-A7BA-4B6F-B799-56DABD1F5F11}"/>
              </a:ext>
            </a:extLst>
          </p:cNvPr>
          <p:cNvGrpSpPr/>
          <p:nvPr/>
        </p:nvGrpSpPr>
        <p:grpSpPr>
          <a:xfrm>
            <a:off x="5411013" y="2728855"/>
            <a:ext cx="5163428" cy="3386138"/>
            <a:chOff x="3675772" y="2603452"/>
            <a:chExt cx="5163428" cy="3386138"/>
          </a:xfrm>
        </p:grpSpPr>
        <p:sp>
          <p:nvSpPr>
            <p:cNvPr id="5" name="Arrow: Right 4">
              <a:extLst>
                <a:ext uri="{FF2B5EF4-FFF2-40B4-BE49-F238E27FC236}">
                  <a16:creationId xmlns:a16="http://schemas.microsoft.com/office/drawing/2014/main" id="{93E4AFD1-8E96-4B92-9077-B9C61734EB91}"/>
                </a:ext>
              </a:extLst>
            </p:cNvPr>
            <p:cNvSpPr/>
            <p:nvPr/>
          </p:nvSpPr>
          <p:spPr>
            <a:xfrm>
              <a:off x="3675772" y="4084613"/>
              <a:ext cx="648072" cy="5040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C030F1A-1EF5-4DED-B3EA-4438FA8AC8A5}"/>
                </a:ext>
              </a:extLst>
            </p:cNvPr>
            <p:cNvGrpSpPr/>
            <p:nvPr/>
          </p:nvGrpSpPr>
          <p:grpSpPr>
            <a:xfrm>
              <a:off x="4572000" y="2603452"/>
              <a:ext cx="4267200" cy="3386138"/>
              <a:chOff x="4648200" y="2209800"/>
              <a:chExt cx="4267200" cy="3386138"/>
            </a:xfrm>
          </p:grpSpPr>
          <p:sp>
            <p:nvSpPr>
              <p:cNvPr id="7" name="Text Box 5">
                <a:extLst>
                  <a:ext uri="{FF2B5EF4-FFF2-40B4-BE49-F238E27FC236}">
                    <a16:creationId xmlns:a16="http://schemas.microsoft.com/office/drawing/2014/main" id="{C00BAD82-9106-4CB5-ACD8-805C1EDBD486}"/>
                  </a:ext>
                </a:extLst>
              </p:cNvPr>
              <p:cNvSpPr txBox="1">
                <a:spLocks noChangeArrowheads="1"/>
              </p:cNvSpPr>
              <p:nvPr/>
            </p:nvSpPr>
            <p:spPr bwMode="auto">
              <a:xfrm>
                <a:off x="4648200" y="2209800"/>
                <a:ext cx="419100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1800" i="1" dirty="0">
                    <a:latin typeface="Arial Unicode MS" pitchFamily="34" charset="-128"/>
                    <a:ea typeface="Arial Unicode MS" pitchFamily="34" charset="-128"/>
                  </a:rPr>
                  <a:t>void </a:t>
                </a:r>
                <a:r>
                  <a:rPr lang="en-US" altLang="en-US" sz="1800" i="1" dirty="0" err="1">
                    <a:latin typeface="Arial Unicode MS" pitchFamily="34" charset="-128"/>
                    <a:ea typeface="Arial Unicode MS" pitchFamily="34" charset="-128"/>
                  </a:rPr>
                  <a:t>printOwing</a:t>
                </a:r>
                <a:r>
                  <a:rPr lang="en-US" altLang="en-US" sz="1800" i="1" dirty="0">
                    <a:latin typeface="Arial Unicode MS" pitchFamily="34" charset="-128"/>
                    <a:ea typeface="Arial Unicode MS" pitchFamily="34" charset="-128"/>
                  </a:rPr>
                  <a:t>() {		</a:t>
                </a:r>
                <a:r>
                  <a:rPr lang="en-US" altLang="en-US" sz="1800" i="1" dirty="0" err="1">
                    <a:latin typeface="Arial Unicode MS" pitchFamily="34" charset="-128"/>
                    <a:ea typeface="Arial Unicode MS" pitchFamily="34" charset="-128"/>
                  </a:rPr>
                  <a:t>printBanner</a:t>
                </a:r>
                <a:r>
                  <a:rPr lang="en-US" altLang="en-US" sz="1800" i="1" dirty="0">
                    <a:latin typeface="Arial Unicode MS" pitchFamily="34" charset="-128"/>
                    <a:ea typeface="Arial Unicode MS" pitchFamily="34" charset="-128"/>
                  </a:rPr>
                  <a:t>();		</a:t>
                </a:r>
                <a:r>
                  <a:rPr lang="en-US" altLang="en-US" sz="1800" i="1" dirty="0" err="1">
                    <a:latin typeface="Arial Unicode MS" pitchFamily="34" charset="-128"/>
                    <a:ea typeface="Arial Unicode MS" pitchFamily="34" charset="-128"/>
                  </a:rPr>
                  <a:t>printDetails</a:t>
                </a:r>
                <a:r>
                  <a:rPr lang="en-US" altLang="en-US" sz="1800" i="1" dirty="0">
                    <a:latin typeface="Arial Unicode MS" pitchFamily="34" charset="-128"/>
                    <a:ea typeface="Arial Unicode MS" pitchFamily="34" charset="-128"/>
                  </a:rPr>
                  <a:t>(</a:t>
                </a:r>
                <a:r>
                  <a:rPr lang="en-US" altLang="en-US" sz="1800" i="1" dirty="0" err="1">
                    <a:latin typeface="Arial Unicode MS" pitchFamily="34" charset="-128"/>
                    <a:ea typeface="Arial Unicode MS" pitchFamily="34" charset="-128"/>
                  </a:rPr>
                  <a:t>getOutstanding</a:t>
                </a:r>
                <a:r>
                  <a:rPr lang="en-US" altLang="en-US" sz="1800" i="1" dirty="0">
                    <a:latin typeface="Arial Unicode MS" pitchFamily="34" charset="-128"/>
                    <a:ea typeface="Arial Unicode MS" pitchFamily="34" charset="-128"/>
                  </a:rPr>
                  <a:t>());</a:t>
                </a:r>
                <a:br>
                  <a:rPr lang="en-US" altLang="en-US" sz="1800" i="1" dirty="0">
                    <a:latin typeface="Arial Unicode MS" pitchFamily="34" charset="-128"/>
                    <a:ea typeface="Arial Unicode MS" pitchFamily="34" charset="-128"/>
                  </a:rPr>
                </a:br>
                <a:r>
                  <a:rPr lang="en-US" altLang="en-US" sz="1800" i="1" dirty="0">
                    <a:latin typeface="Arial Unicode MS" pitchFamily="34" charset="-128"/>
                    <a:ea typeface="Arial Unicode MS" pitchFamily="34" charset="-128"/>
                  </a:rPr>
                  <a:t>}</a:t>
                </a:r>
                <a:r>
                  <a:rPr lang="en-US" altLang="en-US" i="1" dirty="0"/>
                  <a:t> </a:t>
                </a:r>
              </a:p>
            </p:txBody>
          </p:sp>
          <p:sp>
            <p:nvSpPr>
              <p:cNvPr id="8" name="Text Box 6">
                <a:extLst>
                  <a:ext uri="{FF2B5EF4-FFF2-40B4-BE49-F238E27FC236}">
                    <a16:creationId xmlns:a16="http://schemas.microsoft.com/office/drawing/2014/main" id="{08189ABF-6DB9-4FAA-A495-3C92EC6B148D}"/>
                  </a:ext>
                </a:extLst>
              </p:cNvPr>
              <p:cNvSpPr txBox="1">
                <a:spLocks noChangeArrowheads="1"/>
              </p:cNvSpPr>
              <p:nvPr/>
            </p:nvSpPr>
            <p:spPr bwMode="auto">
              <a:xfrm>
                <a:off x="4648200" y="3581400"/>
                <a:ext cx="426720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1800" i="1" dirty="0">
                    <a:solidFill>
                      <a:srgbClr val="FF0000"/>
                    </a:solidFill>
                    <a:latin typeface="Arial Unicode MS" pitchFamily="34" charset="-128"/>
                    <a:ea typeface="Arial Unicode MS" pitchFamily="34" charset="-128"/>
                  </a:rPr>
                  <a:t>void </a:t>
                </a:r>
                <a:r>
                  <a:rPr lang="en-US" altLang="en-US" sz="1800" i="1" dirty="0" err="1">
                    <a:solidFill>
                      <a:srgbClr val="FF0000"/>
                    </a:solidFill>
                    <a:latin typeface="Arial Unicode MS" pitchFamily="34" charset="-128"/>
                    <a:ea typeface="Arial Unicode MS" pitchFamily="34" charset="-128"/>
                  </a:rPr>
                  <a:t>printDetails</a:t>
                </a:r>
                <a:r>
                  <a:rPr lang="en-US" altLang="en-US" sz="1800" i="1" dirty="0">
                    <a:solidFill>
                      <a:srgbClr val="FF0000"/>
                    </a:solidFill>
                    <a:latin typeface="Arial Unicode MS" pitchFamily="34" charset="-128"/>
                    <a:ea typeface="Arial Unicode MS" pitchFamily="34" charset="-128"/>
                  </a:rPr>
                  <a:t> (double outstanding) {</a:t>
                </a:r>
              </a:p>
              <a:p>
                <a:pPr>
                  <a:spcBef>
                    <a:spcPct val="50000"/>
                  </a:spcBef>
                </a:pPr>
                <a:r>
                  <a:rPr lang="en-US" altLang="en-US" sz="1800" i="1" dirty="0">
                    <a:solidFill>
                      <a:srgbClr val="FF0000"/>
                    </a:solidFill>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("name:" + _name);</a:t>
                </a:r>
              </a:p>
              <a:p>
                <a:pPr>
                  <a:spcBef>
                    <a:spcPct val="50000"/>
                  </a:spcBef>
                </a:pPr>
                <a:r>
                  <a:rPr lang="en-US" altLang="en-US" sz="1800" i="1" dirty="0">
                    <a:solidFill>
                      <a:srgbClr val="FF0000"/>
                    </a:solidFill>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("amount:" +   outstanding);</a:t>
                </a:r>
              </a:p>
              <a:p>
                <a:pPr>
                  <a:spcBef>
                    <a:spcPct val="50000"/>
                  </a:spcBef>
                </a:pPr>
                <a:r>
                  <a:rPr lang="en-US" altLang="en-US" sz="1800" i="1" dirty="0">
                    <a:solidFill>
                      <a:srgbClr val="FF0000"/>
                    </a:solidFill>
                    <a:cs typeface="Times New Roman" panose="02020603050405020304" pitchFamily="18" charset="0"/>
                  </a:rPr>
                  <a:t>}</a:t>
                </a:r>
                <a:r>
                  <a:rPr lang="en-US" altLang="en-US" dirty="0">
                    <a:solidFill>
                      <a:srgbClr val="FF0000"/>
                    </a:solidFill>
                  </a:rPr>
                  <a:t> </a:t>
                </a:r>
              </a:p>
            </p:txBody>
          </p:sp>
        </p:grpSp>
      </p:grpSp>
      <p:sp>
        <p:nvSpPr>
          <p:cNvPr id="10" name="TextBox 9">
            <a:extLst>
              <a:ext uri="{FF2B5EF4-FFF2-40B4-BE49-F238E27FC236}">
                <a16:creationId xmlns:a16="http://schemas.microsoft.com/office/drawing/2014/main" id="{1DA056E5-13CB-449C-838E-8F8FB19F2DB9}"/>
              </a:ext>
            </a:extLst>
          </p:cNvPr>
          <p:cNvSpPr txBox="1"/>
          <p:nvPr/>
        </p:nvSpPr>
        <p:spPr>
          <a:xfrm>
            <a:off x="1951156" y="1281325"/>
            <a:ext cx="8289689" cy="1015663"/>
          </a:xfrm>
          <a:prstGeom prst="rect">
            <a:avLst/>
          </a:prstGeom>
          <a:noFill/>
        </p:spPr>
        <p:txBody>
          <a:bodyPr wrap="square" rtlCol="0">
            <a:spAutoFit/>
          </a:bodyPr>
          <a:lstStyle/>
          <a:p>
            <a:r>
              <a:rPr lang="en-US" sz="2000" dirty="0"/>
              <a:t>If you have to spend effort looking at a fragment of code and figure out what it is doing, then you should extract it into a function/method and name it after “</a:t>
            </a:r>
            <a:r>
              <a:rPr lang="en-US" sz="2000" i="1" dirty="0"/>
              <a:t>what</a:t>
            </a:r>
            <a:r>
              <a:rPr lang="en-US" sz="2000" dirty="0"/>
              <a:t>.”</a:t>
            </a:r>
          </a:p>
        </p:txBody>
      </p:sp>
      <p:sp>
        <p:nvSpPr>
          <p:cNvPr id="3" name="Date Placeholder 2">
            <a:extLst>
              <a:ext uri="{FF2B5EF4-FFF2-40B4-BE49-F238E27FC236}">
                <a16:creationId xmlns:a16="http://schemas.microsoft.com/office/drawing/2014/main" id="{818D89B9-5F2B-0593-4250-49F691E0833B}"/>
              </a:ext>
            </a:extLst>
          </p:cNvPr>
          <p:cNvSpPr>
            <a:spLocks noGrp="1"/>
          </p:cNvSpPr>
          <p:nvPr>
            <p:ph type="dt" sz="half" idx="10"/>
          </p:nvPr>
        </p:nvSpPr>
        <p:spPr/>
        <p:txBody>
          <a:bodyPr/>
          <a:lstStyle/>
          <a:p>
            <a:fld id="{2C1A7D70-7AC9-43CA-873E-E5B216A96F6C}" type="datetime1">
              <a:rPr lang="nb-NO" smtClean="0"/>
              <a:t>05.10.2026</a:t>
            </a:fld>
            <a:endParaRPr lang="en-US" dirty="0"/>
          </a:p>
        </p:txBody>
      </p:sp>
      <p:sp>
        <p:nvSpPr>
          <p:cNvPr id="11" name="Footer Placeholder 10">
            <a:extLst>
              <a:ext uri="{FF2B5EF4-FFF2-40B4-BE49-F238E27FC236}">
                <a16:creationId xmlns:a16="http://schemas.microsoft.com/office/drawing/2014/main" id="{2516B59A-AF99-BA78-D1F3-3F5E5D997700}"/>
              </a:ext>
            </a:extLst>
          </p:cNvPr>
          <p:cNvSpPr>
            <a:spLocks noGrp="1"/>
          </p:cNvSpPr>
          <p:nvPr>
            <p:ph type="ftr" sz="quarter" idx="11"/>
          </p:nvPr>
        </p:nvSpPr>
        <p:spPr/>
        <p:txBody>
          <a:bodyPr/>
          <a:lstStyle/>
          <a:p>
            <a:r>
              <a:rPr lang="en-US"/>
              <a:t>Chapter 7.3. More on Implementation</a:t>
            </a:r>
          </a:p>
        </p:txBody>
      </p:sp>
      <p:sp>
        <p:nvSpPr>
          <p:cNvPr id="12" name="Slide Number Placeholder 11">
            <a:extLst>
              <a:ext uri="{FF2B5EF4-FFF2-40B4-BE49-F238E27FC236}">
                <a16:creationId xmlns:a16="http://schemas.microsoft.com/office/drawing/2014/main" id="{ED381017-E8E9-E1C0-9F9D-BEA69FD2AD49}"/>
              </a:ext>
            </a:extLst>
          </p:cNvPr>
          <p:cNvSpPr>
            <a:spLocks noGrp="1"/>
          </p:cNvSpPr>
          <p:nvPr>
            <p:ph type="sldNum" sz="quarter" idx="12"/>
          </p:nvPr>
        </p:nvSpPr>
        <p:spPr/>
        <p:txBody>
          <a:bodyPr/>
          <a:lstStyle/>
          <a:p>
            <a:fld id="{EC33B370-F672-B743-B3AF-248A63C17270}" type="slidenum">
              <a:rPr lang="en-US" smtClean="0"/>
              <a:pPr/>
              <a:t>28</a:t>
            </a:fld>
            <a:endParaRPr lang="en-US"/>
          </a:p>
        </p:txBody>
      </p:sp>
    </p:spTree>
    <p:extLst>
      <p:ext uri="{BB962C8B-B14F-4D97-AF65-F5344CB8AC3E}">
        <p14:creationId xmlns:p14="http://schemas.microsoft.com/office/powerpoint/2010/main" val="2933295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0369-AD21-4B22-BCD2-8CE1193AAE40}"/>
              </a:ext>
            </a:extLst>
          </p:cNvPr>
          <p:cNvSpPr>
            <a:spLocks noGrp="1"/>
          </p:cNvSpPr>
          <p:nvPr>
            <p:ph type="title"/>
          </p:nvPr>
        </p:nvSpPr>
        <p:spPr/>
        <p:txBody>
          <a:bodyPr/>
          <a:lstStyle/>
          <a:p>
            <a:r>
              <a:rPr lang="en-US" altLang="en-US"/>
              <a:t>Reduce size – shorten parameter list</a:t>
            </a:r>
            <a:endParaRPr lang="en-US"/>
          </a:p>
        </p:txBody>
      </p:sp>
      <p:sp>
        <p:nvSpPr>
          <p:cNvPr id="3" name="Content Placeholder 2">
            <a:extLst>
              <a:ext uri="{FF2B5EF4-FFF2-40B4-BE49-F238E27FC236}">
                <a16:creationId xmlns:a16="http://schemas.microsoft.com/office/drawing/2014/main" id="{AAD5F90D-AA83-4B4D-A3ED-CAA8D9CDD0F5}"/>
              </a:ext>
            </a:extLst>
          </p:cNvPr>
          <p:cNvSpPr>
            <a:spLocks noGrp="1"/>
          </p:cNvSpPr>
          <p:nvPr>
            <p:ph idx="1"/>
          </p:nvPr>
        </p:nvSpPr>
        <p:spPr/>
        <p:txBody>
          <a:bodyPr/>
          <a:lstStyle/>
          <a:p>
            <a:pPr>
              <a:lnSpc>
                <a:spcPct val="90000"/>
              </a:lnSpc>
              <a:spcBef>
                <a:spcPct val="0"/>
              </a:spcBef>
              <a:buClr>
                <a:schemeClr val="accent2"/>
              </a:buClr>
            </a:pPr>
            <a:r>
              <a:rPr lang="en-US" altLang="en-US" b="1"/>
              <a:t>Long Parameter List</a:t>
            </a:r>
          </a:p>
          <a:p>
            <a:pPr lvl="1">
              <a:lnSpc>
                <a:spcPct val="90000"/>
              </a:lnSpc>
              <a:buClr>
                <a:schemeClr val="accent2"/>
              </a:buClr>
            </a:pPr>
            <a:r>
              <a:rPr lang="en-US" altLang="en-US" sz="2400"/>
              <a:t>E.g., Introduce Parameter Object</a:t>
            </a:r>
          </a:p>
          <a:p>
            <a:endParaRPr lang="en-US"/>
          </a:p>
        </p:txBody>
      </p:sp>
      <p:pic>
        <p:nvPicPr>
          <p:cNvPr id="4" name="Picture 3">
            <a:extLst>
              <a:ext uri="{FF2B5EF4-FFF2-40B4-BE49-F238E27FC236}">
                <a16:creationId xmlns:a16="http://schemas.microsoft.com/office/drawing/2014/main" id="{CE132473-E2DD-4479-8E6B-B14924F884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577" y="3212976"/>
            <a:ext cx="7219273" cy="1685546"/>
          </a:xfrm>
          <a:prstGeom prst="rect">
            <a:avLst/>
          </a:prstGeom>
        </p:spPr>
      </p:pic>
      <p:sp>
        <p:nvSpPr>
          <p:cNvPr id="5" name="Date Placeholder 4">
            <a:extLst>
              <a:ext uri="{FF2B5EF4-FFF2-40B4-BE49-F238E27FC236}">
                <a16:creationId xmlns:a16="http://schemas.microsoft.com/office/drawing/2014/main" id="{18923BB6-3481-E1C3-D3B8-0F60BDB2C07C}"/>
              </a:ext>
            </a:extLst>
          </p:cNvPr>
          <p:cNvSpPr>
            <a:spLocks noGrp="1"/>
          </p:cNvSpPr>
          <p:nvPr>
            <p:ph type="dt" sz="half" idx="10"/>
          </p:nvPr>
        </p:nvSpPr>
        <p:spPr/>
        <p:txBody>
          <a:bodyPr/>
          <a:lstStyle/>
          <a:p>
            <a:fld id="{934E6F93-B17C-4396-AB4F-D5E0BBD9640E}" type="datetime1">
              <a:rPr lang="nb-NO" smtClean="0"/>
              <a:t>05.10.2026</a:t>
            </a:fld>
            <a:endParaRPr lang="en-US" dirty="0"/>
          </a:p>
        </p:txBody>
      </p:sp>
      <p:sp>
        <p:nvSpPr>
          <p:cNvPr id="6" name="Footer Placeholder 5">
            <a:extLst>
              <a:ext uri="{FF2B5EF4-FFF2-40B4-BE49-F238E27FC236}">
                <a16:creationId xmlns:a16="http://schemas.microsoft.com/office/drawing/2014/main" id="{539BBDCF-AB70-170F-C0E2-D2AA02A21524}"/>
              </a:ext>
            </a:extLst>
          </p:cNvPr>
          <p:cNvSpPr>
            <a:spLocks noGrp="1"/>
          </p:cNvSpPr>
          <p:nvPr>
            <p:ph type="ftr" sz="quarter" idx="11"/>
          </p:nvPr>
        </p:nvSpPr>
        <p:spPr/>
        <p:txBody>
          <a:bodyPr/>
          <a:lstStyle/>
          <a:p>
            <a:r>
              <a:rPr lang="en-US"/>
              <a:t>Chapter 7.3. More on Implementation</a:t>
            </a:r>
          </a:p>
        </p:txBody>
      </p:sp>
      <p:sp>
        <p:nvSpPr>
          <p:cNvPr id="7" name="Slide Number Placeholder 6">
            <a:extLst>
              <a:ext uri="{FF2B5EF4-FFF2-40B4-BE49-F238E27FC236}">
                <a16:creationId xmlns:a16="http://schemas.microsoft.com/office/drawing/2014/main" id="{C3446842-075D-EB98-A918-EF6348644334}"/>
              </a:ext>
            </a:extLst>
          </p:cNvPr>
          <p:cNvSpPr>
            <a:spLocks noGrp="1"/>
          </p:cNvSpPr>
          <p:nvPr>
            <p:ph type="sldNum" sz="quarter" idx="12"/>
          </p:nvPr>
        </p:nvSpPr>
        <p:spPr/>
        <p:txBody>
          <a:bodyPr/>
          <a:lstStyle/>
          <a:p>
            <a:fld id="{EC33B370-F672-B743-B3AF-248A63C17270}" type="slidenum">
              <a:rPr lang="en-US" smtClean="0"/>
              <a:pPr/>
              <a:t>29</a:t>
            </a:fld>
            <a:endParaRPr lang="en-US"/>
          </a:p>
        </p:txBody>
      </p:sp>
    </p:spTree>
    <p:extLst>
      <p:ext uri="{BB962C8B-B14F-4D97-AF65-F5344CB8AC3E}">
        <p14:creationId xmlns:p14="http://schemas.microsoft.com/office/powerpoint/2010/main" val="2293411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A9E7A-B5FA-4582-B001-EC3898127E8D}"/>
              </a:ext>
            </a:extLst>
          </p:cNvPr>
          <p:cNvSpPr>
            <a:spLocks noGrp="1"/>
          </p:cNvSpPr>
          <p:nvPr>
            <p:ph type="title"/>
          </p:nvPr>
        </p:nvSpPr>
        <p:spPr/>
        <p:txBody>
          <a:bodyPr/>
          <a:lstStyle/>
          <a:p>
            <a:pPr>
              <a:lnSpc>
                <a:spcPct val="90000"/>
              </a:lnSpc>
              <a:buClr>
                <a:schemeClr val="accent2"/>
              </a:buClr>
            </a:pPr>
            <a:r>
              <a:rPr lang="en-US" altLang="en-US" dirty="0"/>
              <a:t>Divergent Change</a:t>
            </a:r>
          </a:p>
        </p:txBody>
      </p:sp>
      <p:sp>
        <p:nvSpPr>
          <p:cNvPr id="3" name="Content Placeholder 2">
            <a:extLst>
              <a:ext uri="{FF2B5EF4-FFF2-40B4-BE49-F238E27FC236}">
                <a16:creationId xmlns:a16="http://schemas.microsoft.com/office/drawing/2014/main" id="{A3F84E9E-D847-4052-8D4F-813B55A6AC8F}"/>
              </a:ext>
            </a:extLst>
          </p:cNvPr>
          <p:cNvSpPr>
            <a:spLocks noGrp="1"/>
          </p:cNvSpPr>
          <p:nvPr>
            <p:ph idx="1"/>
          </p:nvPr>
        </p:nvSpPr>
        <p:spPr>
          <a:xfrm>
            <a:off x="1981200" y="1600200"/>
            <a:ext cx="8229600" cy="4493096"/>
          </a:xfrm>
        </p:spPr>
        <p:txBody>
          <a:bodyPr>
            <a:normAutofit/>
          </a:bodyPr>
          <a:lstStyle/>
          <a:p>
            <a:pPr>
              <a:lnSpc>
                <a:spcPct val="90000"/>
              </a:lnSpc>
              <a:spcBef>
                <a:spcPct val="0"/>
              </a:spcBef>
              <a:buClr>
                <a:schemeClr val="accent2"/>
              </a:buClr>
            </a:pPr>
            <a:r>
              <a:rPr lang="en-US" altLang="en-US" b="1" dirty="0"/>
              <a:t>Code smell</a:t>
            </a:r>
          </a:p>
          <a:p>
            <a:pPr lvl="1">
              <a:lnSpc>
                <a:spcPct val="90000"/>
              </a:lnSpc>
              <a:buClr>
                <a:schemeClr val="accent2"/>
              </a:buClr>
            </a:pPr>
            <a:r>
              <a:rPr lang="en-US" sz="2400" dirty="0"/>
              <a:t>One module is often changed in different ways for </a:t>
            </a:r>
            <a:r>
              <a:rPr lang="en-US" sz="2400" dirty="0">
                <a:solidFill>
                  <a:srgbClr val="FF0000"/>
                </a:solidFill>
              </a:rPr>
              <a:t>different reasons</a:t>
            </a:r>
            <a:r>
              <a:rPr lang="en-US" sz="2400" dirty="0"/>
              <a:t>.</a:t>
            </a:r>
            <a:endParaRPr lang="en-US" altLang="en-US" sz="2400" dirty="0"/>
          </a:p>
          <a:p>
            <a:pPr lvl="1">
              <a:lnSpc>
                <a:spcPct val="90000"/>
              </a:lnSpc>
              <a:buClr>
                <a:schemeClr val="accent2"/>
              </a:buClr>
            </a:pPr>
            <a:r>
              <a:rPr lang="en-US" altLang="en-US" sz="2400" dirty="0"/>
              <a:t>Classes have more than distinct responsibilities that it </a:t>
            </a:r>
            <a:r>
              <a:rPr lang="en-US" altLang="en-US" sz="2400" dirty="0">
                <a:solidFill>
                  <a:srgbClr val="FF0000"/>
                </a:solidFill>
              </a:rPr>
              <a:t>has more than one reason to change</a:t>
            </a:r>
          </a:p>
          <a:p>
            <a:pPr lvl="1">
              <a:lnSpc>
                <a:spcPct val="90000"/>
              </a:lnSpc>
              <a:buClr>
                <a:schemeClr val="accent2"/>
              </a:buClr>
            </a:pPr>
            <a:r>
              <a:rPr lang="en-US" altLang="en-US" sz="2400" dirty="0"/>
              <a:t>Violation of </a:t>
            </a:r>
            <a:r>
              <a:rPr lang="en-US" altLang="en-US" sz="2400" dirty="0">
                <a:solidFill>
                  <a:srgbClr val="FF0000"/>
                </a:solidFill>
              </a:rPr>
              <a:t>single responsibility design </a:t>
            </a:r>
            <a:r>
              <a:rPr lang="en-US" altLang="en-US" sz="2400" dirty="0"/>
              <a:t>principle</a:t>
            </a:r>
          </a:p>
          <a:p>
            <a:pPr>
              <a:lnSpc>
                <a:spcPct val="90000"/>
              </a:lnSpc>
              <a:buClr>
                <a:schemeClr val="accent2"/>
              </a:buClr>
            </a:pPr>
            <a:r>
              <a:rPr lang="en-US" altLang="en-US" sz="2800" b="1" dirty="0"/>
              <a:t>Refactoring</a:t>
            </a:r>
          </a:p>
          <a:p>
            <a:pPr lvl="1">
              <a:lnSpc>
                <a:spcPct val="90000"/>
              </a:lnSpc>
              <a:buClr>
                <a:schemeClr val="accent2"/>
              </a:buClr>
            </a:pPr>
            <a:r>
              <a:rPr lang="en-US" altLang="en-US" sz="2400" dirty="0"/>
              <a:t>You identify everything that changes for a particular cause and put them all together</a:t>
            </a:r>
            <a:endParaRPr lang="en-US" altLang="en-US" b="1" dirty="0"/>
          </a:p>
          <a:p>
            <a:pPr marL="0" indent="0">
              <a:buNone/>
            </a:pPr>
            <a:endParaRPr lang="en-US" dirty="0"/>
          </a:p>
        </p:txBody>
      </p:sp>
      <p:sp>
        <p:nvSpPr>
          <p:cNvPr id="4" name="Date Placeholder 3">
            <a:extLst>
              <a:ext uri="{FF2B5EF4-FFF2-40B4-BE49-F238E27FC236}">
                <a16:creationId xmlns:a16="http://schemas.microsoft.com/office/drawing/2014/main" id="{CCD6D587-12B2-07FF-E158-39A6CCF836D0}"/>
              </a:ext>
            </a:extLst>
          </p:cNvPr>
          <p:cNvSpPr>
            <a:spLocks noGrp="1"/>
          </p:cNvSpPr>
          <p:nvPr>
            <p:ph type="dt" sz="half" idx="10"/>
          </p:nvPr>
        </p:nvSpPr>
        <p:spPr/>
        <p:txBody>
          <a:bodyPr/>
          <a:lstStyle/>
          <a:p>
            <a:fld id="{16217CDC-60E5-480F-B542-779037833443}" type="datetime1">
              <a:rPr lang="nb-NO" smtClean="0"/>
              <a:t>05.10.2026</a:t>
            </a:fld>
            <a:endParaRPr lang="en-US" dirty="0"/>
          </a:p>
        </p:txBody>
      </p:sp>
      <p:sp>
        <p:nvSpPr>
          <p:cNvPr id="5" name="Footer Placeholder 4">
            <a:extLst>
              <a:ext uri="{FF2B5EF4-FFF2-40B4-BE49-F238E27FC236}">
                <a16:creationId xmlns:a16="http://schemas.microsoft.com/office/drawing/2014/main" id="{B6885BC1-0C48-18FE-EE8B-4B739B691670}"/>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8D1CAD94-4106-C07B-B5FB-A8359E1A0218}"/>
              </a:ext>
            </a:extLst>
          </p:cNvPr>
          <p:cNvSpPr>
            <a:spLocks noGrp="1"/>
          </p:cNvSpPr>
          <p:nvPr>
            <p:ph type="sldNum" sz="quarter" idx="12"/>
          </p:nvPr>
        </p:nvSpPr>
        <p:spPr/>
        <p:txBody>
          <a:bodyPr/>
          <a:lstStyle/>
          <a:p>
            <a:fld id="{EC33B370-F672-B743-B3AF-248A63C17270}" type="slidenum">
              <a:rPr lang="en-US" smtClean="0"/>
              <a:pPr/>
              <a:t>30</a:t>
            </a:fld>
            <a:endParaRPr lang="en-US"/>
          </a:p>
        </p:txBody>
      </p:sp>
    </p:spTree>
    <p:extLst>
      <p:ext uri="{BB962C8B-B14F-4D97-AF65-F5344CB8AC3E}">
        <p14:creationId xmlns:p14="http://schemas.microsoft.com/office/powerpoint/2010/main" val="2016155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813D5-B5EF-4594-A1B3-A2CF1206C8B9}"/>
              </a:ext>
            </a:extLst>
          </p:cNvPr>
          <p:cNvSpPr>
            <a:spLocks noGrp="1"/>
          </p:cNvSpPr>
          <p:nvPr>
            <p:ph type="title"/>
          </p:nvPr>
        </p:nvSpPr>
        <p:spPr/>
        <p:txBody>
          <a:bodyPr/>
          <a:lstStyle/>
          <a:p>
            <a:r>
              <a:rPr lang="en-US"/>
              <a:t>Increase cohesion</a:t>
            </a:r>
          </a:p>
        </p:txBody>
      </p:sp>
      <p:sp>
        <p:nvSpPr>
          <p:cNvPr id="3" name="Content Placeholder 2">
            <a:extLst>
              <a:ext uri="{FF2B5EF4-FFF2-40B4-BE49-F238E27FC236}">
                <a16:creationId xmlns:a16="http://schemas.microsoft.com/office/drawing/2014/main" id="{15137D5F-C6B7-474F-9524-D473E4D69598}"/>
              </a:ext>
            </a:extLst>
          </p:cNvPr>
          <p:cNvSpPr>
            <a:spLocks noGrp="1"/>
          </p:cNvSpPr>
          <p:nvPr>
            <p:ph idx="1"/>
          </p:nvPr>
        </p:nvSpPr>
        <p:spPr>
          <a:xfrm>
            <a:off x="1981200" y="1600202"/>
            <a:ext cx="8229600" cy="1972815"/>
          </a:xfrm>
        </p:spPr>
        <p:txBody>
          <a:bodyPr>
            <a:normAutofit lnSpcReduction="10000"/>
          </a:bodyPr>
          <a:lstStyle/>
          <a:p>
            <a:pPr>
              <a:lnSpc>
                <a:spcPct val="90000"/>
              </a:lnSpc>
              <a:spcBef>
                <a:spcPct val="0"/>
              </a:spcBef>
              <a:buClr>
                <a:schemeClr val="accent2"/>
              </a:buClr>
            </a:pPr>
            <a:r>
              <a:rPr lang="en-US" b="1"/>
              <a:t>Feature envy</a:t>
            </a:r>
          </a:p>
          <a:p>
            <a:pPr lvl="1">
              <a:lnSpc>
                <a:spcPct val="90000"/>
              </a:lnSpc>
              <a:buClr>
                <a:schemeClr val="accent2"/>
              </a:buClr>
            </a:pPr>
            <a:r>
              <a:rPr lang="en-US" sz="2400"/>
              <a:t>A function in one module spends more time communicating with functions or data inside another module than it does within its own module.</a:t>
            </a:r>
          </a:p>
          <a:p>
            <a:pPr lvl="1">
              <a:lnSpc>
                <a:spcPct val="90000"/>
              </a:lnSpc>
              <a:buClr>
                <a:schemeClr val="accent2"/>
              </a:buClr>
            </a:pPr>
            <a:r>
              <a:rPr lang="en-US" sz="2400"/>
              <a:t>Move function to give it a dream home</a:t>
            </a:r>
          </a:p>
          <a:p>
            <a:pPr marL="457200" lvl="1" indent="0">
              <a:buClr>
                <a:schemeClr val="accent2"/>
              </a:buClr>
              <a:buNone/>
            </a:pPr>
            <a:endParaRPr lang="en-US" sz="2400"/>
          </a:p>
          <a:p>
            <a:pPr marL="457200" lvl="1" indent="0">
              <a:buClr>
                <a:schemeClr val="accent2"/>
              </a:buClr>
              <a:buNone/>
            </a:pPr>
            <a:endParaRPr lang="en-US" sz="2400" b="1"/>
          </a:p>
        </p:txBody>
      </p:sp>
      <p:pic>
        <p:nvPicPr>
          <p:cNvPr id="10" name="Picture 9">
            <a:extLst>
              <a:ext uri="{FF2B5EF4-FFF2-40B4-BE49-F238E27FC236}">
                <a16:creationId xmlns:a16="http://schemas.microsoft.com/office/drawing/2014/main" id="{EDD1DFA2-E18F-40E0-8380-82036071D90C}"/>
              </a:ext>
            </a:extLst>
          </p:cNvPr>
          <p:cNvPicPr>
            <a:picLocks noChangeAspect="1"/>
          </p:cNvPicPr>
          <p:nvPr/>
        </p:nvPicPr>
        <p:blipFill>
          <a:blip r:embed="rId3"/>
          <a:stretch>
            <a:fillRect/>
          </a:stretch>
        </p:blipFill>
        <p:spPr>
          <a:xfrm>
            <a:off x="1630290" y="3597654"/>
            <a:ext cx="4470187" cy="2794361"/>
          </a:xfrm>
          <a:prstGeom prst="rect">
            <a:avLst/>
          </a:prstGeom>
        </p:spPr>
      </p:pic>
      <p:grpSp>
        <p:nvGrpSpPr>
          <p:cNvPr id="13" name="Group 12">
            <a:extLst>
              <a:ext uri="{FF2B5EF4-FFF2-40B4-BE49-F238E27FC236}">
                <a16:creationId xmlns:a16="http://schemas.microsoft.com/office/drawing/2014/main" id="{774EFB6D-3661-413C-8C8D-3107C319C82C}"/>
              </a:ext>
            </a:extLst>
          </p:cNvPr>
          <p:cNvGrpSpPr/>
          <p:nvPr/>
        </p:nvGrpSpPr>
        <p:grpSpPr>
          <a:xfrm>
            <a:off x="5843973" y="3803009"/>
            <a:ext cx="4470187" cy="2191140"/>
            <a:chOff x="4319972" y="3803009"/>
            <a:chExt cx="4470187" cy="2191140"/>
          </a:xfrm>
        </p:grpSpPr>
        <p:sp>
          <p:nvSpPr>
            <p:cNvPr id="11" name="Arrow: Right 10">
              <a:extLst>
                <a:ext uri="{FF2B5EF4-FFF2-40B4-BE49-F238E27FC236}">
                  <a16:creationId xmlns:a16="http://schemas.microsoft.com/office/drawing/2014/main" id="{8E5D43DF-93EB-4069-BE35-D4C226F02442}"/>
                </a:ext>
              </a:extLst>
            </p:cNvPr>
            <p:cNvSpPr/>
            <p:nvPr/>
          </p:nvSpPr>
          <p:spPr>
            <a:xfrm>
              <a:off x="4319972" y="4725144"/>
              <a:ext cx="504056" cy="43204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932A522-0332-47AC-8598-E52B6A43ED9D}"/>
                </a:ext>
              </a:extLst>
            </p:cNvPr>
            <p:cNvPicPr>
              <a:picLocks noChangeAspect="1"/>
            </p:cNvPicPr>
            <p:nvPr/>
          </p:nvPicPr>
          <p:blipFill>
            <a:blip r:embed="rId4"/>
            <a:stretch>
              <a:fillRect/>
            </a:stretch>
          </p:blipFill>
          <p:spPr>
            <a:xfrm>
              <a:off x="4811204" y="3803009"/>
              <a:ext cx="3978955" cy="2191140"/>
            </a:xfrm>
            <a:prstGeom prst="rect">
              <a:avLst/>
            </a:prstGeom>
          </p:spPr>
        </p:pic>
      </p:grpSp>
      <p:sp>
        <p:nvSpPr>
          <p:cNvPr id="14" name="Rectangle 13">
            <a:extLst>
              <a:ext uri="{FF2B5EF4-FFF2-40B4-BE49-F238E27FC236}">
                <a16:creationId xmlns:a16="http://schemas.microsoft.com/office/drawing/2014/main" id="{5FFA6498-7369-4E5F-90A2-D3117A7C2042}"/>
              </a:ext>
            </a:extLst>
          </p:cNvPr>
          <p:cNvSpPr/>
          <p:nvPr/>
        </p:nvSpPr>
        <p:spPr>
          <a:xfrm>
            <a:off x="2011787" y="6047319"/>
            <a:ext cx="8412109" cy="369332"/>
          </a:xfrm>
          <a:prstGeom prst="rect">
            <a:avLst/>
          </a:prstGeom>
        </p:spPr>
        <p:txBody>
          <a:bodyPr wrap="square">
            <a:spAutoFit/>
          </a:bodyPr>
          <a:lstStyle/>
          <a:p>
            <a:r>
              <a:rPr lang="en-US" dirty="0"/>
              <a:t>https://</a:t>
            </a:r>
            <a:r>
              <a:rPr lang="en-US" dirty="0" err="1"/>
              <a:t>waog.wordpress.com</a:t>
            </a:r>
            <a:r>
              <a:rPr lang="en-US" dirty="0"/>
              <a:t>/2014/08/25/code-smell-feature-envy/</a:t>
            </a:r>
          </a:p>
        </p:txBody>
      </p:sp>
      <p:sp>
        <p:nvSpPr>
          <p:cNvPr id="4" name="Date Placeholder 3">
            <a:extLst>
              <a:ext uri="{FF2B5EF4-FFF2-40B4-BE49-F238E27FC236}">
                <a16:creationId xmlns:a16="http://schemas.microsoft.com/office/drawing/2014/main" id="{2F9978C2-D57D-8C8D-3032-ADA4E226AA27}"/>
              </a:ext>
            </a:extLst>
          </p:cNvPr>
          <p:cNvSpPr>
            <a:spLocks noGrp="1"/>
          </p:cNvSpPr>
          <p:nvPr>
            <p:ph type="dt" sz="half" idx="10"/>
          </p:nvPr>
        </p:nvSpPr>
        <p:spPr/>
        <p:txBody>
          <a:bodyPr/>
          <a:lstStyle/>
          <a:p>
            <a:fld id="{8F1443D1-1579-4A4B-B12E-7B4FC0880465}" type="datetime1">
              <a:rPr lang="nb-NO" smtClean="0"/>
              <a:t>05.10.2026</a:t>
            </a:fld>
            <a:endParaRPr lang="en-US" dirty="0"/>
          </a:p>
        </p:txBody>
      </p:sp>
      <p:sp>
        <p:nvSpPr>
          <p:cNvPr id="5" name="Footer Placeholder 4">
            <a:extLst>
              <a:ext uri="{FF2B5EF4-FFF2-40B4-BE49-F238E27FC236}">
                <a16:creationId xmlns:a16="http://schemas.microsoft.com/office/drawing/2014/main" id="{A5245589-5899-5E99-60BF-846DEBCC977B}"/>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186A6044-A3A0-D6FA-2070-7F1502FC5BF3}"/>
              </a:ext>
            </a:extLst>
          </p:cNvPr>
          <p:cNvSpPr>
            <a:spLocks noGrp="1"/>
          </p:cNvSpPr>
          <p:nvPr>
            <p:ph type="sldNum" sz="quarter" idx="12"/>
          </p:nvPr>
        </p:nvSpPr>
        <p:spPr/>
        <p:txBody>
          <a:bodyPr/>
          <a:lstStyle/>
          <a:p>
            <a:fld id="{EC33B370-F672-B743-B3AF-248A63C17270}" type="slidenum">
              <a:rPr lang="en-US" smtClean="0"/>
              <a:pPr/>
              <a:t>31</a:t>
            </a:fld>
            <a:endParaRPr lang="en-US"/>
          </a:p>
        </p:txBody>
      </p:sp>
    </p:spTree>
    <p:extLst>
      <p:ext uri="{BB962C8B-B14F-4D97-AF65-F5344CB8AC3E}">
        <p14:creationId xmlns:p14="http://schemas.microsoft.com/office/powerpoint/2010/main" val="1443680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813D5-B5EF-4594-A1B3-A2CF1206C8B9}"/>
              </a:ext>
            </a:extLst>
          </p:cNvPr>
          <p:cNvSpPr>
            <a:spLocks noGrp="1"/>
          </p:cNvSpPr>
          <p:nvPr>
            <p:ph type="title"/>
          </p:nvPr>
        </p:nvSpPr>
        <p:spPr/>
        <p:txBody>
          <a:bodyPr/>
          <a:lstStyle/>
          <a:p>
            <a:r>
              <a:rPr lang="en-US"/>
              <a:t>Increase cohesion (</a:t>
            </a:r>
            <a:r>
              <a:rPr lang="en-US" err="1"/>
              <a:t>Cont</a:t>
            </a:r>
            <a:r>
              <a:rPr lang="en-US"/>
              <a:t>’)</a:t>
            </a:r>
          </a:p>
        </p:txBody>
      </p:sp>
      <p:sp>
        <p:nvSpPr>
          <p:cNvPr id="4" name="Rectangle 3">
            <a:extLst>
              <a:ext uri="{FF2B5EF4-FFF2-40B4-BE49-F238E27FC236}">
                <a16:creationId xmlns:a16="http://schemas.microsoft.com/office/drawing/2014/main" id="{02B2FB16-CD19-43D9-A2DD-7B0FC5185C27}"/>
              </a:ext>
            </a:extLst>
          </p:cNvPr>
          <p:cNvSpPr/>
          <p:nvPr/>
        </p:nvSpPr>
        <p:spPr>
          <a:xfrm>
            <a:off x="1703512" y="3789040"/>
            <a:ext cx="4104456" cy="100811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a:solidFill>
                  <a:schemeClr val="tx1"/>
                </a:solidFill>
              </a:rPr>
              <a:t>int low = </a:t>
            </a:r>
            <a:r>
              <a:rPr lang="en-US" err="1">
                <a:solidFill>
                  <a:srgbClr val="FF0000"/>
                </a:solidFill>
              </a:rPr>
              <a:t>daysTempRange</a:t>
            </a:r>
            <a:r>
              <a:rPr lang="en-US">
                <a:solidFill>
                  <a:srgbClr val="FF0000"/>
                </a:solidFill>
              </a:rPr>
              <a:t>().</a:t>
            </a:r>
            <a:r>
              <a:rPr lang="en-US" err="1">
                <a:solidFill>
                  <a:srgbClr val="FF0000"/>
                </a:solidFill>
              </a:rPr>
              <a:t>getLow</a:t>
            </a:r>
            <a:r>
              <a:rPr lang="en-US">
                <a:solidFill>
                  <a:srgbClr val="FF0000"/>
                </a:solidFill>
              </a:rPr>
              <a:t>();</a:t>
            </a:r>
          </a:p>
          <a:p>
            <a:r>
              <a:rPr lang="en-US">
                <a:solidFill>
                  <a:schemeClr val="tx1"/>
                </a:solidFill>
              </a:rPr>
              <a:t>int high = </a:t>
            </a:r>
            <a:r>
              <a:rPr lang="en-US" err="1">
                <a:solidFill>
                  <a:srgbClr val="FF0000"/>
                </a:solidFill>
              </a:rPr>
              <a:t>daysTempRange</a:t>
            </a:r>
            <a:r>
              <a:rPr lang="en-US">
                <a:solidFill>
                  <a:srgbClr val="FF0000"/>
                </a:solidFill>
              </a:rPr>
              <a:t>().</a:t>
            </a:r>
            <a:r>
              <a:rPr lang="en-US" err="1">
                <a:solidFill>
                  <a:srgbClr val="FF0000"/>
                </a:solidFill>
              </a:rPr>
              <a:t>getHigh</a:t>
            </a:r>
            <a:r>
              <a:rPr lang="en-US">
                <a:solidFill>
                  <a:srgbClr val="FF0000"/>
                </a:solidFill>
              </a:rPr>
              <a:t>();</a:t>
            </a:r>
          </a:p>
          <a:p>
            <a:r>
              <a:rPr lang="en-US" err="1">
                <a:solidFill>
                  <a:schemeClr val="tx1"/>
                </a:solidFill>
              </a:rPr>
              <a:t>withinPlan</a:t>
            </a:r>
            <a:r>
              <a:rPr lang="en-US">
                <a:solidFill>
                  <a:schemeClr val="tx1"/>
                </a:solidFill>
              </a:rPr>
              <a:t> = </a:t>
            </a:r>
            <a:r>
              <a:rPr lang="en-US" err="1">
                <a:solidFill>
                  <a:schemeClr val="tx1"/>
                </a:solidFill>
              </a:rPr>
              <a:t>plan.withinRange</a:t>
            </a:r>
            <a:r>
              <a:rPr lang="en-US">
                <a:solidFill>
                  <a:schemeClr val="tx1"/>
                </a:solidFill>
              </a:rPr>
              <a:t>(low, high);</a:t>
            </a:r>
          </a:p>
        </p:txBody>
      </p:sp>
      <p:grpSp>
        <p:nvGrpSpPr>
          <p:cNvPr id="8" name="Group 7">
            <a:extLst>
              <a:ext uri="{FF2B5EF4-FFF2-40B4-BE49-F238E27FC236}">
                <a16:creationId xmlns:a16="http://schemas.microsoft.com/office/drawing/2014/main" id="{B7103D37-B985-453F-8171-7A874389C2B8}"/>
              </a:ext>
            </a:extLst>
          </p:cNvPr>
          <p:cNvGrpSpPr/>
          <p:nvPr/>
        </p:nvGrpSpPr>
        <p:grpSpPr>
          <a:xfrm>
            <a:off x="5807968" y="3796262"/>
            <a:ext cx="4608512" cy="1008112"/>
            <a:chOff x="4283968" y="5445224"/>
            <a:chExt cx="4608512" cy="1008112"/>
          </a:xfrm>
        </p:grpSpPr>
        <p:sp>
          <p:nvSpPr>
            <p:cNvPr id="5" name="Arrow: Right 4">
              <a:extLst>
                <a:ext uri="{FF2B5EF4-FFF2-40B4-BE49-F238E27FC236}">
                  <a16:creationId xmlns:a16="http://schemas.microsoft.com/office/drawing/2014/main" id="{311FC723-AB42-4685-8D85-6791781CE8F1}"/>
                </a:ext>
              </a:extLst>
            </p:cNvPr>
            <p:cNvSpPr/>
            <p:nvPr/>
          </p:nvSpPr>
          <p:spPr>
            <a:xfrm>
              <a:off x="4283968" y="5733256"/>
              <a:ext cx="504056" cy="43204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BC628C4-8752-40A3-916A-14D33AA7CF83}"/>
                </a:ext>
              </a:extLst>
            </p:cNvPr>
            <p:cNvSpPr/>
            <p:nvPr/>
          </p:nvSpPr>
          <p:spPr>
            <a:xfrm>
              <a:off x="4788024" y="5445224"/>
              <a:ext cx="4104456" cy="100811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dirty="0" err="1">
                  <a:solidFill>
                    <a:schemeClr val="tx1"/>
                  </a:solidFill>
                </a:rPr>
                <a:t>withinPlan</a:t>
              </a:r>
              <a:r>
                <a:rPr lang="en-US" dirty="0">
                  <a:solidFill>
                    <a:schemeClr val="tx1"/>
                  </a:solidFill>
                </a:rPr>
                <a:t> = </a:t>
              </a:r>
              <a:r>
                <a:rPr lang="en-US" dirty="0" err="1">
                  <a:solidFill>
                    <a:schemeClr val="tx1"/>
                  </a:solidFill>
                </a:rPr>
                <a:t>plan.withinRange</a:t>
              </a:r>
              <a:r>
                <a:rPr lang="en-US" dirty="0">
                  <a:solidFill>
                    <a:schemeClr val="tx1"/>
                  </a:solidFill>
                </a:rPr>
                <a:t>(</a:t>
              </a:r>
              <a:r>
                <a:rPr lang="en-US" dirty="0" err="1">
                  <a:solidFill>
                    <a:srgbClr val="FF0000"/>
                  </a:solidFill>
                </a:rPr>
                <a:t>daysTempRange</a:t>
              </a:r>
              <a:r>
                <a:rPr lang="en-US" dirty="0">
                  <a:solidFill>
                    <a:srgbClr val="FF0000"/>
                  </a:solidFill>
                </a:rPr>
                <a:t>()</a:t>
              </a:r>
              <a:r>
                <a:rPr lang="en-US" dirty="0">
                  <a:solidFill>
                    <a:schemeClr val="tx1"/>
                  </a:solidFill>
                </a:rPr>
                <a:t>);</a:t>
              </a:r>
            </a:p>
          </p:txBody>
        </p:sp>
      </p:grpSp>
      <p:sp>
        <p:nvSpPr>
          <p:cNvPr id="7" name="Rectangle 6">
            <a:extLst>
              <a:ext uri="{FF2B5EF4-FFF2-40B4-BE49-F238E27FC236}">
                <a16:creationId xmlns:a16="http://schemas.microsoft.com/office/drawing/2014/main" id="{1BBC4C4F-5DC5-4105-B5C9-E05B951B6814}"/>
              </a:ext>
            </a:extLst>
          </p:cNvPr>
          <p:cNvSpPr/>
          <p:nvPr/>
        </p:nvSpPr>
        <p:spPr>
          <a:xfrm>
            <a:off x="2001148" y="1743923"/>
            <a:ext cx="8280920" cy="1569660"/>
          </a:xfrm>
          <a:prstGeom prst="rect">
            <a:avLst/>
          </a:prstGeom>
        </p:spPr>
        <p:txBody>
          <a:bodyPr wrap="square">
            <a:spAutoFit/>
          </a:bodyPr>
          <a:lstStyle/>
          <a:p>
            <a:pPr marL="342900" indent="-342900">
              <a:lnSpc>
                <a:spcPct val="90000"/>
              </a:lnSpc>
              <a:buClr>
                <a:schemeClr val="accent2"/>
              </a:buClr>
              <a:buFont typeface="Arial" panose="020B0604020202020204" pitchFamily="34" charset="0"/>
              <a:buChar char="•"/>
            </a:pPr>
            <a:r>
              <a:rPr lang="en-US" sz="2400" b="1">
                <a:latin typeface="Arial"/>
                <a:cs typeface="Arial"/>
              </a:rPr>
              <a:t>Data clumps</a:t>
            </a:r>
          </a:p>
          <a:p>
            <a:pPr marL="742950" lvl="1" indent="-285750">
              <a:lnSpc>
                <a:spcPct val="90000"/>
              </a:lnSpc>
              <a:spcBef>
                <a:spcPct val="20000"/>
              </a:spcBef>
              <a:buClr>
                <a:schemeClr val="accent2"/>
              </a:buClr>
              <a:buFont typeface="Arial" panose="020B0604020202020204" pitchFamily="34" charset="0"/>
              <a:buChar char="–"/>
            </a:pPr>
            <a:r>
              <a:rPr lang="en-US" sz="2400">
                <a:latin typeface="Arial"/>
                <a:cs typeface="Arial"/>
              </a:rPr>
              <a:t>Bunches of data often hang around together</a:t>
            </a:r>
          </a:p>
          <a:p>
            <a:pPr marL="742950" lvl="1" indent="-285750">
              <a:lnSpc>
                <a:spcPct val="90000"/>
              </a:lnSpc>
              <a:spcBef>
                <a:spcPct val="20000"/>
              </a:spcBef>
              <a:buClr>
                <a:schemeClr val="accent2"/>
              </a:buClr>
              <a:buFont typeface="Arial" panose="020B0604020202020204" pitchFamily="34" charset="0"/>
              <a:buChar char="–"/>
            </a:pPr>
            <a:r>
              <a:rPr lang="en-US" sz="2400">
                <a:latin typeface="Arial"/>
                <a:cs typeface="Arial"/>
              </a:rPr>
              <a:t>Consolidate the data together, e.g., </a:t>
            </a:r>
            <a:r>
              <a:rPr lang="en-US" altLang="en-US" sz="2400">
                <a:latin typeface="Arial"/>
                <a:cs typeface="Arial"/>
              </a:rPr>
              <a:t>Introduce Parameter Object or </a:t>
            </a:r>
            <a:r>
              <a:rPr lang="en-US" sz="2400">
                <a:latin typeface="Arial"/>
                <a:cs typeface="Arial"/>
              </a:rPr>
              <a:t>Preserve Whole Object</a:t>
            </a:r>
            <a:endParaRPr lang="en-US" altLang="en-US" sz="2400">
              <a:latin typeface="Arial"/>
              <a:cs typeface="Arial"/>
            </a:endParaRPr>
          </a:p>
        </p:txBody>
      </p:sp>
      <p:sp>
        <p:nvSpPr>
          <p:cNvPr id="3" name="Date Placeholder 2">
            <a:extLst>
              <a:ext uri="{FF2B5EF4-FFF2-40B4-BE49-F238E27FC236}">
                <a16:creationId xmlns:a16="http://schemas.microsoft.com/office/drawing/2014/main" id="{BB3386F7-1407-7C62-2762-A05A1C0C214E}"/>
              </a:ext>
            </a:extLst>
          </p:cNvPr>
          <p:cNvSpPr>
            <a:spLocks noGrp="1"/>
          </p:cNvSpPr>
          <p:nvPr>
            <p:ph type="dt" sz="half" idx="10"/>
          </p:nvPr>
        </p:nvSpPr>
        <p:spPr/>
        <p:txBody>
          <a:bodyPr/>
          <a:lstStyle/>
          <a:p>
            <a:fld id="{43258E2F-8DA4-43DE-BB58-47E2083180AC}" type="datetime1">
              <a:rPr lang="nb-NO" smtClean="0"/>
              <a:t>05.10.2026</a:t>
            </a:fld>
            <a:endParaRPr lang="en-US" dirty="0"/>
          </a:p>
        </p:txBody>
      </p:sp>
      <p:sp>
        <p:nvSpPr>
          <p:cNvPr id="9" name="Footer Placeholder 8">
            <a:extLst>
              <a:ext uri="{FF2B5EF4-FFF2-40B4-BE49-F238E27FC236}">
                <a16:creationId xmlns:a16="http://schemas.microsoft.com/office/drawing/2014/main" id="{3EAC6DAD-DCB7-6B40-055B-4B9921D54BC2}"/>
              </a:ext>
            </a:extLst>
          </p:cNvPr>
          <p:cNvSpPr>
            <a:spLocks noGrp="1"/>
          </p:cNvSpPr>
          <p:nvPr>
            <p:ph type="ftr" sz="quarter" idx="11"/>
          </p:nvPr>
        </p:nvSpPr>
        <p:spPr/>
        <p:txBody>
          <a:bodyPr/>
          <a:lstStyle/>
          <a:p>
            <a:r>
              <a:rPr lang="en-US"/>
              <a:t>Chapter 7.3. More on Implementation</a:t>
            </a:r>
          </a:p>
        </p:txBody>
      </p:sp>
      <p:sp>
        <p:nvSpPr>
          <p:cNvPr id="10" name="Slide Number Placeholder 9">
            <a:extLst>
              <a:ext uri="{FF2B5EF4-FFF2-40B4-BE49-F238E27FC236}">
                <a16:creationId xmlns:a16="http://schemas.microsoft.com/office/drawing/2014/main" id="{745758EF-5FBF-11D9-1858-287F652F6209}"/>
              </a:ext>
            </a:extLst>
          </p:cNvPr>
          <p:cNvSpPr>
            <a:spLocks noGrp="1"/>
          </p:cNvSpPr>
          <p:nvPr>
            <p:ph type="sldNum" sz="quarter" idx="12"/>
          </p:nvPr>
        </p:nvSpPr>
        <p:spPr/>
        <p:txBody>
          <a:bodyPr/>
          <a:lstStyle/>
          <a:p>
            <a:fld id="{EC33B370-F672-B743-B3AF-248A63C17270}" type="slidenum">
              <a:rPr lang="en-US" smtClean="0"/>
              <a:pPr/>
              <a:t>32</a:t>
            </a:fld>
            <a:endParaRPr lang="en-US"/>
          </a:p>
        </p:txBody>
      </p:sp>
    </p:spTree>
    <p:extLst>
      <p:ext uri="{BB962C8B-B14F-4D97-AF65-F5344CB8AC3E}">
        <p14:creationId xmlns:p14="http://schemas.microsoft.com/office/powerpoint/2010/main" val="549242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AC4B-7A35-43D3-9C28-9C4AA11ACF14}"/>
              </a:ext>
            </a:extLst>
          </p:cNvPr>
          <p:cNvSpPr>
            <a:spLocks noGrp="1"/>
          </p:cNvSpPr>
          <p:nvPr>
            <p:ph type="title"/>
          </p:nvPr>
        </p:nvSpPr>
        <p:spPr/>
        <p:txBody>
          <a:bodyPr/>
          <a:lstStyle/>
          <a:p>
            <a:r>
              <a:rPr lang="en-US" altLang="en-US"/>
              <a:t>Primitive Obsession</a:t>
            </a:r>
            <a:endParaRPr lang="en-US"/>
          </a:p>
        </p:txBody>
      </p:sp>
      <p:sp>
        <p:nvSpPr>
          <p:cNvPr id="3" name="Content Placeholder 2">
            <a:extLst>
              <a:ext uri="{FF2B5EF4-FFF2-40B4-BE49-F238E27FC236}">
                <a16:creationId xmlns:a16="http://schemas.microsoft.com/office/drawing/2014/main" id="{F47682E6-397E-4F23-B704-28DD0DBF2510}"/>
              </a:ext>
            </a:extLst>
          </p:cNvPr>
          <p:cNvSpPr>
            <a:spLocks noGrp="1"/>
          </p:cNvSpPr>
          <p:nvPr>
            <p:ph idx="1"/>
          </p:nvPr>
        </p:nvSpPr>
        <p:spPr/>
        <p:txBody>
          <a:bodyPr/>
          <a:lstStyle/>
          <a:p>
            <a:r>
              <a:rPr lang="en-US"/>
              <a:t>Primitive fields are basic built-in building blocks of a language, e.g., int, string, or constants</a:t>
            </a:r>
          </a:p>
          <a:p>
            <a:endParaRPr lang="en-US"/>
          </a:p>
          <a:p>
            <a:r>
              <a:rPr lang="en-US"/>
              <a:t>Primitive Obsession is when the code relies too much on primitives and when uses primitive types to represent an object in a domain</a:t>
            </a:r>
          </a:p>
        </p:txBody>
      </p:sp>
      <p:sp>
        <p:nvSpPr>
          <p:cNvPr id="4" name="Date Placeholder 3">
            <a:extLst>
              <a:ext uri="{FF2B5EF4-FFF2-40B4-BE49-F238E27FC236}">
                <a16:creationId xmlns:a16="http://schemas.microsoft.com/office/drawing/2014/main" id="{240FE55F-A70E-B8A9-B06E-45EE97D4FCA5}"/>
              </a:ext>
            </a:extLst>
          </p:cNvPr>
          <p:cNvSpPr>
            <a:spLocks noGrp="1"/>
          </p:cNvSpPr>
          <p:nvPr>
            <p:ph type="dt" sz="half" idx="10"/>
          </p:nvPr>
        </p:nvSpPr>
        <p:spPr/>
        <p:txBody>
          <a:bodyPr/>
          <a:lstStyle/>
          <a:p>
            <a:fld id="{41CABC01-5AE6-4EB4-BE05-07FBC6FC9053}" type="datetime1">
              <a:rPr lang="nb-NO" smtClean="0"/>
              <a:t>05.10.2026</a:t>
            </a:fld>
            <a:endParaRPr lang="en-US" dirty="0"/>
          </a:p>
        </p:txBody>
      </p:sp>
      <p:sp>
        <p:nvSpPr>
          <p:cNvPr id="5" name="Footer Placeholder 4">
            <a:extLst>
              <a:ext uri="{FF2B5EF4-FFF2-40B4-BE49-F238E27FC236}">
                <a16:creationId xmlns:a16="http://schemas.microsoft.com/office/drawing/2014/main" id="{3F4676AC-7C70-2430-F77E-D5E430874458}"/>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21782EED-061D-9FF0-C7F0-1FB4DBC8E5A6}"/>
              </a:ext>
            </a:extLst>
          </p:cNvPr>
          <p:cNvSpPr>
            <a:spLocks noGrp="1"/>
          </p:cNvSpPr>
          <p:nvPr>
            <p:ph type="sldNum" sz="quarter" idx="12"/>
          </p:nvPr>
        </p:nvSpPr>
        <p:spPr/>
        <p:txBody>
          <a:bodyPr/>
          <a:lstStyle/>
          <a:p>
            <a:fld id="{EC33B370-F672-B743-B3AF-248A63C17270}" type="slidenum">
              <a:rPr lang="en-US" smtClean="0"/>
              <a:pPr/>
              <a:t>33</a:t>
            </a:fld>
            <a:endParaRPr lang="en-US"/>
          </a:p>
        </p:txBody>
      </p:sp>
    </p:spTree>
    <p:extLst>
      <p:ext uri="{BB962C8B-B14F-4D97-AF65-F5344CB8AC3E}">
        <p14:creationId xmlns:p14="http://schemas.microsoft.com/office/powerpoint/2010/main" val="427379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67AE710F-1F06-41E7-8548-7AE33BDC8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9526" y="60391"/>
            <a:ext cx="8460940" cy="6092766"/>
          </a:xfrm>
          <a:prstGeom prst="rect">
            <a:avLst/>
          </a:prstGeom>
        </p:spPr>
      </p:pic>
      <p:sp>
        <p:nvSpPr>
          <p:cNvPr id="4" name="Rectangle 3">
            <a:extLst>
              <a:ext uri="{FF2B5EF4-FFF2-40B4-BE49-F238E27FC236}">
                <a16:creationId xmlns:a16="http://schemas.microsoft.com/office/drawing/2014/main" id="{789781DC-8263-4BAA-ACAE-55C95F304DF6}"/>
              </a:ext>
            </a:extLst>
          </p:cNvPr>
          <p:cNvSpPr/>
          <p:nvPr/>
        </p:nvSpPr>
        <p:spPr>
          <a:xfrm>
            <a:off x="6023992" y="302257"/>
            <a:ext cx="4104456" cy="1296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The address is defined as an array.</a:t>
            </a:r>
          </a:p>
          <a:p>
            <a:pPr algn="ctr"/>
            <a:r>
              <a:rPr lang="en-US"/>
              <a:t>Every time we need the address we will have to hard code it</a:t>
            </a:r>
          </a:p>
        </p:txBody>
      </p:sp>
      <p:cxnSp>
        <p:nvCxnSpPr>
          <p:cNvPr id="6" name="Straight Arrow Connector 5">
            <a:extLst>
              <a:ext uri="{FF2B5EF4-FFF2-40B4-BE49-F238E27FC236}">
                <a16:creationId xmlns:a16="http://schemas.microsoft.com/office/drawing/2014/main" id="{E0CA48CF-671C-44A2-B225-CE08B1EC6FD5}"/>
              </a:ext>
            </a:extLst>
          </p:cNvPr>
          <p:cNvCxnSpPr/>
          <p:nvPr/>
        </p:nvCxnSpPr>
        <p:spPr>
          <a:xfrm flipH="1">
            <a:off x="4611294" y="704843"/>
            <a:ext cx="1386154" cy="3600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9DEF73C-6A6C-4285-BC1B-1FF89E510828}"/>
              </a:ext>
            </a:extLst>
          </p:cNvPr>
          <p:cNvCxnSpPr>
            <a:stCxn id="4" idx="1"/>
          </p:cNvCxnSpPr>
          <p:nvPr/>
        </p:nvCxnSpPr>
        <p:spPr>
          <a:xfrm flipH="1">
            <a:off x="4349806" y="950329"/>
            <a:ext cx="1674186" cy="2514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BD73F6CF-363C-4DC1-B194-C2DFB815730D}"/>
              </a:ext>
            </a:extLst>
          </p:cNvPr>
          <p:cNvSpPr/>
          <p:nvPr/>
        </p:nvSpPr>
        <p:spPr>
          <a:xfrm>
            <a:off x="1807822" y="6176906"/>
            <a:ext cx="8860178" cy="369332"/>
          </a:xfrm>
          <a:prstGeom prst="rect">
            <a:avLst/>
          </a:prstGeom>
        </p:spPr>
        <p:txBody>
          <a:bodyPr wrap="square">
            <a:spAutoFit/>
          </a:bodyPr>
          <a:lstStyle/>
          <a:p>
            <a:r>
              <a:rPr lang="en-US"/>
              <a:t>https://codeburst.io/write-clean-code-and-get-rid-of-code-smells-aea271f30318</a:t>
            </a:r>
          </a:p>
        </p:txBody>
      </p:sp>
      <p:sp>
        <p:nvSpPr>
          <p:cNvPr id="2" name="Date Placeholder 1">
            <a:extLst>
              <a:ext uri="{FF2B5EF4-FFF2-40B4-BE49-F238E27FC236}">
                <a16:creationId xmlns:a16="http://schemas.microsoft.com/office/drawing/2014/main" id="{AA15BE44-661F-EDE8-7F93-8729A24B5F18}"/>
              </a:ext>
            </a:extLst>
          </p:cNvPr>
          <p:cNvSpPr>
            <a:spLocks noGrp="1"/>
          </p:cNvSpPr>
          <p:nvPr>
            <p:ph type="dt" sz="half" idx="10"/>
          </p:nvPr>
        </p:nvSpPr>
        <p:spPr/>
        <p:txBody>
          <a:bodyPr/>
          <a:lstStyle/>
          <a:p>
            <a:fld id="{27D773C7-1711-4CED-9ADD-F7EC06FA7D39}" type="datetime1">
              <a:rPr lang="nb-NO" smtClean="0"/>
              <a:t>05.10.2026</a:t>
            </a:fld>
            <a:endParaRPr lang="en-US" dirty="0"/>
          </a:p>
        </p:txBody>
      </p:sp>
      <p:sp>
        <p:nvSpPr>
          <p:cNvPr id="5" name="Footer Placeholder 4">
            <a:extLst>
              <a:ext uri="{FF2B5EF4-FFF2-40B4-BE49-F238E27FC236}">
                <a16:creationId xmlns:a16="http://schemas.microsoft.com/office/drawing/2014/main" id="{26A0C11C-325E-6E93-8950-4F6FDDBC25A4}"/>
              </a:ext>
            </a:extLst>
          </p:cNvPr>
          <p:cNvSpPr>
            <a:spLocks noGrp="1"/>
          </p:cNvSpPr>
          <p:nvPr>
            <p:ph type="ftr" sz="quarter" idx="11"/>
          </p:nvPr>
        </p:nvSpPr>
        <p:spPr/>
        <p:txBody>
          <a:bodyPr/>
          <a:lstStyle/>
          <a:p>
            <a:r>
              <a:rPr lang="en-US"/>
              <a:t>Chapter 7.3. More on Implementation</a:t>
            </a:r>
          </a:p>
        </p:txBody>
      </p:sp>
      <p:sp>
        <p:nvSpPr>
          <p:cNvPr id="7" name="Slide Number Placeholder 6">
            <a:extLst>
              <a:ext uri="{FF2B5EF4-FFF2-40B4-BE49-F238E27FC236}">
                <a16:creationId xmlns:a16="http://schemas.microsoft.com/office/drawing/2014/main" id="{95C24290-8A5F-06C6-23D1-82FD76FEB786}"/>
              </a:ext>
            </a:extLst>
          </p:cNvPr>
          <p:cNvSpPr>
            <a:spLocks noGrp="1"/>
          </p:cNvSpPr>
          <p:nvPr>
            <p:ph type="sldNum" sz="quarter" idx="12"/>
          </p:nvPr>
        </p:nvSpPr>
        <p:spPr/>
        <p:txBody>
          <a:bodyPr/>
          <a:lstStyle/>
          <a:p>
            <a:fld id="{EC33B370-F672-B743-B3AF-248A63C17270}" type="slidenum">
              <a:rPr lang="en-US" smtClean="0"/>
              <a:pPr/>
              <a:t>34</a:t>
            </a:fld>
            <a:endParaRPr lang="en-US"/>
          </a:p>
        </p:txBody>
      </p:sp>
    </p:spTree>
    <p:extLst>
      <p:ext uri="{BB962C8B-B14F-4D97-AF65-F5344CB8AC3E}">
        <p14:creationId xmlns:p14="http://schemas.microsoft.com/office/powerpoint/2010/main" val="1517542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86FC9953-8335-4E49-AAF6-36209B4A70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3512" y="332657"/>
            <a:ext cx="8568952" cy="5656169"/>
          </a:xfrm>
          <a:prstGeom prst="rect">
            <a:avLst/>
          </a:prstGeom>
        </p:spPr>
      </p:pic>
      <p:sp>
        <p:nvSpPr>
          <p:cNvPr id="4" name="Rectangle 3">
            <a:extLst>
              <a:ext uri="{FF2B5EF4-FFF2-40B4-BE49-F238E27FC236}">
                <a16:creationId xmlns:a16="http://schemas.microsoft.com/office/drawing/2014/main" id="{F396C8AA-2697-4FE7-A8BA-A7EFFE436591}"/>
              </a:ext>
            </a:extLst>
          </p:cNvPr>
          <p:cNvSpPr/>
          <p:nvPr/>
        </p:nvSpPr>
        <p:spPr>
          <a:xfrm>
            <a:off x="1807822" y="6154432"/>
            <a:ext cx="8860178" cy="369332"/>
          </a:xfrm>
          <a:prstGeom prst="rect">
            <a:avLst/>
          </a:prstGeom>
        </p:spPr>
        <p:txBody>
          <a:bodyPr wrap="square">
            <a:spAutoFit/>
          </a:bodyPr>
          <a:lstStyle/>
          <a:p>
            <a:r>
              <a:rPr lang="en-US"/>
              <a:t>https://codeburst.io/write-clean-code-and-get-rid-of-code-smells-aea271f30318</a:t>
            </a:r>
          </a:p>
        </p:txBody>
      </p:sp>
      <p:sp>
        <p:nvSpPr>
          <p:cNvPr id="5" name="Rectangle 4">
            <a:extLst>
              <a:ext uri="{FF2B5EF4-FFF2-40B4-BE49-F238E27FC236}">
                <a16:creationId xmlns:a16="http://schemas.microsoft.com/office/drawing/2014/main" id="{B20342EB-88DA-4151-8E14-7C5FABB93D86}"/>
              </a:ext>
            </a:extLst>
          </p:cNvPr>
          <p:cNvSpPr/>
          <p:nvPr/>
        </p:nvSpPr>
        <p:spPr>
          <a:xfrm>
            <a:off x="6023697" y="620688"/>
            <a:ext cx="4104456" cy="1296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We create a new class called Address</a:t>
            </a:r>
          </a:p>
          <a:p>
            <a:pPr algn="ctr"/>
            <a:r>
              <a:rPr lang="en-US"/>
              <a:t>Every time we need to add/edit an address we hit the Address class</a:t>
            </a:r>
          </a:p>
        </p:txBody>
      </p:sp>
      <p:cxnSp>
        <p:nvCxnSpPr>
          <p:cNvPr id="7" name="Straight Arrow Connector 6">
            <a:extLst>
              <a:ext uri="{FF2B5EF4-FFF2-40B4-BE49-F238E27FC236}">
                <a16:creationId xmlns:a16="http://schemas.microsoft.com/office/drawing/2014/main" id="{A1187A75-E836-4381-8101-F7EC06F08957}"/>
              </a:ext>
            </a:extLst>
          </p:cNvPr>
          <p:cNvCxnSpPr/>
          <p:nvPr/>
        </p:nvCxnSpPr>
        <p:spPr>
          <a:xfrm flipH="1" flipV="1">
            <a:off x="2999656" y="548680"/>
            <a:ext cx="2988332" cy="720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8FD6B98F-2B42-D05B-1815-75A1C32A3481}"/>
              </a:ext>
            </a:extLst>
          </p:cNvPr>
          <p:cNvSpPr>
            <a:spLocks noGrp="1"/>
          </p:cNvSpPr>
          <p:nvPr>
            <p:ph type="dt" sz="half" idx="10"/>
          </p:nvPr>
        </p:nvSpPr>
        <p:spPr/>
        <p:txBody>
          <a:bodyPr/>
          <a:lstStyle/>
          <a:p>
            <a:fld id="{D8C1FAFB-8A7D-4DD0-9742-4F4C5812FB94}" type="datetime1">
              <a:rPr lang="nb-NO" smtClean="0"/>
              <a:t>05.10.2026</a:t>
            </a:fld>
            <a:endParaRPr lang="en-US" dirty="0"/>
          </a:p>
        </p:txBody>
      </p:sp>
      <p:sp>
        <p:nvSpPr>
          <p:cNvPr id="6" name="Footer Placeholder 5">
            <a:extLst>
              <a:ext uri="{FF2B5EF4-FFF2-40B4-BE49-F238E27FC236}">
                <a16:creationId xmlns:a16="http://schemas.microsoft.com/office/drawing/2014/main" id="{4FCDF99A-037F-F244-E346-353022B46029}"/>
              </a:ext>
            </a:extLst>
          </p:cNvPr>
          <p:cNvSpPr>
            <a:spLocks noGrp="1"/>
          </p:cNvSpPr>
          <p:nvPr>
            <p:ph type="ftr" sz="quarter" idx="11"/>
          </p:nvPr>
        </p:nvSpPr>
        <p:spPr/>
        <p:txBody>
          <a:bodyPr/>
          <a:lstStyle/>
          <a:p>
            <a:r>
              <a:rPr lang="en-US"/>
              <a:t>Chapter 7.3. More on Implementation</a:t>
            </a:r>
          </a:p>
        </p:txBody>
      </p:sp>
      <p:sp>
        <p:nvSpPr>
          <p:cNvPr id="8" name="Slide Number Placeholder 7">
            <a:extLst>
              <a:ext uri="{FF2B5EF4-FFF2-40B4-BE49-F238E27FC236}">
                <a16:creationId xmlns:a16="http://schemas.microsoft.com/office/drawing/2014/main" id="{2E19E0BA-2AC9-4044-E81D-6F57CB8E50F2}"/>
              </a:ext>
            </a:extLst>
          </p:cNvPr>
          <p:cNvSpPr>
            <a:spLocks noGrp="1"/>
          </p:cNvSpPr>
          <p:nvPr>
            <p:ph type="sldNum" sz="quarter" idx="12"/>
          </p:nvPr>
        </p:nvSpPr>
        <p:spPr/>
        <p:txBody>
          <a:bodyPr/>
          <a:lstStyle/>
          <a:p>
            <a:fld id="{EC33B370-F672-B743-B3AF-248A63C17270}" type="slidenum">
              <a:rPr lang="en-US" smtClean="0"/>
              <a:pPr/>
              <a:t>35</a:t>
            </a:fld>
            <a:endParaRPr lang="en-US"/>
          </a:p>
        </p:txBody>
      </p:sp>
    </p:spTree>
    <p:extLst>
      <p:ext uri="{BB962C8B-B14F-4D97-AF65-F5344CB8AC3E}">
        <p14:creationId xmlns:p14="http://schemas.microsoft.com/office/powerpoint/2010/main" val="1325998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inspection?</a:t>
            </a:r>
          </a:p>
        </p:txBody>
      </p:sp>
      <p:sp>
        <p:nvSpPr>
          <p:cNvPr id="3" name="Content Placeholder 2"/>
          <p:cNvSpPr>
            <a:spLocks noGrp="1"/>
          </p:cNvSpPr>
          <p:nvPr>
            <p:ph idx="1"/>
          </p:nvPr>
        </p:nvSpPr>
        <p:spPr/>
        <p:txBody>
          <a:bodyPr/>
          <a:lstStyle/>
          <a:p>
            <a:r>
              <a:rPr lang="en-US" sz="2800" dirty="0"/>
              <a:t>Visual examination of software product</a:t>
            </a:r>
          </a:p>
          <a:p>
            <a:r>
              <a:rPr lang="en-US" sz="2800" dirty="0"/>
              <a:t>Identify software anomalies</a:t>
            </a:r>
          </a:p>
          <a:p>
            <a:pPr lvl="1"/>
            <a:r>
              <a:rPr lang="en-US" sz="2400" dirty="0"/>
              <a:t>Errors</a:t>
            </a:r>
          </a:p>
          <a:p>
            <a:pPr lvl="1"/>
            <a:r>
              <a:rPr lang="en-US" sz="2400" dirty="0"/>
              <a:t>Code smells</a:t>
            </a:r>
          </a:p>
          <a:p>
            <a:pPr lvl="1"/>
            <a:r>
              <a:rPr lang="en-US" sz="2400" dirty="0"/>
              <a:t>Deviations from specifications</a:t>
            </a:r>
          </a:p>
          <a:p>
            <a:pPr lvl="1"/>
            <a:r>
              <a:rPr lang="en-US" sz="2400" dirty="0"/>
              <a:t>Deviations from standards</a:t>
            </a:r>
          </a:p>
          <a:p>
            <a:pPr lvl="2"/>
            <a:r>
              <a:rPr lang="nb-NO" dirty="0"/>
              <a:t>E</a:t>
            </a:r>
            <a:r>
              <a:rPr lang="en-US" dirty="0"/>
              <a:t>.g., Java code conventions</a:t>
            </a:r>
          </a:p>
          <a:p>
            <a:pPr marL="914400" lvl="2" indent="0">
              <a:buNone/>
            </a:pPr>
            <a:r>
              <a:rPr lang="en-US" dirty="0">
                <a:hlinkClick r:id="rId3"/>
              </a:rPr>
              <a:t>www.oracle.com/technetwork/java/codeconventions-150003.pdf</a:t>
            </a:r>
            <a:endParaRPr lang="en-US" dirty="0"/>
          </a:p>
          <a:p>
            <a:pPr marL="457200" lvl="1" indent="0">
              <a:buNone/>
            </a:pPr>
            <a:endParaRPr lang="en-US" dirty="0"/>
          </a:p>
        </p:txBody>
      </p:sp>
      <p:sp>
        <p:nvSpPr>
          <p:cNvPr id="4" name="Date Placeholder 3">
            <a:extLst>
              <a:ext uri="{FF2B5EF4-FFF2-40B4-BE49-F238E27FC236}">
                <a16:creationId xmlns:a16="http://schemas.microsoft.com/office/drawing/2014/main" id="{816AE4A4-E890-1532-8B18-E0314F8B1A4B}"/>
              </a:ext>
            </a:extLst>
          </p:cNvPr>
          <p:cNvSpPr>
            <a:spLocks noGrp="1"/>
          </p:cNvSpPr>
          <p:nvPr>
            <p:ph type="dt" sz="half" idx="10"/>
          </p:nvPr>
        </p:nvSpPr>
        <p:spPr/>
        <p:txBody>
          <a:bodyPr/>
          <a:lstStyle/>
          <a:p>
            <a:fld id="{1D8A6026-FDF3-48D8-98E0-02889C6EC785}" type="datetime1">
              <a:rPr lang="nb-NO" smtClean="0"/>
              <a:t>05.10.2026</a:t>
            </a:fld>
            <a:endParaRPr lang="en-US" dirty="0"/>
          </a:p>
        </p:txBody>
      </p:sp>
      <p:sp>
        <p:nvSpPr>
          <p:cNvPr id="5" name="Footer Placeholder 4">
            <a:extLst>
              <a:ext uri="{FF2B5EF4-FFF2-40B4-BE49-F238E27FC236}">
                <a16:creationId xmlns:a16="http://schemas.microsoft.com/office/drawing/2014/main" id="{8C98818D-5801-0CCE-ACCC-FA679B0AE29B}"/>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C07D9BBB-9CB7-6F70-1D8A-22C43527A9C2}"/>
              </a:ext>
            </a:extLst>
          </p:cNvPr>
          <p:cNvSpPr>
            <a:spLocks noGrp="1"/>
          </p:cNvSpPr>
          <p:nvPr>
            <p:ph type="sldNum" sz="quarter" idx="12"/>
          </p:nvPr>
        </p:nvSpPr>
        <p:spPr/>
        <p:txBody>
          <a:bodyPr/>
          <a:lstStyle/>
          <a:p>
            <a:fld id="{EC33B370-F672-B743-B3AF-248A63C17270}" type="slidenum">
              <a:rPr lang="en-US" smtClean="0"/>
              <a:pPr/>
              <a:t>36</a:t>
            </a:fld>
            <a:endParaRPr lang="en-US"/>
          </a:p>
        </p:txBody>
      </p:sp>
    </p:spTree>
    <p:extLst>
      <p:ext uri="{BB962C8B-B14F-4D97-AF65-F5344CB8AC3E}">
        <p14:creationId xmlns:p14="http://schemas.microsoft.com/office/powerpoint/2010/main" val="1872780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do we need inspection?</a:t>
            </a:r>
          </a:p>
        </p:txBody>
      </p:sp>
      <p:sp>
        <p:nvSpPr>
          <p:cNvPr id="3" name="Content Placeholder 2"/>
          <p:cNvSpPr>
            <a:spLocks noGrp="1"/>
          </p:cNvSpPr>
          <p:nvPr>
            <p:ph idx="1"/>
          </p:nvPr>
        </p:nvSpPr>
        <p:spPr/>
        <p:txBody>
          <a:bodyPr>
            <a:normAutofit fontScale="92500"/>
          </a:bodyPr>
          <a:lstStyle/>
          <a:p>
            <a:r>
              <a:rPr lang="en-US" dirty="0"/>
              <a:t>Many software artifacts cannot be verified by running tests, e.g., </a:t>
            </a:r>
          </a:p>
          <a:p>
            <a:pPr lvl="1"/>
            <a:r>
              <a:rPr lang="en-US" dirty="0"/>
              <a:t>Requirement specification</a:t>
            </a:r>
          </a:p>
          <a:p>
            <a:pPr lvl="1"/>
            <a:r>
              <a:rPr lang="en-US" dirty="0"/>
              <a:t>Design</a:t>
            </a:r>
          </a:p>
          <a:p>
            <a:pPr lvl="1"/>
            <a:r>
              <a:rPr lang="en-US" altLang="nb-NO" dirty="0">
                <a:cs typeface="Arial" panose="020B0604020202020204" pitchFamily="34" charset="0"/>
              </a:rPr>
              <a:t>Pseudocode</a:t>
            </a:r>
            <a:endParaRPr lang="en-US" dirty="0"/>
          </a:p>
          <a:p>
            <a:pPr lvl="1"/>
            <a:r>
              <a:rPr lang="en-US" dirty="0"/>
              <a:t>User manual</a:t>
            </a:r>
          </a:p>
          <a:p>
            <a:r>
              <a:rPr lang="en-US" dirty="0"/>
              <a:t>Inspection reduces defect rates</a:t>
            </a:r>
          </a:p>
          <a:p>
            <a:r>
              <a:rPr lang="en-US" dirty="0"/>
              <a:t>Inspection complements testing </a:t>
            </a:r>
          </a:p>
          <a:p>
            <a:r>
              <a:rPr lang="en-US" dirty="0"/>
              <a:t>Inspection identifies code smells</a:t>
            </a:r>
          </a:p>
          <a:p>
            <a:r>
              <a:rPr lang="en-US" dirty="0"/>
              <a:t>Inspection provides additional benefits</a:t>
            </a:r>
          </a:p>
          <a:p>
            <a:endParaRPr lang="en-US" dirty="0"/>
          </a:p>
        </p:txBody>
      </p:sp>
      <p:sp>
        <p:nvSpPr>
          <p:cNvPr id="4" name="Date Placeholder 3">
            <a:extLst>
              <a:ext uri="{FF2B5EF4-FFF2-40B4-BE49-F238E27FC236}">
                <a16:creationId xmlns:a16="http://schemas.microsoft.com/office/drawing/2014/main" id="{CB116667-EAEB-306B-221A-B86E0EEF3FEF}"/>
              </a:ext>
            </a:extLst>
          </p:cNvPr>
          <p:cNvSpPr>
            <a:spLocks noGrp="1"/>
          </p:cNvSpPr>
          <p:nvPr>
            <p:ph type="dt" sz="half" idx="10"/>
          </p:nvPr>
        </p:nvSpPr>
        <p:spPr/>
        <p:txBody>
          <a:bodyPr/>
          <a:lstStyle/>
          <a:p>
            <a:fld id="{40FA0BFF-5D7E-470C-AB5D-67B80BA5B33F}" type="datetime1">
              <a:rPr lang="nb-NO" smtClean="0"/>
              <a:t>05.10.2026</a:t>
            </a:fld>
            <a:endParaRPr lang="en-US" dirty="0"/>
          </a:p>
        </p:txBody>
      </p:sp>
      <p:sp>
        <p:nvSpPr>
          <p:cNvPr id="5" name="Footer Placeholder 4">
            <a:extLst>
              <a:ext uri="{FF2B5EF4-FFF2-40B4-BE49-F238E27FC236}">
                <a16:creationId xmlns:a16="http://schemas.microsoft.com/office/drawing/2014/main" id="{95EE6020-772A-AE98-F2CD-EB0A863BDE9B}"/>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B0139A7E-63BC-71DA-0F06-95E08C677CF8}"/>
              </a:ext>
            </a:extLst>
          </p:cNvPr>
          <p:cNvSpPr>
            <a:spLocks noGrp="1"/>
          </p:cNvSpPr>
          <p:nvPr>
            <p:ph type="sldNum" sz="quarter" idx="12"/>
          </p:nvPr>
        </p:nvSpPr>
        <p:spPr/>
        <p:txBody>
          <a:bodyPr/>
          <a:lstStyle/>
          <a:p>
            <a:fld id="{EC33B370-F672-B743-B3AF-248A63C17270}" type="slidenum">
              <a:rPr lang="en-US" smtClean="0"/>
              <a:pPr/>
              <a:t>37</a:t>
            </a:fld>
            <a:endParaRPr lang="en-US"/>
          </a:p>
        </p:txBody>
      </p:sp>
    </p:spTree>
    <p:extLst>
      <p:ext uri="{BB962C8B-B14F-4D97-AF65-F5344CB8AC3E}">
        <p14:creationId xmlns:p14="http://schemas.microsoft.com/office/powerpoint/2010/main" val="152434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 finds types of defects different from testing</a:t>
            </a:r>
          </a:p>
        </p:txBody>
      </p:sp>
      <p:graphicFrame>
        <p:nvGraphicFramePr>
          <p:cNvPr id="6" name="Content Placeholder 5"/>
          <p:cNvGraphicFramePr>
            <a:graphicFrameLocks noGrp="1"/>
          </p:cNvGraphicFramePr>
          <p:nvPr>
            <p:ph idx="1"/>
          </p:nvPr>
        </p:nvGraphicFramePr>
        <p:xfrm>
          <a:off x="1946005" y="2996952"/>
          <a:ext cx="8229600" cy="2592288"/>
        </p:xfrm>
        <a:graphic>
          <a:graphicData uri="http://schemas.openxmlformats.org/drawingml/2006/table">
            <a:tbl>
              <a:tblPr firstRow="1" bandRow="1">
                <a:tableStyleId>{5C22544A-7EE6-4342-B048-85BDC9FD1C3A}</a:tableStyleId>
              </a:tblPr>
              <a:tblGrid>
                <a:gridCol w="5158107">
                  <a:extLst>
                    <a:ext uri="{9D8B030D-6E8A-4147-A177-3AD203B41FA5}">
                      <a16:colId xmlns:a16="http://schemas.microsoft.com/office/drawing/2014/main" val="2060008497"/>
                    </a:ext>
                  </a:extLst>
                </a:gridCol>
                <a:gridCol w="1584176">
                  <a:extLst>
                    <a:ext uri="{9D8B030D-6E8A-4147-A177-3AD203B41FA5}">
                      <a16:colId xmlns:a16="http://schemas.microsoft.com/office/drawing/2014/main" val="4062320833"/>
                    </a:ext>
                  </a:extLst>
                </a:gridCol>
                <a:gridCol w="1487317">
                  <a:extLst>
                    <a:ext uri="{9D8B030D-6E8A-4147-A177-3AD203B41FA5}">
                      <a16:colId xmlns:a16="http://schemas.microsoft.com/office/drawing/2014/main" val="4051878696"/>
                    </a:ext>
                  </a:extLst>
                </a:gridCol>
              </a:tblGrid>
              <a:tr h="44933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a:t>Some</a:t>
                      </a:r>
                      <a:r>
                        <a:rPr lang="en-US" sz="2000" b="1" baseline="0"/>
                        <a:t> d</a:t>
                      </a:r>
                      <a:r>
                        <a:rPr lang="en-US" sz="2000" b="1"/>
                        <a:t>efect types</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a:t>Testing</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a:t>Inspection</a:t>
                      </a:r>
                    </a:p>
                  </a:txBody>
                  <a:tcPr/>
                </a:tc>
                <a:extLst>
                  <a:ext uri="{0D108BD9-81ED-4DB2-BD59-A6C34878D82A}">
                    <a16:rowId xmlns:a16="http://schemas.microsoft.com/office/drawing/2014/main" val="95210743"/>
                  </a:ext>
                </a:extLst>
              </a:tr>
              <a:tr h="44933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Uninitialized</a:t>
                      </a:r>
                      <a:r>
                        <a:rPr lang="en-US" sz="2000" baseline="0"/>
                        <a:t> variables</a:t>
                      </a:r>
                      <a:endParaRPr lang="en-US" sz="200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4</a:t>
                      </a:r>
                    </a:p>
                  </a:txBody>
                  <a:tcPr/>
                </a:tc>
                <a:extLst>
                  <a:ext uri="{0D108BD9-81ED-4DB2-BD59-A6C34878D82A}">
                    <a16:rowId xmlns:a16="http://schemas.microsoft.com/office/drawing/2014/main" val="3407723000"/>
                  </a:ext>
                </a:extLst>
              </a:tr>
              <a:tr h="449330">
                <a:tc>
                  <a:txBody>
                    <a:bodyPr/>
                    <a:lstStyle/>
                    <a:p>
                      <a:r>
                        <a:rPr lang="en-US" sz="2000"/>
                        <a:t>Illegal</a:t>
                      </a:r>
                      <a:r>
                        <a:rPr lang="en-US" sz="2000" baseline="0"/>
                        <a:t> behavior, e.g., division by zero</a:t>
                      </a:r>
                      <a:endParaRPr lang="en-US" sz="2000"/>
                    </a:p>
                  </a:txBody>
                  <a:tcPr/>
                </a:tc>
                <a:tc>
                  <a:txBody>
                    <a:bodyPr/>
                    <a:lstStyle/>
                    <a:p>
                      <a:r>
                        <a:rPr lang="en-US" sz="2000"/>
                        <a:t>49</a:t>
                      </a:r>
                    </a:p>
                  </a:txBody>
                  <a:tcPr/>
                </a:tc>
                <a:tc>
                  <a:txBody>
                    <a:bodyPr/>
                    <a:lstStyle/>
                    <a:p>
                      <a:r>
                        <a:rPr lang="en-US" sz="2000"/>
                        <a:t>20</a:t>
                      </a:r>
                    </a:p>
                  </a:txBody>
                  <a:tcPr/>
                </a:tc>
                <a:extLst>
                  <a:ext uri="{0D108BD9-81ED-4DB2-BD59-A6C34878D82A}">
                    <a16:rowId xmlns:a16="http://schemas.microsoft.com/office/drawing/2014/main" val="2870597957"/>
                  </a:ext>
                </a:extLst>
              </a:tr>
              <a:tr h="449330">
                <a:tc>
                  <a:txBody>
                    <a:bodyPr/>
                    <a:lstStyle/>
                    <a:p>
                      <a:r>
                        <a:rPr lang="en-US" sz="2000"/>
                        <a:t>Incorrectly formulated branch conditions</a:t>
                      </a:r>
                    </a:p>
                  </a:txBody>
                  <a:tcPr/>
                </a:tc>
                <a:tc>
                  <a:txBody>
                    <a:bodyPr/>
                    <a:lstStyle/>
                    <a:p>
                      <a:r>
                        <a:rPr lang="en-US" sz="2000"/>
                        <a:t>2</a:t>
                      </a:r>
                    </a:p>
                  </a:txBody>
                  <a:tcPr/>
                </a:tc>
                <a:tc>
                  <a:txBody>
                    <a:bodyPr/>
                    <a:lstStyle/>
                    <a:p>
                      <a:r>
                        <a:rPr lang="en-US" sz="2000"/>
                        <a:t>13</a:t>
                      </a:r>
                    </a:p>
                  </a:txBody>
                  <a:tcPr/>
                </a:tc>
                <a:extLst>
                  <a:ext uri="{0D108BD9-81ED-4DB2-BD59-A6C34878D82A}">
                    <a16:rowId xmlns:a16="http://schemas.microsoft.com/office/drawing/2014/main" val="562003620"/>
                  </a:ext>
                </a:extLst>
              </a:tr>
              <a:tr h="794968">
                <a:tc>
                  <a:txBody>
                    <a:bodyPr/>
                    <a:lstStyle/>
                    <a:p>
                      <a:r>
                        <a:rPr lang="en-US" sz="2000"/>
                        <a:t>Missing branches,</a:t>
                      </a:r>
                      <a:r>
                        <a:rPr lang="en-US" sz="2000" baseline="0"/>
                        <a:t> including both conditionals and their embedded statements</a:t>
                      </a:r>
                      <a:endParaRPr lang="en-US" sz="2000"/>
                    </a:p>
                  </a:txBody>
                  <a:tcPr/>
                </a:tc>
                <a:tc>
                  <a:txBody>
                    <a:bodyPr/>
                    <a:lstStyle/>
                    <a:p>
                      <a:r>
                        <a:rPr lang="en-US" sz="2000"/>
                        <a:t>4</a:t>
                      </a:r>
                    </a:p>
                  </a:txBody>
                  <a:tcPr/>
                </a:tc>
                <a:tc>
                  <a:txBody>
                    <a:bodyPr/>
                    <a:lstStyle/>
                    <a:p>
                      <a:r>
                        <a:rPr lang="en-US" sz="2000"/>
                        <a:t>10</a:t>
                      </a:r>
                    </a:p>
                  </a:txBody>
                  <a:tcPr/>
                </a:tc>
                <a:extLst>
                  <a:ext uri="{0D108BD9-81ED-4DB2-BD59-A6C34878D82A}">
                    <a16:rowId xmlns:a16="http://schemas.microsoft.com/office/drawing/2014/main" val="3909542041"/>
                  </a:ext>
                </a:extLst>
              </a:tr>
            </a:tbl>
          </a:graphicData>
        </a:graphic>
      </p:graphicFrame>
      <p:sp>
        <p:nvSpPr>
          <p:cNvPr id="7" name="TextBox 6"/>
          <p:cNvSpPr txBox="1"/>
          <p:nvPr/>
        </p:nvSpPr>
        <p:spPr>
          <a:xfrm>
            <a:off x="2042864" y="2276872"/>
            <a:ext cx="8260632" cy="400110"/>
          </a:xfrm>
          <a:prstGeom prst="rect">
            <a:avLst/>
          </a:prstGeom>
          <a:noFill/>
        </p:spPr>
        <p:txBody>
          <a:bodyPr wrap="square" rtlCol="0">
            <a:spAutoFit/>
          </a:bodyPr>
          <a:lstStyle/>
          <a:p>
            <a:r>
              <a:rPr lang="en-US" sz="2000" dirty="0"/>
              <a:t>Number of different types of defects detected by testing vs. inspection</a:t>
            </a:r>
            <a:endParaRPr lang="en-US" sz="2000" baseline="30000" dirty="0"/>
          </a:p>
        </p:txBody>
      </p:sp>
      <p:sp>
        <p:nvSpPr>
          <p:cNvPr id="3" name="Date Placeholder 2">
            <a:extLst>
              <a:ext uri="{FF2B5EF4-FFF2-40B4-BE49-F238E27FC236}">
                <a16:creationId xmlns:a16="http://schemas.microsoft.com/office/drawing/2014/main" id="{19305F69-20AB-45D4-F36C-2FA367B9CC75}"/>
              </a:ext>
            </a:extLst>
          </p:cNvPr>
          <p:cNvSpPr>
            <a:spLocks noGrp="1"/>
          </p:cNvSpPr>
          <p:nvPr>
            <p:ph type="dt" sz="half" idx="10"/>
          </p:nvPr>
        </p:nvSpPr>
        <p:spPr/>
        <p:txBody>
          <a:bodyPr/>
          <a:lstStyle/>
          <a:p>
            <a:fld id="{5C7664EF-4018-4AB9-8EAE-7F4CCCAE9D34}" type="datetime1">
              <a:rPr lang="nb-NO" smtClean="0"/>
              <a:t>05.10.2026</a:t>
            </a:fld>
            <a:endParaRPr lang="en-US" dirty="0"/>
          </a:p>
        </p:txBody>
      </p:sp>
      <p:sp>
        <p:nvSpPr>
          <p:cNvPr id="4" name="Footer Placeholder 3">
            <a:extLst>
              <a:ext uri="{FF2B5EF4-FFF2-40B4-BE49-F238E27FC236}">
                <a16:creationId xmlns:a16="http://schemas.microsoft.com/office/drawing/2014/main" id="{0EBB33F2-F09D-9761-75BF-BCF89762718C}"/>
              </a:ext>
            </a:extLst>
          </p:cNvPr>
          <p:cNvSpPr>
            <a:spLocks noGrp="1"/>
          </p:cNvSpPr>
          <p:nvPr>
            <p:ph type="ftr" sz="quarter" idx="11"/>
          </p:nvPr>
        </p:nvSpPr>
        <p:spPr/>
        <p:txBody>
          <a:bodyPr/>
          <a:lstStyle/>
          <a:p>
            <a:r>
              <a:rPr lang="en-US"/>
              <a:t>Chapter 7.3. More on Implementation</a:t>
            </a:r>
          </a:p>
        </p:txBody>
      </p:sp>
      <p:sp>
        <p:nvSpPr>
          <p:cNvPr id="5" name="Slide Number Placeholder 4">
            <a:extLst>
              <a:ext uri="{FF2B5EF4-FFF2-40B4-BE49-F238E27FC236}">
                <a16:creationId xmlns:a16="http://schemas.microsoft.com/office/drawing/2014/main" id="{A2D64AF7-4943-C695-5EAA-A8C5045B0534}"/>
              </a:ext>
            </a:extLst>
          </p:cNvPr>
          <p:cNvSpPr>
            <a:spLocks noGrp="1"/>
          </p:cNvSpPr>
          <p:nvPr>
            <p:ph type="sldNum" sz="quarter" idx="12"/>
          </p:nvPr>
        </p:nvSpPr>
        <p:spPr/>
        <p:txBody>
          <a:bodyPr/>
          <a:lstStyle/>
          <a:p>
            <a:fld id="{EC33B370-F672-B743-B3AF-248A63C17270}" type="slidenum">
              <a:rPr lang="en-US" smtClean="0"/>
              <a:pPr/>
              <a:t>38</a:t>
            </a:fld>
            <a:endParaRPr lang="en-US"/>
          </a:p>
        </p:txBody>
      </p:sp>
    </p:spTree>
    <p:extLst>
      <p:ext uri="{BB962C8B-B14F-4D97-AF65-F5344CB8AC3E}">
        <p14:creationId xmlns:p14="http://schemas.microsoft.com/office/powerpoint/2010/main" val="3062132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Inspection reduces defect rates</a:t>
            </a:r>
          </a:p>
        </p:txBody>
      </p:sp>
      <p:pic>
        <p:nvPicPr>
          <p:cNvPr id="4" name="Picture 3"/>
          <p:cNvPicPr>
            <a:picLocks noChangeAspect="1"/>
          </p:cNvPicPr>
          <p:nvPr/>
        </p:nvPicPr>
        <p:blipFill>
          <a:blip r:embed="rId2"/>
          <a:stretch>
            <a:fillRect/>
          </a:stretch>
        </p:blipFill>
        <p:spPr>
          <a:xfrm>
            <a:off x="1775520" y="1340768"/>
            <a:ext cx="8315890" cy="5040560"/>
          </a:xfrm>
          <a:prstGeom prst="rect">
            <a:avLst/>
          </a:prstGeom>
        </p:spPr>
      </p:pic>
      <p:grpSp>
        <p:nvGrpSpPr>
          <p:cNvPr id="9" name="Group 8"/>
          <p:cNvGrpSpPr/>
          <p:nvPr/>
        </p:nvGrpSpPr>
        <p:grpSpPr>
          <a:xfrm>
            <a:off x="8328248" y="2031840"/>
            <a:ext cx="504056" cy="965113"/>
            <a:chOff x="6804248" y="2031839"/>
            <a:chExt cx="504056" cy="965113"/>
          </a:xfrm>
        </p:grpSpPr>
        <p:sp>
          <p:nvSpPr>
            <p:cNvPr id="5" name="Oval 4"/>
            <p:cNvSpPr/>
            <p:nvPr/>
          </p:nvSpPr>
          <p:spPr>
            <a:xfrm>
              <a:off x="6804248" y="2708920"/>
              <a:ext cx="504056" cy="288032"/>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6804248" y="2031839"/>
              <a:ext cx="504056" cy="288032"/>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8352080" y="3645025"/>
            <a:ext cx="504056" cy="1613185"/>
            <a:chOff x="6828080" y="3645024"/>
            <a:chExt cx="504056" cy="1613185"/>
          </a:xfrm>
        </p:grpSpPr>
        <p:sp>
          <p:nvSpPr>
            <p:cNvPr id="7" name="Oval 6"/>
            <p:cNvSpPr/>
            <p:nvPr/>
          </p:nvSpPr>
          <p:spPr>
            <a:xfrm>
              <a:off x="6828080" y="3645024"/>
              <a:ext cx="504056" cy="288032"/>
            </a:xfrm>
            <a:prstGeom prst="ellipse">
              <a:avLst/>
            </a:prstGeom>
            <a:no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6828080" y="4970177"/>
              <a:ext cx="504056" cy="288032"/>
            </a:xfrm>
            <a:prstGeom prst="ellipse">
              <a:avLst/>
            </a:prstGeom>
            <a:no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Date Placeholder 2">
            <a:extLst>
              <a:ext uri="{FF2B5EF4-FFF2-40B4-BE49-F238E27FC236}">
                <a16:creationId xmlns:a16="http://schemas.microsoft.com/office/drawing/2014/main" id="{D967EEC7-1CED-F69F-2642-8A7F44B3D8FC}"/>
              </a:ext>
            </a:extLst>
          </p:cNvPr>
          <p:cNvSpPr>
            <a:spLocks noGrp="1"/>
          </p:cNvSpPr>
          <p:nvPr>
            <p:ph type="dt" sz="half" idx="10"/>
          </p:nvPr>
        </p:nvSpPr>
        <p:spPr/>
        <p:txBody>
          <a:bodyPr/>
          <a:lstStyle/>
          <a:p>
            <a:fld id="{E2739D7A-F3DA-4A73-8E16-5552CE8F14DE}" type="datetime1">
              <a:rPr lang="nb-NO" smtClean="0"/>
              <a:t>05.10.2026</a:t>
            </a:fld>
            <a:endParaRPr lang="en-US" dirty="0"/>
          </a:p>
        </p:txBody>
      </p:sp>
      <p:sp>
        <p:nvSpPr>
          <p:cNvPr id="11" name="Footer Placeholder 10">
            <a:extLst>
              <a:ext uri="{FF2B5EF4-FFF2-40B4-BE49-F238E27FC236}">
                <a16:creationId xmlns:a16="http://schemas.microsoft.com/office/drawing/2014/main" id="{54EC49F6-151F-813F-B22D-ECD568FAF11F}"/>
              </a:ext>
            </a:extLst>
          </p:cNvPr>
          <p:cNvSpPr>
            <a:spLocks noGrp="1"/>
          </p:cNvSpPr>
          <p:nvPr>
            <p:ph type="ftr" sz="quarter" idx="11"/>
          </p:nvPr>
        </p:nvSpPr>
        <p:spPr/>
        <p:txBody>
          <a:bodyPr/>
          <a:lstStyle/>
          <a:p>
            <a:r>
              <a:rPr lang="en-US"/>
              <a:t>Chapter 7.3. More on Implementation</a:t>
            </a:r>
          </a:p>
        </p:txBody>
      </p:sp>
      <p:sp>
        <p:nvSpPr>
          <p:cNvPr id="12" name="Slide Number Placeholder 11">
            <a:extLst>
              <a:ext uri="{FF2B5EF4-FFF2-40B4-BE49-F238E27FC236}">
                <a16:creationId xmlns:a16="http://schemas.microsoft.com/office/drawing/2014/main" id="{3C699B14-1842-02B8-12FC-9B2100F2ABD4}"/>
              </a:ext>
            </a:extLst>
          </p:cNvPr>
          <p:cNvSpPr>
            <a:spLocks noGrp="1"/>
          </p:cNvSpPr>
          <p:nvPr>
            <p:ph type="sldNum" sz="quarter" idx="12"/>
          </p:nvPr>
        </p:nvSpPr>
        <p:spPr/>
        <p:txBody>
          <a:bodyPr/>
          <a:lstStyle/>
          <a:p>
            <a:fld id="{EC33B370-F672-B743-B3AF-248A63C17270}" type="slidenum">
              <a:rPr lang="en-US" smtClean="0"/>
              <a:pPr/>
              <a:t>39</a:t>
            </a:fld>
            <a:endParaRPr lang="en-US"/>
          </a:p>
        </p:txBody>
      </p:sp>
    </p:spTree>
    <p:extLst>
      <p:ext uri="{BB962C8B-B14F-4D97-AF65-F5344CB8AC3E}">
        <p14:creationId xmlns:p14="http://schemas.microsoft.com/office/powerpoint/2010/main" val="33231738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Testing vs. Inspection</a:t>
            </a:r>
          </a:p>
        </p:txBody>
      </p:sp>
      <p:graphicFrame>
        <p:nvGraphicFramePr>
          <p:cNvPr id="4" name="Table 3"/>
          <p:cNvGraphicFramePr>
            <a:graphicFrameLocks noGrp="1"/>
          </p:cNvGraphicFramePr>
          <p:nvPr>
            <p:extLst>
              <p:ext uri="{D42A27DB-BD31-4B8C-83A1-F6EECF244321}">
                <p14:modId xmlns:p14="http://schemas.microsoft.com/office/powerpoint/2010/main" val="1898101699"/>
              </p:ext>
            </p:extLst>
          </p:nvPr>
        </p:nvGraphicFramePr>
        <p:xfrm>
          <a:off x="1935723" y="1501883"/>
          <a:ext cx="8320553" cy="4464497"/>
        </p:xfrm>
        <a:graphic>
          <a:graphicData uri="http://schemas.openxmlformats.org/drawingml/2006/table">
            <a:tbl>
              <a:tblPr firstRow="1" bandRow="1">
                <a:tableStyleId>{5C22544A-7EE6-4342-B048-85BDC9FD1C3A}</a:tableStyleId>
              </a:tblPr>
              <a:tblGrid>
                <a:gridCol w="687705">
                  <a:extLst>
                    <a:ext uri="{9D8B030D-6E8A-4147-A177-3AD203B41FA5}">
                      <a16:colId xmlns:a16="http://schemas.microsoft.com/office/drawing/2014/main" val="1070091755"/>
                    </a:ext>
                  </a:extLst>
                </a:gridCol>
                <a:gridCol w="3384376">
                  <a:extLst>
                    <a:ext uri="{9D8B030D-6E8A-4147-A177-3AD203B41FA5}">
                      <a16:colId xmlns:a16="http://schemas.microsoft.com/office/drawing/2014/main" val="3962914620"/>
                    </a:ext>
                  </a:extLst>
                </a:gridCol>
                <a:gridCol w="4248472">
                  <a:extLst>
                    <a:ext uri="{9D8B030D-6E8A-4147-A177-3AD203B41FA5}">
                      <a16:colId xmlns:a16="http://schemas.microsoft.com/office/drawing/2014/main" val="2873730305"/>
                    </a:ext>
                  </a:extLst>
                </a:gridCol>
              </a:tblGrid>
              <a:tr h="502170">
                <a:tc>
                  <a:txBody>
                    <a:bodyPr/>
                    <a:lstStyle/>
                    <a:p>
                      <a:pPr algn="ctr"/>
                      <a:endParaRPr lang="en-US"/>
                    </a:p>
                  </a:txBody>
                  <a:tcPr/>
                </a:tc>
                <a:tc>
                  <a:txBody>
                    <a:bodyPr/>
                    <a:lstStyle/>
                    <a:p>
                      <a:pPr algn="ctr"/>
                      <a:r>
                        <a:rPr lang="en-US"/>
                        <a:t> Testing</a:t>
                      </a:r>
                    </a:p>
                  </a:txBody>
                  <a:tcPr/>
                </a:tc>
                <a:tc>
                  <a:txBody>
                    <a:bodyPr/>
                    <a:lstStyle/>
                    <a:p>
                      <a:pPr algn="ctr"/>
                      <a:r>
                        <a:rPr lang="en-US" dirty="0"/>
                        <a:t>Inspection</a:t>
                      </a:r>
                    </a:p>
                  </a:txBody>
                  <a:tcPr/>
                </a:tc>
                <a:extLst>
                  <a:ext uri="{0D108BD9-81ED-4DB2-BD59-A6C34878D82A}">
                    <a16:rowId xmlns:a16="http://schemas.microsoft.com/office/drawing/2014/main" val="800931028"/>
                  </a:ext>
                </a:extLst>
              </a:tr>
              <a:tr h="2352632">
                <a:tc>
                  <a:txBody>
                    <a:bodyPr/>
                    <a:lstStyle/>
                    <a:p>
                      <a:r>
                        <a:rPr lang="en-US" sz="2000"/>
                        <a:t>Pros</a:t>
                      </a:r>
                    </a:p>
                  </a:txBody>
                  <a:tcPr/>
                </a:tc>
                <a:tc>
                  <a:txBody>
                    <a:bodyPr/>
                    <a:lstStyle/>
                    <a:p>
                      <a:pPr marL="342900" lvl="0" indent="-342900" fontAlgn="auto">
                        <a:spcAft>
                          <a:spcPts val="0"/>
                        </a:spcAft>
                        <a:buFont typeface="Arial" panose="020B0604020202020204" pitchFamily="34" charset="0"/>
                        <a:buChar char="•"/>
                        <a:defRPr/>
                      </a:pPr>
                      <a:r>
                        <a:rPr lang="en-GB" altLang="nb-NO" sz="2000" dirty="0"/>
                        <a:t>Can, at least partly, be automated</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GB" sz="2000" kern="1200" dirty="0">
                          <a:solidFill>
                            <a:schemeClr val="dk1"/>
                          </a:solidFill>
                          <a:latin typeface="+mn-lt"/>
                          <a:ea typeface="+mn-ea"/>
                          <a:cs typeface="+mn-cs"/>
                        </a:rPr>
                        <a:t>Can consistently repeat several</a:t>
                      </a:r>
                      <a:r>
                        <a:rPr lang="en-GB" sz="2000" kern="1200" baseline="0" dirty="0">
                          <a:solidFill>
                            <a:schemeClr val="dk1"/>
                          </a:solidFill>
                          <a:latin typeface="+mn-lt"/>
                          <a:ea typeface="+mn-ea"/>
                          <a:cs typeface="+mn-cs"/>
                        </a:rPr>
                        <a:t> </a:t>
                      </a:r>
                      <a:r>
                        <a:rPr lang="en-GB" sz="2000" kern="1200" dirty="0">
                          <a:solidFill>
                            <a:schemeClr val="dk1"/>
                          </a:solidFill>
                          <a:latin typeface="+mn-lt"/>
                          <a:ea typeface="+mn-ea"/>
                          <a:cs typeface="+mn-cs"/>
                        </a:rPr>
                        <a:t>actions </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GB" sz="2000" kern="1200" dirty="0">
                          <a:solidFill>
                            <a:schemeClr val="dk1"/>
                          </a:solidFill>
                          <a:latin typeface="+mn-lt"/>
                          <a:ea typeface="+mn-ea"/>
                          <a:cs typeface="+mn-cs"/>
                        </a:rPr>
                        <a:t>Fast and high volume</a:t>
                      </a:r>
                    </a:p>
                    <a:p>
                      <a:pPr marL="342900" lvl="0" indent="-342900" fontAlgn="auto">
                        <a:spcAft>
                          <a:spcPts val="0"/>
                        </a:spcAft>
                        <a:buFont typeface="Arial" panose="020B0604020202020204" pitchFamily="34" charset="0"/>
                        <a:buChar char="•"/>
                        <a:defRPr/>
                      </a:pPr>
                      <a:endParaRPr lang="en-GB" altLang="nb-NO" sz="2000" dirty="0"/>
                    </a:p>
                  </a:txBody>
                  <a:tcPr/>
                </a:tc>
                <a:tc>
                  <a:txBody>
                    <a:bodyPr/>
                    <a:lstStyle/>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Can be used on all types of documents, not just code</a:t>
                      </a:r>
                    </a:p>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Can see the complete picture,</a:t>
                      </a:r>
                      <a:r>
                        <a:rPr lang="en-GB" altLang="nb-NO" sz="2000" kern="1200" baseline="0" dirty="0">
                          <a:solidFill>
                            <a:schemeClr val="dk1"/>
                          </a:solidFill>
                          <a:latin typeface="+mn-lt"/>
                          <a:ea typeface="+mn-ea"/>
                          <a:cs typeface="+mn-cs"/>
                        </a:rPr>
                        <a:t> not only a spot check</a:t>
                      </a:r>
                      <a:endParaRPr lang="en-GB" altLang="nb-NO" sz="2000" kern="1200" dirty="0">
                        <a:solidFill>
                          <a:schemeClr val="dk1"/>
                        </a:solidFill>
                        <a:latin typeface="+mn-lt"/>
                        <a:ea typeface="+mn-ea"/>
                        <a:cs typeface="+mn-cs"/>
                      </a:endParaRPr>
                    </a:p>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Can uses all information in the team</a:t>
                      </a:r>
                    </a:p>
                    <a:p>
                      <a:pPr marL="342900" lvl="0" indent="-342900" algn="l" defTabSz="457200" rtl="0" eaLnBrk="1" fontAlgn="auto" latinLnBrk="0" hangingPunct="1">
                        <a:lnSpc>
                          <a:spcPct val="90000"/>
                        </a:lnSpc>
                        <a:spcAft>
                          <a:spcPts val="0"/>
                        </a:spcAft>
                        <a:buFont typeface="Arial" panose="020B0604020202020204" pitchFamily="34" charset="0"/>
                        <a:buChar char="•"/>
                        <a:defRPr/>
                      </a:pPr>
                      <a:r>
                        <a:rPr lang="en-US" altLang="nb-NO" sz="2000" kern="1200" dirty="0">
                          <a:solidFill>
                            <a:schemeClr val="dk1"/>
                          </a:solidFill>
                          <a:latin typeface="+mn-lt"/>
                          <a:ea typeface="+mn-ea"/>
                          <a:cs typeface="+mn-cs"/>
                        </a:rPr>
                        <a:t>Can be innovative and inductive</a:t>
                      </a:r>
                    </a:p>
                  </a:txBody>
                  <a:tcPr/>
                </a:tc>
                <a:extLst>
                  <a:ext uri="{0D108BD9-81ED-4DB2-BD59-A6C34878D82A}">
                    <a16:rowId xmlns:a16="http://schemas.microsoft.com/office/drawing/2014/main" val="1456627388"/>
                  </a:ext>
                </a:extLst>
              </a:tr>
              <a:tr h="1609695">
                <a:tc>
                  <a:txBody>
                    <a:bodyPr/>
                    <a:lstStyle/>
                    <a:p>
                      <a:r>
                        <a:rPr lang="en-US" sz="2000"/>
                        <a:t>Cons</a:t>
                      </a:r>
                    </a:p>
                  </a:txBody>
                  <a:tcPr/>
                </a:tc>
                <a:tc>
                  <a:txBody>
                    <a:bodyPr/>
                    <a:lstStyle/>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Is only a spot check</a:t>
                      </a:r>
                    </a:p>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Can only be used for code </a:t>
                      </a:r>
                    </a:p>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May need several stubs and drivers</a:t>
                      </a:r>
                    </a:p>
                  </a:txBody>
                  <a:tcPr/>
                </a:tc>
                <a:tc>
                  <a:txBody>
                    <a:bodyPr/>
                    <a:lstStyle/>
                    <a:p>
                      <a:pPr marL="342900" lvl="0" indent="-342900" algn="l" defTabSz="457200" rtl="0" eaLnBrk="1" fontAlgn="auto" latinLnBrk="0" hangingPunct="1">
                        <a:spcAft>
                          <a:spcPts val="0"/>
                        </a:spcAft>
                        <a:buFont typeface="Arial" panose="020B0604020202020204" pitchFamily="34" charset="0"/>
                        <a:buChar char="•"/>
                        <a:defRPr/>
                      </a:pPr>
                      <a:r>
                        <a:rPr lang="en-GB" altLang="nb-NO" sz="2000" kern="1200" dirty="0">
                          <a:solidFill>
                            <a:schemeClr val="dk1"/>
                          </a:solidFill>
                          <a:latin typeface="+mn-lt"/>
                          <a:ea typeface="+mn-ea"/>
                          <a:cs typeface="+mn-cs"/>
                        </a:rPr>
                        <a:t>Is difficult to use on complex, dynamic situations</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GB" sz="2000" kern="1200" dirty="0">
                          <a:solidFill>
                            <a:schemeClr val="dk1"/>
                          </a:solidFill>
                          <a:latin typeface="+mn-lt"/>
                          <a:ea typeface="+mn-ea"/>
                          <a:cs typeface="+mn-cs"/>
                        </a:rPr>
                        <a:t>Unreliable (people</a:t>
                      </a:r>
                      <a:r>
                        <a:rPr lang="en-GB" sz="2000" kern="1200" baseline="0" dirty="0">
                          <a:solidFill>
                            <a:schemeClr val="dk1"/>
                          </a:solidFill>
                          <a:latin typeface="+mn-lt"/>
                          <a:ea typeface="+mn-ea"/>
                          <a:cs typeface="+mn-cs"/>
                        </a:rPr>
                        <a:t> can </a:t>
                      </a:r>
                      <a:r>
                        <a:rPr lang="en-GB" sz="2000" kern="1200" dirty="0">
                          <a:solidFill>
                            <a:schemeClr val="dk1"/>
                          </a:solidFill>
                          <a:latin typeface="+mn-lt"/>
                          <a:ea typeface="+mn-ea"/>
                          <a:cs typeface="+mn-cs"/>
                        </a:rPr>
                        <a:t>get tired)</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GB" sz="2000" kern="1200" dirty="0">
                          <a:solidFill>
                            <a:schemeClr val="dk1"/>
                          </a:solidFill>
                          <a:latin typeface="+mn-lt"/>
                          <a:ea typeface="+mn-ea"/>
                          <a:cs typeface="+mn-cs"/>
                        </a:rPr>
                        <a:t>Slow and low volume</a:t>
                      </a:r>
                    </a:p>
                  </a:txBody>
                  <a:tcPr/>
                </a:tc>
                <a:extLst>
                  <a:ext uri="{0D108BD9-81ED-4DB2-BD59-A6C34878D82A}">
                    <a16:rowId xmlns:a16="http://schemas.microsoft.com/office/drawing/2014/main" val="3187304446"/>
                  </a:ext>
                </a:extLst>
              </a:tr>
            </a:tbl>
          </a:graphicData>
        </a:graphic>
      </p:graphicFrame>
      <p:sp>
        <p:nvSpPr>
          <p:cNvPr id="3" name="Date Placeholder 2">
            <a:extLst>
              <a:ext uri="{FF2B5EF4-FFF2-40B4-BE49-F238E27FC236}">
                <a16:creationId xmlns:a16="http://schemas.microsoft.com/office/drawing/2014/main" id="{AD86C208-F470-F666-11ED-6C9729CBE715}"/>
              </a:ext>
            </a:extLst>
          </p:cNvPr>
          <p:cNvSpPr>
            <a:spLocks noGrp="1"/>
          </p:cNvSpPr>
          <p:nvPr>
            <p:ph type="dt" sz="half" idx="10"/>
          </p:nvPr>
        </p:nvSpPr>
        <p:spPr/>
        <p:txBody>
          <a:bodyPr/>
          <a:lstStyle/>
          <a:p>
            <a:fld id="{B34FC158-2D33-459F-93A1-C88D473B35AA}" type="datetime1">
              <a:rPr lang="nb-NO" smtClean="0"/>
              <a:t>05.10.2026</a:t>
            </a:fld>
            <a:endParaRPr lang="en-US" dirty="0"/>
          </a:p>
        </p:txBody>
      </p:sp>
      <p:sp>
        <p:nvSpPr>
          <p:cNvPr id="5" name="Footer Placeholder 4">
            <a:extLst>
              <a:ext uri="{FF2B5EF4-FFF2-40B4-BE49-F238E27FC236}">
                <a16:creationId xmlns:a16="http://schemas.microsoft.com/office/drawing/2014/main" id="{C69B00BA-E06C-61D7-6476-D6BB8252EC49}"/>
              </a:ext>
            </a:extLst>
          </p:cNvPr>
          <p:cNvSpPr>
            <a:spLocks noGrp="1"/>
          </p:cNvSpPr>
          <p:nvPr>
            <p:ph type="ftr" sz="quarter" idx="11"/>
          </p:nvPr>
        </p:nvSpPr>
        <p:spPr/>
        <p:txBody>
          <a:bodyPr/>
          <a:lstStyle/>
          <a:p>
            <a:r>
              <a:rPr lang="en-US"/>
              <a:t>Chapter 7.3. More on Implementation</a:t>
            </a:r>
          </a:p>
        </p:txBody>
      </p:sp>
      <p:sp>
        <p:nvSpPr>
          <p:cNvPr id="6" name="Slide Number Placeholder 5">
            <a:extLst>
              <a:ext uri="{FF2B5EF4-FFF2-40B4-BE49-F238E27FC236}">
                <a16:creationId xmlns:a16="http://schemas.microsoft.com/office/drawing/2014/main" id="{6D4A492E-51E2-88D9-2488-36EF20C8CE9B}"/>
              </a:ext>
            </a:extLst>
          </p:cNvPr>
          <p:cNvSpPr>
            <a:spLocks noGrp="1"/>
          </p:cNvSpPr>
          <p:nvPr>
            <p:ph type="sldNum" sz="quarter" idx="12"/>
          </p:nvPr>
        </p:nvSpPr>
        <p:spPr/>
        <p:txBody>
          <a:bodyPr/>
          <a:lstStyle/>
          <a:p>
            <a:fld id="{EC33B370-F672-B743-B3AF-248A63C17270}" type="slidenum">
              <a:rPr lang="en-US" smtClean="0"/>
              <a:pPr/>
              <a:t>40</a:t>
            </a:fld>
            <a:endParaRPr lang="en-US"/>
          </a:p>
        </p:txBody>
      </p:sp>
    </p:spTree>
    <p:extLst>
      <p:ext uri="{BB962C8B-B14F-4D97-AF65-F5344CB8AC3E}">
        <p14:creationId xmlns:p14="http://schemas.microsoft.com/office/powerpoint/2010/main" val="1122253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review at Google</a:t>
            </a:r>
            <a:endParaRPr lang="en-US" baseline="30000" dirty="0"/>
          </a:p>
        </p:txBody>
      </p:sp>
      <p:sp>
        <p:nvSpPr>
          <p:cNvPr id="3" name="Content Placeholder 2"/>
          <p:cNvSpPr>
            <a:spLocks noGrp="1"/>
          </p:cNvSpPr>
          <p:nvPr>
            <p:ph idx="1"/>
          </p:nvPr>
        </p:nvSpPr>
        <p:spPr/>
        <p:txBody>
          <a:bodyPr/>
          <a:lstStyle/>
          <a:p>
            <a:r>
              <a:rPr lang="en-US" dirty="0"/>
              <a:t>“All code that gets submitted needs to be </a:t>
            </a:r>
            <a:r>
              <a:rPr lang="en-US" dirty="0">
                <a:solidFill>
                  <a:srgbClr val="FF0000"/>
                </a:solidFill>
              </a:rPr>
              <a:t>reviewed by at least one other person</a:t>
            </a:r>
            <a:r>
              <a:rPr lang="en-US" dirty="0"/>
              <a:t>, and either the code writer or the reviewer needs to have readability in that language”</a:t>
            </a:r>
          </a:p>
          <a:p>
            <a:r>
              <a:rPr lang="en-US" dirty="0"/>
              <a:t>“Most people use </a:t>
            </a:r>
            <a:r>
              <a:rPr lang="en-US" dirty="0">
                <a:solidFill>
                  <a:srgbClr val="FF0000"/>
                </a:solidFill>
              </a:rPr>
              <a:t>Mondrian</a:t>
            </a:r>
            <a:r>
              <a:rPr lang="en-US" dirty="0"/>
              <a:t> to do code reviews, and obviously, </a:t>
            </a:r>
            <a:r>
              <a:rPr lang="en-US" dirty="0">
                <a:solidFill>
                  <a:srgbClr val="FF0000"/>
                </a:solidFill>
              </a:rPr>
              <a:t>we spend a good chunk of our time reviewing code</a:t>
            </a:r>
            <a:r>
              <a:rPr lang="en-US" dirty="0"/>
              <a:t>”</a:t>
            </a:r>
          </a:p>
          <a:p>
            <a:pPr marL="0" indent="0" algn="r">
              <a:buNone/>
            </a:pPr>
            <a:r>
              <a:rPr lang="en-US" dirty="0"/>
              <a:t>    --Amanda Camp, Software Engineer, Google</a:t>
            </a:r>
          </a:p>
        </p:txBody>
      </p:sp>
      <p:sp>
        <p:nvSpPr>
          <p:cNvPr id="4" name="Date Placeholder 3">
            <a:extLst>
              <a:ext uri="{FF2B5EF4-FFF2-40B4-BE49-F238E27FC236}">
                <a16:creationId xmlns:a16="http://schemas.microsoft.com/office/drawing/2014/main" id="{A23572AE-3CD4-27F0-6FFE-54A2011A8F5D}"/>
              </a:ext>
            </a:extLst>
          </p:cNvPr>
          <p:cNvSpPr>
            <a:spLocks noGrp="1"/>
          </p:cNvSpPr>
          <p:nvPr>
            <p:ph type="dt" sz="half" idx="10"/>
          </p:nvPr>
        </p:nvSpPr>
        <p:spPr/>
        <p:txBody>
          <a:bodyPr/>
          <a:lstStyle/>
          <a:p>
            <a:pPr>
              <a:defRPr/>
            </a:pPr>
            <a:fld id="{C8C890AB-F736-4FEC-8865-67028B43BA61}" type="datetime1">
              <a:rPr lang="nb-NO" smtClean="0"/>
              <a:t>05.10.2026</a:t>
            </a:fld>
            <a:endParaRPr lang="en-US" dirty="0"/>
          </a:p>
        </p:txBody>
      </p:sp>
      <p:sp>
        <p:nvSpPr>
          <p:cNvPr id="5" name="Footer Placeholder 4">
            <a:extLst>
              <a:ext uri="{FF2B5EF4-FFF2-40B4-BE49-F238E27FC236}">
                <a16:creationId xmlns:a16="http://schemas.microsoft.com/office/drawing/2014/main" id="{1FD21087-5905-9A89-2C5B-01287ABD7E6F}"/>
              </a:ext>
            </a:extLst>
          </p:cNvPr>
          <p:cNvSpPr>
            <a:spLocks noGrp="1"/>
          </p:cNvSpPr>
          <p:nvPr>
            <p:ph type="ftr" sz="quarter" idx="4294967295"/>
          </p:nvPr>
        </p:nvSpPr>
        <p:spPr>
          <a:xfrm>
            <a:off x="4842933" y="6470704"/>
            <a:ext cx="5901459" cy="274320"/>
          </a:xfrm>
          <a:prstGeom prst="rect">
            <a:avLst/>
          </a:prstGeom>
        </p:spPr>
        <p:txBody>
          <a:bodyPr/>
          <a:lstStyle/>
          <a:p>
            <a:pPr>
              <a:defRPr/>
            </a:pPr>
            <a:r>
              <a:rPr lang="en-US"/>
              <a:t>Chapter 2. Software Processes</a:t>
            </a:r>
          </a:p>
        </p:txBody>
      </p:sp>
      <p:sp>
        <p:nvSpPr>
          <p:cNvPr id="6" name="Slide Number Placeholder 5">
            <a:extLst>
              <a:ext uri="{FF2B5EF4-FFF2-40B4-BE49-F238E27FC236}">
                <a16:creationId xmlns:a16="http://schemas.microsoft.com/office/drawing/2014/main" id="{0B79E2D6-9C56-5A82-E0EB-1EC1A9816D34}"/>
              </a:ext>
            </a:extLst>
          </p:cNvPr>
          <p:cNvSpPr>
            <a:spLocks noGrp="1"/>
          </p:cNvSpPr>
          <p:nvPr>
            <p:ph type="sldNum" sz="quarter" idx="12"/>
          </p:nvPr>
        </p:nvSpPr>
        <p:spPr/>
        <p:txBody>
          <a:bodyPr/>
          <a:lstStyle/>
          <a:p>
            <a:pPr>
              <a:defRPr/>
            </a:pPr>
            <a:fld id="{AFD720AD-0A16-4141-82CA-5619F80A2BC8}" type="slidenum">
              <a:rPr lang="en-US" smtClean="0"/>
              <a:pPr>
                <a:defRPr/>
              </a:pPr>
              <a:t>41</a:t>
            </a:fld>
            <a:endParaRPr lang="en-US"/>
          </a:p>
        </p:txBody>
      </p:sp>
    </p:spTree>
    <p:extLst>
      <p:ext uri="{BB962C8B-B14F-4D97-AF65-F5344CB8AC3E}">
        <p14:creationId xmlns:p14="http://schemas.microsoft.com/office/powerpoint/2010/main" val="2449526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p:cNvSpPr>
            <a:spLocks noGrp="1" noChangeArrowheads="1"/>
          </p:cNvSpPr>
          <p:nvPr>
            <p:ph type="title"/>
          </p:nvPr>
        </p:nvSpPr>
        <p:spPr/>
        <p:txBody>
          <a:bodyPr/>
          <a:lstStyle/>
          <a:p>
            <a:r>
              <a:rPr lang="en-US"/>
              <a:t>Inspect Code 1 of 5: Classes Overall</a:t>
            </a:r>
          </a:p>
        </p:txBody>
      </p:sp>
      <p:sp>
        <p:nvSpPr>
          <p:cNvPr id="40963" name="Rectangle 7"/>
          <p:cNvSpPr>
            <a:spLocks noGrp="1" noChangeArrowheads="1"/>
          </p:cNvSpPr>
          <p:nvPr>
            <p:ph idx="1"/>
          </p:nvPr>
        </p:nvSpPr>
        <p:spPr/>
        <p:txBody>
          <a:bodyPr>
            <a:normAutofit fontScale="92500" lnSpcReduction="10000"/>
          </a:bodyPr>
          <a:lstStyle/>
          <a:p>
            <a:r>
              <a:rPr lang="en-US"/>
              <a:t>C1.  Is its (the class’) name appropriate? </a:t>
            </a:r>
          </a:p>
          <a:p>
            <a:r>
              <a:rPr lang="en-US"/>
              <a:t>C2.  Could it be abstract (to be used only as a base)?</a:t>
            </a:r>
          </a:p>
          <a:p>
            <a:r>
              <a:rPr lang="en-US"/>
              <a:t>C3.  Does its header describe its purpose?</a:t>
            </a:r>
          </a:p>
          <a:p>
            <a:r>
              <a:rPr lang="en-US"/>
              <a:t>C4.  Does its header reference the requirements and/or design element to which it corresponds? </a:t>
            </a:r>
          </a:p>
          <a:p>
            <a:r>
              <a:rPr lang="en-US"/>
              <a:t>C5.  Does it state the package to which it belongs?</a:t>
            </a:r>
          </a:p>
          <a:p>
            <a:r>
              <a:rPr lang="en-US"/>
              <a:t>C6.  Is it as private as it can be?</a:t>
            </a:r>
          </a:p>
          <a:p>
            <a:r>
              <a:rPr lang="en-US"/>
              <a:t>C7.  Should it be final (Java)</a:t>
            </a:r>
          </a:p>
          <a:p>
            <a:r>
              <a:rPr lang="en-US"/>
              <a:t>C8.  Have the documentation standards been applied?</a:t>
            </a:r>
            <a:endParaRPr lang="en-US" dirty="0"/>
          </a:p>
        </p:txBody>
      </p:sp>
      <p:sp>
        <p:nvSpPr>
          <p:cNvPr id="6" name="Date Placeholder 5"/>
          <p:cNvSpPr>
            <a:spLocks noGrp="1"/>
          </p:cNvSpPr>
          <p:nvPr>
            <p:ph type="dt" sz="half" idx="10"/>
          </p:nvPr>
        </p:nvSpPr>
        <p:spPr/>
        <p:txBody>
          <a:bodyPr/>
          <a:lstStyle/>
          <a:p>
            <a:fld id="{5D0B3E55-086C-4F81-969A-4B805BB77F0C}"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42</a:t>
            </a:fld>
            <a:endParaRPr lang="en-AU"/>
          </a:p>
        </p:txBody>
      </p:sp>
      <p:sp>
        <p:nvSpPr>
          <p:cNvPr id="40966"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en-US"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One way to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p:cNvSpPr>
            <a:spLocks noGrp="1" noChangeArrowheads="1"/>
          </p:cNvSpPr>
          <p:nvPr>
            <p:ph type="title"/>
          </p:nvPr>
        </p:nvSpPr>
        <p:spPr/>
        <p:txBody>
          <a:bodyPr/>
          <a:lstStyle/>
          <a:p>
            <a:r>
              <a:rPr lang="en-US"/>
              <a:t>Inspect Code 2 of 5 : Attributes</a:t>
            </a:r>
          </a:p>
        </p:txBody>
      </p:sp>
      <p:sp>
        <p:nvSpPr>
          <p:cNvPr id="41987" name="Rectangle 7"/>
          <p:cNvSpPr>
            <a:spLocks noGrp="1" noChangeArrowheads="1"/>
          </p:cNvSpPr>
          <p:nvPr>
            <p:ph idx="1"/>
          </p:nvPr>
        </p:nvSpPr>
        <p:spPr/>
        <p:txBody>
          <a:bodyPr>
            <a:normAutofit/>
          </a:bodyPr>
          <a:lstStyle/>
          <a:p>
            <a:r>
              <a:rPr lang="en-US"/>
              <a:t>A1.  Is it (the attribute) necessary?</a:t>
            </a:r>
          </a:p>
          <a:p>
            <a:r>
              <a:rPr lang="en-US"/>
              <a:t>A2.  Could it be static?</a:t>
            </a:r>
          </a:p>
          <a:p>
            <a:r>
              <a:rPr lang="en-US"/>
              <a:t>A3.  Should it be final?</a:t>
            </a:r>
          </a:p>
          <a:p>
            <a:r>
              <a:rPr lang="en-US"/>
              <a:t>A4.  Are the naming conventions properly applied?</a:t>
            </a:r>
          </a:p>
          <a:p>
            <a:r>
              <a:rPr lang="en-US"/>
              <a:t>A5.  Is it as private as possible?</a:t>
            </a:r>
          </a:p>
          <a:p>
            <a:r>
              <a:rPr lang="en-US"/>
              <a:t>A6.  Are the attributes as independent as possible?</a:t>
            </a:r>
          </a:p>
          <a:p>
            <a:r>
              <a:rPr lang="en-US"/>
              <a:t>A7.  Is there a comprehensive initialization strategy?</a:t>
            </a:r>
            <a:endParaRPr lang="en-US" dirty="0"/>
          </a:p>
        </p:txBody>
      </p:sp>
      <p:sp>
        <p:nvSpPr>
          <p:cNvPr id="6" name="Date Placeholder 5"/>
          <p:cNvSpPr>
            <a:spLocks noGrp="1"/>
          </p:cNvSpPr>
          <p:nvPr>
            <p:ph type="dt" sz="half" idx="10"/>
          </p:nvPr>
        </p:nvSpPr>
        <p:spPr/>
        <p:txBody>
          <a:bodyPr/>
          <a:lstStyle/>
          <a:p>
            <a:fld id="{1EC8AD22-4E7F-4E96-A58C-46724716AC43}"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43</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en-US"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One way to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p:cNvSpPr>
            <a:spLocks noGrp="1" noChangeArrowheads="1"/>
          </p:cNvSpPr>
          <p:nvPr>
            <p:ph type="title"/>
          </p:nvPr>
        </p:nvSpPr>
        <p:spPr/>
        <p:txBody>
          <a:bodyPr/>
          <a:lstStyle/>
          <a:p>
            <a:r>
              <a:rPr lang="en-US"/>
              <a:t>Inspect Code 3 of 5 : Constructors</a:t>
            </a:r>
          </a:p>
        </p:txBody>
      </p:sp>
      <p:sp>
        <p:nvSpPr>
          <p:cNvPr id="43011" name="Rectangle 7"/>
          <p:cNvSpPr>
            <a:spLocks noGrp="1" noChangeArrowheads="1"/>
          </p:cNvSpPr>
          <p:nvPr>
            <p:ph idx="1"/>
          </p:nvPr>
        </p:nvSpPr>
        <p:spPr/>
        <p:txBody>
          <a:bodyPr/>
          <a:lstStyle/>
          <a:p>
            <a:r>
              <a:rPr lang="en-US"/>
              <a:t>CO1.  Is it (the constructor) necessary?</a:t>
            </a:r>
          </a:p>
          <a:p>
            <a:r>
              <a:rPr lang="en-US"/>
              <a:t>CO2.  Does it leverage existing constructors?</a:t>
            </a:r>
          </a:p>
          <a:p>
            <a:r>
              <a:rPr lang="en-US"/>
              <a:t>CO3.  Does it initialize of all the attributes?</a:t>
            </a:r>
          </a:p>
          <a:p>
            <a:r>
              <a:rPr lang="en-US"/>
              <a:t>CO4.  Is it as private as possible?</a:t>
            </a:r>
          </a:p>
          <a:p>
            <a:r>
              <a:rPr lang="en-US"/>
              <a:t>CO5.  Does it execute the inherited constructor(s) where necessary?</a:t>
            </a:r>
            <a:endParaRPr lang="en-US" dirty="0"/>
          </a:p>
        </p:txBody>
      </p:sp>
      <p:sp>
        <p:nvSpPr>
          <p:cNvPr id="6" name="Date Placeholder 5"/>
          <p:cNvSpPr>
            <a:spLocks noGrp="1"/>
          </p:cNvSpPr>
          <p:nvPr>
            <p:ph type="dt" sz="half" idx="10"/>
          </p:nvPr>
        </p:nvSpPr>
        <p:spPr/>
        <p:txBody>
          <a:bodyPr/>
          <a:lstStyle/>
          <a:p>
            <a:fld id="{C1185972-1D68-43C6-A979-528A44F209B3}"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44</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en-US"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One way to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title"/>
          </p:nvPr>
        </p:nvSpPr>
        <p:spPr/>
        <p:txBody>
          <a:bodyPr/>
          <a:lstStyle/>
          <a:p>
            <a:r>
              <a:rPr lang="en-US"/>
              <a:t>Inspect Code 4 of 5: Method Headers</a:t>
            </a:r>
          </a:p>
        </p:txBody>
      </p:sp>
      <p:sp>
        <p:nvSpPr>
          <p:cNvPr id="44035" name="Rectangle 8"/>
          <p:cNvSpPr>
            <a:spLocks noGrp="1" noChangeArrowheads="1"/>
          </p:cNvSpPr>
          <p:nvPr>
            <p:ph idx="1"/>
          </p:nvPr>
        </p:nvSpPr>
        <p:spPr/>
        <p:txBody>
          <a:bodyPr>
            <a:normAutofit fontScale="70000" lnSpcReduction="20000"/>
          </a:bodyPr>
          <a:lstStyle/>
          <a:p>
            <a:r>
              <a:rPr lang="en-US" dirty="0"/>
              <a:t>MH1.  Is the method appropriately named?</a:t>
            </a:r>
          </a:p>
          <a:p>
            <a:r>
              <a:rPr lang="en-US" dirty="0"/>
              <a:t>MH2.  Is it as private as possible?</a:t>
            </a:r>
          </a:p>
          <a:p>
            <a:r>
              <a:rPr lang="en-US" dirty="0"/>
              <a:t>MH3.  Could it be static?</a:t>
            </a:r>
          </a:p>
          <a:p>
            <a:r>
              <a:rPr lang="en-US" dirty="0"/>
              <a:t>MH4.  Should it be final?</a:t>
            </a:r>
          </a:p>
          <a:p>
            <a:r>
              <a:rPr lang="en-US" dirty="0"/>
              <a:t>MH5.  Does the header describe method’s purpose?</a:t>
            </a:r>
          </a:p>
          <a:p>
            <a:r>
              <a:rPr lang="en-US" dirty="0"/>
              <a:t>MH6.  Does the method header reference the requirements and/or design section that it satisfies? </a:t>
            </a:r>
          </a:p>
          <a:p>
            <a:r>
              <a:rPr lang="en-US" dirty="0"/>
              <a:t>MH7.  Does it state all necessary invariants?</a:t>
            </a:r>
          </a:p>
          <a:p>
            <a:r>
              <a:rPr lang="en-US" dirty="0"/>
              <a:t>MH8.  Does it state all pre-conditions?</a:t>
            </a:r>
          </a:p>
          <a:p>
            <a:r>
              <a:rPr lang="en-US" dirty="0"/>
              <a:t>MH9.  Does it state all post-conditions?</a:t>
            </a:r>
          </a:p>
          <a:p>
            <a:r>
              <a:rPr lang="en-US" dirty="0"/>
              <a:t>MH10.Does it apply documentation standards?</a:t>
            </a:r>
          </a:p>
          <a:p>
            <a:r>
              <a:rPr lang="en-US" dirty="0"/>
              <a:t>MH11.Are the parameter types restricted?</a:t>
            </a:r>
          </a:p>
        </p:txBody>
      </p:sp>
      <p:sp>
        <p:nvSpPr>
          <p:cNvPr id="6" name="Date Placeholder 5"/>
          <p:cNvSpPr>
            <a:spLocks noGrp="1"/>
          </p:cNvSpPr>
          <p:nvPr>
            <p:ph type="dt" sz="half" idx="10"/>
          </p:nvPr>
        </p:nvSpPr>
        <p:spPr/>
        <p:txBody>
          <a:bodyPr/>
          <a:lstStyle/>
          <a:p>
            <a:fld id="{E43AB01B-DB44-4F66-A2D1-E774ADA17D91}"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45</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en-US"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One way to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title"/>
          </p:nvPr>
        </p:nvSpPr>
        <p:spPr/>
        <p:txBody>
          <a:bodyPr/>
          <a:lstStyle/>
          <a:p>
            <a:r>
              <a:rPr lang="en-US"/>
              <a:t>Inspect Code 5 of 5: Method Bodies</a:t>
            </a:r>
          </a:p>
        </p:txBody>
      </p:sp>
      <p:sp>
        <p:nvSpPr>
          <p:cNvPr id="45059" name="Rectangle 8"/>
          <p:cNvSpPr>
            <a:spLocks noGrp="1" noChangeArrowheads="1"/>
          </p:cNvSpPr>
          <p:nvPr>
            <p:ph idx="1"/>
          </p:nvPr>
        </p:nvSpPr>
        <p:spPr/>
        <p:txBody>
          <a:bodyPr>
            <a:normAutofit fontScale="70000" lnSpcReduction="20000"/>
          </a:bodyPr>
          <a:lstStyle/>
          <a:p>
            <a:r>
              <a:rPr lang="en-US" dirty="0"/>
              <a:t>MB1.   Is the algorithm consistent with the detailed design </a:t>
            </a:r>
            <a:r>
              <a:rPr lang="en-US" dirty="0" err="1"/>
              <a:t>pseudocode</a:t>
            </a:r>
            <a:r>
              <a:rPr lang="en-US" dirty="0"/>
              <a:t> and/or flowchart?   </a:t>
            </a:r>
          </a:p>
          <a:p>
            <a:r>
              <a:rPr lang="en-US" dirty="0"/>
              <a:t>MB2.   Does the code assume no more than the stated preconditions?</a:t>
            </a:r>
          </a:p>
          <a:p>
            <a:r>
              <a:rPr lang="en-US" dirty="0"/>
              <a:t>MB3.   Does the code produce every one of the </a:t>
            </a:r>
            <a:r>
              <a:rPr lang="en-US" dirty="0" err="1"/>
              <a:t>postconditions</a:t>
            </a:r>
            <a:r>
              <a:rPr lang="en-US" dirty="0"/>
              <a:t>?</a:t>
            </a:r>
          </a:p>
          <a:p>
            <a:r>
              <a:rPr lang="en-US" dirty="0"/>
              <a:t>MB4.   Does the code respect the required invariant?</a:t>
            </a:r>
          </a:p>
          <a:p>
            <a:r>
              <a:rPr lang="en-US" dirty="0"/>
              <a:t>MB5.   Does every loop terminate? </a:t>
            </a:r>
          </a:p>
          <a:p>
            <a:r>
              <a:rPr lang="en-US" dirty="0"/>
              <a:t>MB6.   Are required notational standards observed? </a:t>
            </a:r>
          </a:p>
          <a:p>
            <a:r>
              <a:rPr lang="en-US" dirty="0"/>
              <a:t>MB7.   Has every line been thoroughly checked?</a:t>
            </a:r>
          </a:p>
          <a:p>
            <a:r>
              <a:rPr lang="en-US" dirty="0"/>
              <a:t>MB8.   Are all braces balanced? </a:t>
            </a:r>
          </a:p>
          <a:p>
            <a:r>
              <a:rPr lang="en-US" dirty="0"/>
              <a:t>MB9.   Are illegal parameters considered?</a:t>
            </a:r>
          </a:p>
          <a:p>
            <a:r>
              <a:rPr lang="en-US" dirty="0"/>
              <a:t>MB10. Does the code return the correct type?  </a:t>
            </a:r>
          </a:p>
          <a:p>
            <a:r>
              <a:rPr lang="en-US" dirty="0"/>
              <a:t>MB11. Is the code thoroughly commented?</a:t>
            </a:r>
          </a:p>
        </p:txBody>
      </p:sp>
      <p:sp>
        <p:nvSpPr>
          <p:cNvPr id="6" name="Date Placeholder 5"/>
          <p:cNvSpPr>
            <a:spLocks noGrp="1"/>
          </p:cNvSpPr>
          <p:nvPr>
            <p:ph type="dt" sz="half" idx="10"/>
          </p:nvPr>
        </p:nvSpPr>
        <p:spPr/>
        <p:txBody>
          <a:bodyPr/>
          <a:lstStyle/>
          <a:p>
            <a:fld id="{02CD3A9F-3F1D-4C21-B89A-10B8361DF37C}" type="datetime1">
              <a:rPr lang="nb-NO" smtClean="0"/>
              <a:t>05.10.2026</a:t>
            </a:fld>
            <a:endParaRPr lang="en-US"/>
          </a:p>
        </p:txBody>
      </p:sp>
      <p:sp>
        <p:nvSpPr>
          <p:cNvPr id="7" name="Footer Placeholder 6"/>
          <p:cNvSpPr>
            <a:spLocks noGrp="1"/>
          </p:cNvSpPr>
          <p:nvPr>
            <p:ph type="ftr" sz="quarter" idx="11"/>
          </p:nvPr>
        </p:nvSpPr>
        <p:spPr/>
        <p:txBody>
          <a:bodyPr/>
          <a:lstStyle/>
          <a:p>
            <a:r>
              <a:rPr lang="fr-FR"/>
              <a:t>Chapter 7.3. More on Implementation</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46</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en-US"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One way to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_SE2019s1">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_SE2019s1" id="{E4EA5176-60B7-4738-A39A-85EA610AC46B}" vid="{8416C537-BC8A-42C5-99D5-28933A3097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Theme_SE2019s1</Template>
  <TotalTime>9753</TotalTime>
  <Words>4479</Words>
  <Application>Microsoft Macintosh PowerPoint</Application>
  <PresentationFormat>Widescreen</PresentationFormat>
  <Paragraphs>650</Paragraphs>
  <Slides>46</Slides>
  <Notes>31</Notes>
  <HiddenSlides>15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 Unicode MS</vt:lpstr>
      <vt:lpstr>Arial</vt:lpstr>
      <vt:lpstr>Arial Black</vt:lpstr>
      <vt:lpstr>Calibri</vt:lpstr>
      <vt:lpstr>Times New Roman</vt:lpstr>
      <vt:lpstr>Tw Cen MT</vt:lpstr>
      <vt:lpstr>Tw Cen MT Condensed</vt:lpstr>
      <vt:lpstr>Wingdings</vt:lpstr>
      <vt:lpstr>Wingdings 3</vt:lpstr>
      <vt:lpstr>Theme_SE2019s1</vt:lpstr>
      <vt:lpstr>Chapter 8 – software Implementation</vt:lpstr>
      <vt:lpstr>Topics covered</vt:lpstr>
      <vt:lpstr>Implementation</vt:lpstr>
      <vt:lpstr>Golden rule (!?)</vt:lpstr>
      <vt:lpstr>Code quality</vt:lpstr>
      <vt:lpstr>Implement Code</vt:lpstr>
      <vt:lpstr>General Principles in Programming Practice</vt:lpstr>
      <vt:lpstr>“Think Globally, Program Locally”</vt:lpstr>
      <vt:lpstr>Exceptions Handling</vt:lpstr>
      <vt:lpstr>Naming Conventions</vt:lpstr>
      <vt:lpstr>Documenting Methods</vt:lpstr>
      <vt:lpstr>PowerPoint Presentation</vt:lpstr>
      <vt:lpstr>Documenting Attributes</vt:lpstr>
      <vt:lpstr>Constants</vt:lpstr>
      <vt:lpstr>Initializing Attributes</vt:lpstr>
      <vt:lpstr>Relevant books</vt:lpstr>
      <vt:lpstr>Bad smells in code (code smells)</vt:lpstr>
      <vt:lpstr>PowerPoint Presentation</vt:lpstr>
      <vt:lpstr>PowerPoint Presentation</vt:lpstr>
      <vt:lpstr>PowerPoint Presentation</vt:lpstr>
      <vt:lpstr>PowerPoint Presentation</vt:lpstr>
      <vt:lpstr>PowerPoint Presentation</vt:lpstr>
      <vt:lpstr>PowerPoint Presentation</vt:lpstr>
      <vt:lpstr>Cod refactoring goals and properties</vt:lpstr>
      <vt:lpstr>Remove Duplicated Code – Pull up method (Don’t repeat yourself (DRY))</vt:lpstr>
      <vt:lpstr>Remove Duplicated code - Substitute Algorithm </vt:lpstr>
      <vt:lpstr>Reduce size – shorten method/class</vt:lpstr>
      <vt:lpstr>Extract method example</vt:lpstr>
      <vt:lpstr>Reduce size – shorten parameter list</vt:lpstr>
      <vt:lpstr>Divergent Change</vt:lpstr>
      <vt:lpstr>Increase cohesion</vt:lpstr>
      <vt:lpstr>Increase cohesion (Cont’)</vt:lpstr>
      <vt:lpstr>Primitive Obsession</vt:lpstr>
      <vt:lpstr>PowerPoint Presentation</vt:lpstr>
      <vt:lpstr>PowerPoint Presentation</vt:lpstr>
      <vt:lpstr>What is inspection?</vt:lpstr>
      <vt:lpstr>Why do we need inspection?</vt:lpstr>
      <vt:lpstr>Inspection finds types of defects different from testing</vt:lpstr>
      <vt:lpstr>Inspection reduces defect rates</vt:lpstr>
      <vt:lpstr>Testing vs. Inspection</vt:lpstr>
      <vt:lpstr>Code review at Google</vt:lpstr>
      <vt:lpstr>Inspect Code 1 of 5: Classes Overall</vt:lpstr>
      <vt:lpstr>Inspect Code 2 of 5 : Attributes</vt:lpstr>
      <vt:lpstr>Inspect Code 3 of 5 : Constructors</vt:lpstr>
      <vt:lpstr>Inspect Code 4 of 5: Method Headers</vt:lpstr>
      <vt:lpstr>Inspect Code 5 of 5: Method Bodies</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chap6. architecture</dc:title>
  <dc:creator>Thang Bui</dc:creator>
  <cp:lastModifiedBy>Tâm Nguyễn</cp:lastModifiedBy>
  <cp:revision>162</cp:revision>
  <cp:lastPrinted>2017-12-20T07:10:14Z</cp:lastPrinted>
  <dcterms:created xsi:type="dcterms:W3CDTF">2010-01-18T20:35:25Z</dcterms:created>
  <dcterms:modified xsi:type="dcterms:W3CDTF">2026-10-05T03:53:48Z</dcterms:modified>
</cp:coreProperties>
</file>